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3C3CF9-4663-47BE-B75A-B971A500FB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F19517-6D8F-4B36-B340-833D59AAD2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795399-37D8-4883-9347-496C0D16DD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101553-C9D5-42EE-B01B-6A5D2CBB35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2281B6-E8C1-4ACC-A0C6-56A4C8F8886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147C86-BD08-425F-86CF-159934AD5F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2C5565-8322-413B-B4F5-DD5009DFD8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A21807-E2DE-44FC-8C0A-A7D689980D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4CDA24-E7DC-4E9A-A490-9D35295BAF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D5CE7D-50D6-448C-8D56-FFD1AC286F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F4CF02-3069-40F7-A431-43DEA600BE3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25DF1C-2792-4253-818C-1A4E622218C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7E30D77-CC9B-4A40-9F89-5F014F4FAFD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9960" cy="50112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594360" y="1051560"/>
            <a:ext cx="10788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rIns="14616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1b3a5f"/>
                </a:solidFill>
                <a:latin typeface="Arial"/>
                <a:ea typeface="DejaVu Sans"/>
              </a:rPr>
              <a:t>Adaptive Evidence Acquisition for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594360" y="1600200"/>
            <a:ext cx="9325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rIns="14616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121b2b"/>
                </a:solidFill>
                <a:latin typeface="Arial"/>
                <a:ea typeface="DejaVu Sans"/>
              </a:rPr>
              <a:t>Grounded Video Question Answering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594360" y="2514600"/>
            <a:ext cx="959940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rIns="14616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586374"/>
                </a:solidFill>
                <a:latin typeface="Arial"/>
                <a:ea typeface="DejaVu Sans"/>
              </a:rPr>
              <a:t>A cost-aware evidence selection view of grounded VideoQA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594360" y="3127320"/>
            <a:ext cx="4935960" cy="16635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50" spc="-1" strike="noStrike">
                <a:solidFill>
                  <a:srgbClr val="37917e"/>
                </a:solidFill>
                <a:latin typeface="Aptos"/>
                <a:ea typeface="DejaVu Sans"/>
              </a:rPr>
              <a:t>Opening question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79" spc="-1" strike="noStrike">
                <a:solidFill>
                  <a:srgbClr val="121b2b"/>
                </a:solidFill>
                <a:latin typeface="Aptos"/>
                <a:ea typeface="DejaVu Sans"/>
              </a:rPr>
              <a:t>How much visual evidence is enough to answer a video question while staying temporally grounded?</a:t>
            </a:r>
            <a:endParaRPr b="0" lang="en-US" sz="1679" spc="-1" strike="noStrike">
              <a:latin typeface="Arial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5897880" y="3127320"/>
            <a:ext cx="4935960" cy="16635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50" spc="-1" strike="noStrike">
                <a:solidFill>
                  <a:srgbClr val="b88600"/>
                </a:solidFill>
                <a:latin typeface="Aptos"/>
                <a:ea typeface="DejaVu Sans"/>
              </a:rPr>
              <a:t>Main claim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79" spc="-1" strike="noStrike">
                <a:solidFill>
                  <a:srgbClr val="121b2b"/>
                </a:solidFill>
                <a:latin typeface="Aptos"/>
                <a:ea typeface="DejaVu Sans"/>
              </a:rPr>
              <a:t>Answer accuracy, evidence cost, and temporal grounding must be evaluated together.</a:t>
            </a:r>
            <a:endParaRPr b="0" lang="en-US" sz="1679" spc="-1" strike="noStrike">
              <a:latin typeface="Arial"/>
            </a:endParaRPr>
          </a:p>
        </p:txBody>
      </p:sp>
      <p:sp>
        <p:nvSpPr>
          <p:cNvPr id="47" name="TextBox 7"/>
          <p:cNvSpPr/>
          <p:nvPr/>
        </p:nvSpPr>
        <p:spPr>
          <a:xfrm>
            <a:off x="594360" y="5806440"/>
            <a:ext cx="987372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586374"/>
                </a:solidFill>
                <a:latin typeface="Arial"/>
                <a:ea typeface="DejaVu Sans"/>
              </a:rPr>
              <a:t>Aniket Salunke, Ketan More, Nazish Baliyan, Ritesh Thawkar | MBZUAI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Three Questions We Answer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0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" name="Rectangle 4"/>
          <p:cNvSpPr/>
          <p:nvPr/>
        </p:nvSpPr>
        <p:spPr>
          <a:xfrm>
            <a:off x="731520" y="896040"/>
            <a:ext cx="10697760" cy="107820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ptos"/>
                <a:ea typeface="DejaVu Sans"/>
              </a:rPr>
              <a:t>Research Question 1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700" spc="-1" strike="noStrike">
                <a:solidFill>
                  <a:srgbClr val="121b2b"/>
                </a:solidFill>
                <a:latin typeface="Aptos"/>
                <a:ea typeface="DejaVu Sans"/>
              </a:rPr>
              <a:t>Q1. Do all video questions need the same amount of visual evidence?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2" name="Rectangle 5"/>
          <p:cNvSpPr/>
          <p:nvPr/>
        </p:nvSpPr>
        <p:spPr>
          <a:xfrm>
            <a:off x="731520" y="2359080"/>
            <a:ext cx="10697760" cy="107820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37917e"/>
                </a:solidFill>
                <a:latin typeface="Aptos"/>
                <a:ea typeface="DejaVu Sans"/>
              </a:rPr>
              <a:t>Research Question 2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700" spc="-1" strike="noStrike">
                <a:solidFill>
                  <a:srgbClr val="121b2b"/>
                </a:solidFill>
                <a:latin typeface="Aptos"/>
                <a:ea typeface="DejaVu Sans"/>
              </a:rPr>
              <a:t>Q2. Can compact question-conditioned evidence improve grounding without using the full fixed budget?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3" name="Rectangle 6"/>
          <p:cNvSpPr/>
          <p:nvPr/>
        </p:nvSpPr>
        <p:spPr>
          <a:xfrm>
            <a:off x="731520" y="3822120"/>
            <a:ext cx="10697760" cy="107820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ptos"/>
                <a:ea typeface="DejaVu Sans"/>
              </a:rPr>
              <a:t>Research Question 3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700" spc="-1" strike="noStrike">
                <a:solidFill>
                  <a:srgbClr val="121b2b"/>
                </a:solidFill>
                <a:latin typeface="Aptos"/>
                <a:ea typeface="DejaVu Sans"/>
              </a:rPr>
              <a:t>Q3. Is the remaining gap caused by evidence routing, answerer strength, or candidate-pool quality?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4" name="TextBox 7"/>
          <p:cNvSpPr/>
          <p:nvPr/>
        </p:nvSpPr>
        <p:spPr>
          <a:xfrm>
            <a:off x="868680" y="5413320"/>
            <a:ext cx="102394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121b2b"/>
                </a:solidFill>
                <a:latin typeface="Aptos"/>
                <a:ea typeface="DejaVu Sans"/>
              </a:rPr>
              <a:t>We answer these through controlled evidence-budget experiments and an answerer swap from a frozen scorer to Qwen2.5-VL.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Motivation: Correct Answers Can Be Ungrounded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7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3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TextBox 4"/>
          <p:cNvSpPr/>
          <p:nvPr/>
        </p:nvSpPr>
        <p:spPr>
          <a:xfrm>
            <a:off x="822960" y="1005840"/>
            <a:ext cx="493596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rIns="14616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121b2b"/>
                </a:solidFill>
                <a:latin typeface="Arial"/>
                <a:ea typeface="DejaVu Sans"/>
              </a:rPr>
              <a:t>VideoQA evidence is distributed over time.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121b2b"/>
                </a:solidFill>
                <a:latin typeface="Arial"/>
                <a:ea typeface="DejaVu Sans"/>
              </a:rPr>
              <a:t>A correct option may be guessed from priors or broad scene context.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121b2b"/>
                </a:solidFill>
                <a:latin typeface="Arial"/>
                <a:ea typeface="DejaVu Sans"/>
              </a:rPr>
              <a:t>Fixed frame/clip budgets can waste evidence or miss the support moment.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9" name="Rectangle 5"/>
          <p:cNvSpPr/>
          <p:nvPr/>
        </p:nvSpPr>
        <p:spPr>
          <a:xfrm>
            <a:off x="6080760" y="960120"/>
            <a:ext cx="4799520" cy="166320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550" spc="-1" strike="noStrike">
                <a:solidFill>
                  <a:srgbClr val="2a5989"/>
                </a:solidFill>
                <a:latin typeface="Aptos"/>
                <a:ea typeface="DejaVu Sans"/>
              </a:rPr>
              <a:t>Grounded VideoQA asks</a:t>
            </a:r>
            <a:endParaRPr b="0" lang="en-US" sz="15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900" spc="-1" strike="noStrike">
                <a:solidFill>
                  <a:srgbClr val="111827"/>
                </a:solidFill>
                <a:latin typeface="Aptos"/>
                <a:ea typeface="DejaVu Sans"/>
              </a:rPr>
              <a:t>1. Is the answer correct?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900" spc="-1" strike="noStrike">
                <a:solidFill>
                  <a:srgbClr val="111827"/>
                </a:solidFill>
                <a:latin typeface="Aptos"/>
                <a:ea typeface="DejaVu Sans"/>
              </a:rPr>
              <a:t>2. Does selected evidence overlap the support moment?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0" name="Rectangle 6"/>
          <p:cNvSpPr/>
          <p:nvPr/>
        </p:nvSpPr>
        <p:spPr>
          <a:xfrm>
            <a:off x="6080760" y="3017520"/>
            <a:ext cx="4799520" cy="129744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550" spc="-1" strike="noStrike">
                <a:solidFill>
                  <a:srgbClr val="31927e"/>
                </a:solidFill>
                <a:latin typeface="Aptos"/>
                <a:ea typeface="DejaVu Sans"/>
              </a:rPr>
              <a:t>Why it matters</a:t>
            </a:r>
            <a:endParaRPr b="0" lang="en-US" sz="15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900" spc="-1" strike="noStrike">
                <a:solidFill>
                  <a:srgbClr val="111827"/>
                </a:solidFill>
                <a:latin typeface="Aptos"/>
                <a:ea typeface="DejaVu Sans"/>
              </a:rPr>
              <a:t>Grounding turns answer classification into evidence-supported reasoning.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1" name="Rectangle 7"/>
          <p:cNvSpPr/>
          <p:nvPr/>
        </p:nvSpPr>
        <p:spPr>
          <a:xfrm>
            <a:off x="960120" y="4800600"/>
            <a:ext cx="4890240" cy="840600"/>
          </a:xfrm>
          <a:prstGeom prst="rect">
            <a:avLst/>
          </a:prstGeom>
          <a:solidFill>
            <a:srgbClr val="f6f8fb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20" spc="-1" strike="noStrike">
                <a:solidFill>
                  <a:srgbClr val="b88600"/>
                </a:solidFill>
                <a:latin typeface="Aptos"/>
                <a:ea typeface="DejaVu Sans"/>
              </a:rPr>
              <a:t>Failure mode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850" spc="-1" strike="noStrike">
                <a:solidFill>
                  <a:srgbClr val="121b2b"/>
                </a:solidFill>
                <a:latin typeface="Aptos"/>
                <a:ea typeface="DejaVu Sans"/>
              </a:rPr>
              <a:t>correct but weakly grounded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62" name="Rectangle 8"/>
          <p:cNvSpPr/>
          <p:nvPr/>
        </p:nvSpPr>
        <p:spPr>
          <a:xfrm>
            <a:off x="5989320" y="4800600"/>
            <a:ext cx="4890240" cy="840600"/>
          </a:xfrm>
          <a:prstGeom prst="rect">
            <a:avLst/>
          </a:prstGeom>
          <a:solidFill>
            <a:srgbClr val="f6f8fb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20" spc="-1" strike="noStrike">
                <a:solidFill>
                  <a:srgbClr val="37917e"/>
                </a:solidFill>
                <a:latin typeface="Aptos"/>
                <a:ea typeface="DejaVu Sans"/>
              </a:rPr>
              <a:t>Desired behavior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850" spc="-1" strike="noStrike">
                <a:solidFill>
                  <a:srgbClr val="121b2b"/>
                </a:solidFill>
                <a:latin typeface="Aptos"/>
                <a:ea typeface="DejaVu Sans"/>
              </a:rPr>
              <a:t>correct and grounded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Related Work and Gap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4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66" name="Table 4"/>
          <p:cNvGraphicFramePr/>
          <p:nvPr/>
        </p:nvGraphicFramePr>
        <p:xfrm>
          <a:off x="502920" y="960120"/>
          <a:ext cx="11200680" cy="3428640"/>
        </p:xfrm>
        <a:graphic>
          <a:graphicData uri="http://schemas.openxmlformats.org/drawingml/2006/table">
            <a:tbl>
              <a:tblPr/>
              <a:tblGrid>
                <a:gridCol w="2651760"/>
                <a:gridCol w="4572000"/>
                <a:gridCol w="3977280"/>
              </a:tblGrid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Area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Examples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What they provide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VideoQA benchmarks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MovieQA, TGIF-QA, TVQA, NExT-QA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 and causal reasoning tasks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Grounded VideoQA / localization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TVQA+, NExT-GQA, Moment-DETR, QVHighlights, SeViLA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Support spans and temporal evidence annotations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Pretrained answerers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CLIP, FrozenBiLM, BLIP-2, Video-LLaVA, Qwen2.5-VL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Strong visual-language reasoning backbones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Retrieval/adaptive context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R2A, VideoRAG/VRAG, UniversalRAG, ModaRoute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Selective context construction for long videos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67" name="Rectangle 5"/>
          <p:cNvSpPr/>
          <p:nvPr/>
        </p:nvSpPr>
        <p:spPr>
          <a:xfrm>
            <a:off x="822960" y="4754880"/>
            <a:ext cx="10559520" cy="111492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ptos"/>
                <a:ea typeface="DejaVu Sans"/>
              </a:rPr>
              <a:t>Gap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70" spc="-1" strike="noStrike">
                <a:solidFill>
                  <a:srgbClr val="121b2b"/>
                </a:solidFill>
                <a:latin typeface="Aptos"/>
                <a:ea typeface="DejaVu Sans"/>
              </a:rPr>
              <a:t>Prior work often reports answer quality without jointly charging evidence cost and verifying temporal support. We evaluate Acc@QA, cost, IoP/IoU, and Acc@GQA under one evidence-selection protocol.</a:t>
            </a:r>
            <a:endParaRPr b="0" lang="en-US" sz="167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Task Formulation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5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1" name="Rectangle 4"/>
          <p:cNvSpPr/>
          <p:nvPr/>
        </p:nvSpPr>
        <p:spPr>
          <a:xfrm>
            <a:off x="685800" y="914400"/>
            <a:ext cx="5073120" cy="135252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ptos"/>
                <a:ea typeface="DejaVu Sans"/>
              </a:rPr>
              <a:t>Grounded VideoQA example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x = (v, q, A, y, T)</a:t>
            </a:r>
            <a:endParaRPr b="0" lang="en-US" sz="16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video, question, answer options, label, support span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2" name="Rectangle 5"/>
          <p:cNvSpPr/>
          <p:nvPr/>
        </p:nvSpPr>
        <p:spPr>
          <a:xfrm>
            <a:off x="6172200" y="914400"/>
            <a:ext cx="5073120" cy="135252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37917e"/>
                </a:solidFill>
                <a:latin typeface="Aptos"/>
                <a:ea typeface="DejaVu Sans"/>
              </a:rPr>
              <a:t>Evidence pool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E(x) = {e1, ..., eN}</a:t>
            </a:r>
            <a:endParaRPr b="0" lang="en-US" sz="16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frames and short temporal segments with cost and interval metadata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3" name="Rectangle 6"/>
          <p:cNvSpPr/>
          <p:nvPr/>
        </p:nvSpPr>
        <p:spPr>
          <a:xfrm>
            <a:off x="685800" y="2761560"/>
            <a:ext cx="5073120" cy="135252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ptos"/>
                <a:ea typeface="DejaVu Sans"/>
              </a:rPr>
              <a:t>Policy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Selects S subset E(x)</a:t>
            </a:r>
            <a:endParaRPr b="0" lang="en-US" sz="16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C(S) = sum_i c_i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4" name="Rectangle 7"/>
          <p:cNvSpPr/>
          <p:nvPr/>
        </p:nvSpPr>
        <p:spPr>
          <a:xfrm>
            <a:off x="6172200" y="2761560"/>
            <a:ext cx="5073120" cy="135252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ptos"/>
                <a:ea typeface="DejaVu Sans"/>
              </a:rPr>
              <a:t>Answerer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Predicts the answer from the question, answer options, and selected evidence only.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868680" y="5193720"/>
            <a:ext cx="1042236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1b3a5f"/>
                </a:solidFill>
                <a:latin typeface="Aptos"/>
                <a:ea typeface="DejaVu Sans"/>
              </a:rPr>
              <a:t>Optimization intuition: maximize answer accuracy and grounding while minimizing acquired evidence cost.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Method: Adaptive Evidence Acquisition Pipeline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6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502920" y="1225440"/>
            <a:ext cx="2055600" cy="14439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8800" rIns="11880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2b5b8b"/>
                </a:solidFill>
                <a:latin typeface="Aptos"/>
                <a:ea typeface="DejaVu Sans"/>
              </a:rPr>
              <a:t>Input</a:t>
            </a:r>
            <a:endParaRPr b="0" lang="en-US" sz="12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video + question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answer options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2578680" y="1774080"/>
            <a:ext cx="2268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Rectangle 6"/>
          <p:cNvSpPr/>
          <p:nvPr/>
        </p:nvSpPr>
        <p:spPr>
          <a:xfrm>
            <a:off x="2834640" y="1225440"/>
            <a:ext cx="2055600" cy="14439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8800" rIns="11880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37917e"/>
                </a:solidFill>
                <a:latin typeface="Aptos"/>
                <a:ea typeface="DejaVu Sans"/>
              </a:rPr>
              <a:t>Candidate pool</a:t>
            </a:r>
            <a:endParaRPr b="0" lang="en-US" sz="12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keyframes + short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temporal segments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4910400" y="1774080"/>
            <a:ext cx="2268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Rectangle 8"/>
          <p:cNvSpPr/>
          <p:nvPr/>
        </p:nvSpPr>
        <p:spPr>
          <a:xfrm>
            <a:off x="5166360" y="1225440"/>
            <a:ext cx="2055600" cy="14439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8800" rIns="11880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b88600"/>
                </a:solidFill>
                <a:latin typeface="Aptos"/>
                <a:ea typeface="DejaVu Sans"/>
              </a:rPr>
              <a:t>Evidence router</a:t>
            </a:r>
            <a:endParaRPr b="0" lang="en-US" sz="12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MLP+NMS selects compact,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diverse evidence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7242120" y="1774080"/>
            <a:ext cx="2268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5" name="Rectangle 10"/>
          <p:cNvSpPr/>
          <p:nvPr/>
        </p:nvSpPr>
        <p:spPr>
          <a:xfrm>
            <a:off x="7498080" y="1225440"/>
            <a:ext cx="2055600" cy="14439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8800" rIns="11880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2b5b8b"/>
                </a:solidFill>
                <a:latin typeface="Aptos"/>
                <a:ea typeface="DejaVu Sans"/>
              </a:rPr>
              <a:t>Qwen answerer</a:t>
            </a:r>
            <a:endParaRPr b="0" lang="en-US" sz="12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predicts answer using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selected evidence only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9573840" y="1774080"/>
            <a:ext cx="2268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Rectangle 12"/>
          <p:cNvSpPr/>
          <p:nvPr/>
        </p:nvSpPr>
        <p:spPr>
          <a:xfrm>
            <a:off x="9829800" y="1225440"/>
            <a:ext cx="2055600" cy="14439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8800" rIns="11880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37917e"/>
                </a:solidFill>
                <a:latin typeface="Aptos"/>
                <a:ea typeface="DejaVu Sans"/>
              </a:rPr>
              <a:t>Evaluation</a:t>
            </a:r>
            <a:endParaRPr b="0" lang="en-US" sz="12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Acc@QA + cost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+ IoP/IoU + Acc@GQA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731520" y="3456360"/>
            <a:ext cx="5164560" cy="157212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37917e"/>
                </a:solidFill>
                <a:latin typeface="Aptos"/>
                <a:ea typeface="DejaVu Sans"/>
              </a:rPr>
              <a:t>Controlled answerer swap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30" spc="-1" strike="noStrike">
                <a:solidFill>
                  <a:srgbClr val="121b2b"/>
                </a:solidFill>
                <a:latin typeface="Aptos"/>
                <a:ea typeface="DejaVu Sans"/>
              </a:rPr>
              <a:t>Keep selected evidence fixed, then swap only the answerer. This separates routing quality from visual reasoning quality.</a:t>
            </a:r>
            <a:endParaRPr b="0" lang="en-US" sz="1530" spc="-1" strike="noStrike">
              <a:latin typeface="Arial"/>
            </a:endParaRPr>
          </a:p>
        </p:txBody>
      </p:sp>
      <p:sp>
        <p:nvSpPr>
          <p:cNvPr id="89" name="Rectangle 14"/>
          <p:cNvSpPr/>
          <p:nvPr/>
        </p:nvSpPr>
        <p:spPr>
          <a:xfrm>
            <a:off x="6263640" y="3456360"/>
            <a:ext cx="5164560" cy="157212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What is trained?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30" spc="-1" strike="noStrike">
                <a:solidFill>
                  <a:srgbClr val="121b2b"/>
                </a:solidFill>
                <a:latin typeface="Aptos"/>
                <a:ea typeface="DejaVu Sans"/>
              </a:rPr>
              <a:t>The proposed router is a lightweight MLP candidate scorer with temporal NMS. Qwen is not trained.</a:t>
            </a:r>
            <a:endParaRPr b="0" lang="en-US" sz="1530" spc="-1" strike="noStrike">
              <a:latin typeface="Arial"/>
            </a:endParaRPr>
          </a:p>
        </p:txBody>
      </p:sp>
      <p:sp>
        <p:nvSpPr>
          <p:cNvPr id="90" name="TextBox 15"/>
          <p:cNvSpPr/>
          <p:nvPr/>
        </p:nvSpPr>
        <p:spPr>
          <a:xfrm>
            <a:off x="822960" y="5358240"/>
            <a:ext cx="10422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This keeps the research question focused on evidence acquisition rather than full VLM fine-tuning.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Evidence Policies and Cost Ladder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7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94" name="Table 4"/>
          <p:cNvGraphicFramePr/>
          <p:nvPr/>
        </p:nvGraphicFramePr>
        <p:xfrm>
          <a:off x="457200" y="868680"/>
          <a:ext cx="11292120" cy="4479840"/>
        </p:xfrm>
        <a:graphic>
          <a:graphicData uri="http://schemas.openxmlformats.org/drawingml/2006/table">
            <a:tbl>
              <a:tblPr/>
              <a:tblGrid>
                <a:gridCol w="2103120"/>
                <a:gridCol w="3474720"/>
                <a:gridCol w="914400"/>
                <a:gridCol w="1051560"/>
                <a:gridCol w="3748680"/>
              </a:tblGrid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Policy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Selection rule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Count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Role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One segment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top segment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1.500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low-cost control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Linear policy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oracle-trace imitation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2.795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compact baseline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top-2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candidate MLP scores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3.000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router ablation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MLP+NMS (Our)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+ temporal diversity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2.935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proposed selector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Temporal-supervised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overlap-label MLP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2.273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diagnostic router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Oracle top-2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ground-truth IoP from pool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2.493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headroom reference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616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3+3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3 frames + 3 segments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6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7.500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coverage reference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TextBox 5"/>
          <p:cNvSpPr/>
          <p:nvPr/>
        </p:nvSpPr>
        <p:spPr>
          <a:xfrm>
            <a:off x="685800" y="5559480"/>
            <a:ext cx="107881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Temporal-supervised, oracle, and fixed 3+3 rows are diagnostic/reference rows, not the proposed method.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7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Experimental Setup and Metrics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8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594360" y="914400"/>
            <a:ext cx="3335760" cy="135252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40" spc="-1" strike="noStrike">
                <a:solidFill>
                  <a:srgbClr val="2b5b8b"/>
                </a:solidFill>
                <a:latin typeface="Aptos"/>
                <a:ea typeface="DejaVu Sans"/>
              </a:rPr>
              <a:t>Dataset</a:t>
            </a:r>
            <a:endParaRPr b="0" lang="en-US" sz="134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NExT-GQA</a:t>
            </a:r>
            <a:endParaRPr b="0" lang="en-US" sz="137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Validation: 3,358 examples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Test: 5,553 examples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100" name="Rectangle 5"/>
          <p:cNvSpPr/>
          <p:nvPr/>
        </p:nvSpPr>
        <p:spPr>
          <a:xfrm>
            <a:off x="4434840" y="914400"/>
            <a:ext cx="3335760" cy="135252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40" spc="-1" strike="noStrike">
                <a:solidFill>
                  <a:srgbClr val="37917e"/>
                </a:solidFill>
                <a:latin typeface="Aptos"/>
                <a:ea typeface="DejaVu Sans"/>
              </a:rPr>
              <a:t>Answerers</a:t>
            </a:r>
            <a:endParaRPr b="0" lang="en-US" sz="134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Frozen CLIP-style scorer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Qwen2.5-VL-3B-Instruct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101" name="Rectangle 6"/>
          <p:cNvSpPr/>
          <p:nvPr/>
        </p:nvSpPr>
        <p:spPr>
          <a:xfrm>
            <a:off x="8275320" y="914400"/>
            <a:ext cx="3335760" cy="135252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37160" rIns="13716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40" spc="-1" strike="noStrike">
                <a:solidFill>
                  <a:srgbClr val="b88600"/>
                </a:solidFill>
                <a:latin typeface="Aptos"/>
                <a:ea typeface="DejaVu Sans"/>
              </a:rPr>
              <a:t>Protocol</a:t>
            </a:r>
            <a:endParaRPr b="0" lang="en-US" sz="134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Same selected evidence</a:t>
            </a:r>
            <a:endParaRPr b="0" lang="en-US" sz="137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Swap only final answerer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Deterministic Qwen decoding</a:t>
            </a:r>
            <a:endParaRPr b="0" lang="en-US" sz="1370" spc="-1" strike="noStrike">
              <a:latin typeface="Arial"/>
            </a:endParaRPr>
          </a:p>
        </p:txBody>
      </p:sp>
      <p:graphicFrame>
        <p:nvGraphicFramePr>
          <p:cNvPr id="102" name="Table 7"/>
          <p:cNvGraphicFramePr/>
          <p:nvPr/>
        </p:nvGraphicFramePr>
        <p:xfrm>
          <a:off x="685800" y="2560320"/>
          <a:ext cx="10834920" cy="2513880"/>
        </p:xfrm>
        <a:graphic>
          <a:graphicData uri="http://schemas.openxmlformats.org/drawingml/2006/table">
            <a:tbl>
              <a:tblPr/>
              <a:tblGrid>
                <a:gridCol w="2651760"/>
                <a:gridCol w="8183520"/>
              </a:tblGrid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Metric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Meaning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Acc@QA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Whether the answer letter is correct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Cost / Count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Amount and number of acquired evidence items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mIoP, IoP@0.5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Selected evidence is inside the support span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mIoU, IoU@0.5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Stricter temporal overlap with support span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Acc@GQA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Correct answer and IoP@0.5 grounding success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TextBox 8"/>
          <p:cNvSpPr/>
          <p:nvPr/>
        </p:nvSpPr>
        <p:spPr>
          <a:xfrm>
            <a:off x="914400" y="5413320"/>
            <a:ext cx="10330920" cy="5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Grounded answer accuracy is stricter than answer accuracy because it gates correctness by temporal support.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Main Comparison: Answer Accuracy Is Not Grounding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9 / 16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07" name="Picture 4" descr="main_comparison.png"/>
          <p:cNvPicPr/>
          <p:nvPr/>
        </p:nvPicPr>
        <p:blipFill>
          <a:blip r:embed="rId1"/>
          <a:stretch/>
        </p:blipFill>
        <p:spPr>
          <a:xfrm>
            <a:off x="594360" y="822960"/>
            <a:ext cx="11016720" cy="3884400"/>
          </a:xfrm>
          <a:prstGeom prst="rect">
            <a:avLst/>
          </a:prstGeom>
          <a:ln w="0">
            <a:noFill/>
          </a:ln>
        </p:spPr>
      </p:pic>
      <p:sp>
        <p:nvSpPr>
          <p:cNvPr id="108" name="Rectangle 118"/>
          <p:cNvSpPr/>
          <p:nvPr/>
        </p:nvSpPr>
        <p:spPr>
          <a:xfrm>
            <a:off x="594360" y="4617720"/>
            <a:ext cx="3473280" cy="1535400"/>
          </a:xfrm>
          <a:prstGeom prst="rect">
            <a:avLst/>
          </a:prstGeom>
          <a:solidFill>
            <a:srgbClr val="e2edf9"/>
          </a:solidFill>
          <a:ln w="16510">
            <a:solidFill>
              <a:srgbClr val="2b5b8b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19"/>
          <p:cNvSpPr/>
          <p:nvPr/>
        </p:nvSpPr>
        <p:spPr>
          <a:xfrm>
            <a:off x="704160" y="4754880"/>
            <a:ext cx="32536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rial"/>
                <a:ea typeface="DejaVu Sans"/>
              </a:rPr>
              <a:t>Protocol context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0" name="TextBox 120"/>
          <p:cNvSpPr/>
          <p:nvPr/>
        </p:nvSpPr>
        <p:spPr>
          <a:xfrm>
            <a:off x="758880" y="5139000"/>
            <a:ext cx="3144240" cy="6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3672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20" spc="-1" strike="noStrike">
                <a:solidFill>
                  <a:srgbClr val="121b2b"/>
                </a:solidFill>
                <a:latin typeface="Aptos"/>
                <a:ea typeface="DejaVu Sans"/>
              </a:rPr>
              <a:t>Prior rows use official NExT-GQA metrics. Our grounding uses selected-evidence best overlap.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11" name="Rectangle 121"/>
          <p:cNvSpPr/>
          <p:nvPr/>
        </p:nvSpPr>
        <p:spPr>
          <a:xfrm>
            <a:off x="4343400" y="4617720"/>
            <a:ext cx="3473280" cy="1535400"/>
          </a:xfrm>
          <a:prstGeom prst="rect">
            <a:avLst/>
          </a:prstGeom>
          <a:solidFill>
            <a:srgbClr val="e0f1ec"/>
          </a:solidFill>
          <a:ln w="16510">
            <a:solidFill>
              <a:srgbClr val="37917e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22"/>
          <p:cNvSpPr/>
          <p:nvPr/>
        </p:nvSpPr>
        <p:spPr>
          <a:xfrm>
            <a:off x="4453200" y="4754880"/>
            <a:ext cx="32536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7917e"/>
                </a:solidFill>
                <a:latin typeface="Arial"/>
                <a:ea typeface="DejaVu Sans"/>
              </a:rPr>
              <a:t>Proposed point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23"/>
          <p:cNvSpPr/>
          <p:nvPr/>
        </p:nvSpPr>
        <p:spPr>
          <a:xfrm>
            <a:off x="4507920" y="5139000"/>
            <a:ext cx="314424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3672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20" spc="-1" strike="noStrike">
                <a:solidFill>
                  <a:srgbClr val="121b2b"/>
                </a:solidFill>
                <a:latin typeface="Aptos"/>
                <a:ea typeface="DejaVu Sans"/>
              </a:rPr>
              <a:t>Qwen MLP+NMS: 0.689 Acc@QA, 0.321 Acc@GQA, cost 2.935.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14" name="Rectangle 124"/>
          <p:cNvSpPr/>
          <p:nvPr/>
        </p:nvSpPr>
        <p:spPr>
          <a:xfrm>
            <a:off x="8092440" y="4617720"/>
            <a:ext cx="3473280" cy="1535400"/>
          </a:xfrm>
          <a:prstGeom prst="rect">
            <a:avLst/>
          </a:prstGeom>
          <a:solidFill>
            <a:srgbClr val="fcf5dd"/>
          </a:solidFill>
          <a:ln w="16510">
            <a:solidFill>
              <a:srgbClr val="b88600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5" name="TextBox 125"/>
          <p:cNvSpPr/>
          <p:nvPr/>
        </p:nvSpPr>
        <p:spPr>
          <a:xfrm>
            <a:off x="8202240" y="4754880"/>
            <a:ext cx="32536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rial"/>
                <a:ea typeface="DejaVu Sans"/>
              </a:rPr>
              <a:t>References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26"/>
          <p:cNvSpPr/>
          <p:nvPr/>
        </p:nvSpPr>
        <p:spPr>
          <a:xfrm>
            <a:off x="8256960" y="5139000"/>
            <a:ext cx="314424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3672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20" spc="-1" strike="noStrike">
                <a:solidFill>
                  <a:srgbClr val="121b2b"/>
                </a:solidFill>
                <a:latin typeface="Aptos"/>
                <a:ea typeface="DejaVu Sans"/>
              </a:rPr>
              <a:t>Oracle top-2: 0.442 Acc@GQA. Fixed 3+3: 0.454 Acc@GQA.</a:t>
            </a:r>
            <a:endParaRPr b="0" lang="en-US" sz="13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8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Result 1: Frozen Answerer Is the Bottleneck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10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120" name="Table 4"/>
          <p:cNvGraphicFramePr/>
          <p:nvPr/>
        </p:nvGraphicFramePr>
        <p:xfrm>
          <a:off x="685800" y="960120"/>
          <a:ext cx="10834920" cy="2742840"/>
        </p:xfrm>
        <a:graphic>
          <a:graphicData uri="http://schemas.openxmlformats.org/drawingml/2006/table">
            <a:tbl>
              <a:tblPr/>
              <a:tblGrid>
                <a:gridCol w="3383280"/>
                <a:gridCol w="1874160"/>
                <a:gridCol w="1554480"/>
                <a:gridCol w="1920240"/>
                <a:gridCol w="2103120"/>
              </a:tblGrid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One segment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0.378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1.500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0.124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Linear policy, two items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0.381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2.795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0.164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3 frames + 3 segments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0.388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7.500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0.245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6 frames + 6 segments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0.394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14.908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0.787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21" name="Rectangle 5"/>
          <p:cNvSpPr/>
          <p:nvPr/>
        </p:nvSpPr>
        <p:spPr>
          <a:xfrm>
            <a:off x="822960" y="4224600"/>
            <a:ext cx="4935960" cy="135252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Observation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50" spc="-1" strike="noStrike">
                <a:solidFill>
                  <a:srgbClr val="121b2b"/>
                </a:solidFill>
                <a:latin typeface="Aptos"/>
                <a:ea typeface="DejaVu Sans"/>
              </a:rPr>
              <a:t>Temporal coverage improves as evidence budget increases, but answer accuracy remains near 0.38-0.39.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22" name="Rectangle 6"/>
          <p:cNvSpPr/>
          <p:nvPr/>
        </p:nvSpPr>
        <p:spPr>
          <a:xfrm>
            <a:off x="6263640" y="4224600"/>
            <a:ext cx="4935960" cy="135252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b88600"/>
                </a:solidFill>
                <a:latin typeface="Aptos"/>
                <a:ea typeface="DejaVu Sans"/>
              </a:rPr>
              <a:t>Conclusion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50" spc="-1" strike="noStrike">
                <a:solidFill>
                  <a:srgbClr val="121b2b"/>
                </a:solidFill>
                <a:latin typeface="Aptos"/>
                <a:ea typeface="DejaVu Sans"/>
              </a:rPr>
              <a:t>A weak answerer can hide evidence-selection improvements in the answer metric.</a:t>
            </a:r>
            <a:endParaRPr b="0" lang="en-US" sz="15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Result 2: Qwen Reveals the Selector Tradeoff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11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126" name="Table 4"/>
          <p:cNvGraphicFramePr/>
          <p:nvPr/>
        </p:nvGraphicFramePr>
        <p:xfrm>
          <a:off x="411480" y="868680"/>
          <a:ext cx="11383920" cy="479988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325880"/>
                <a:gridCol w="1600200"/>
                <a:gridCol w="1325880"/>
                <a:gridCol w="2011680"/>
              </a:tblGrid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mIoU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One segment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0.668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1.500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0.165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0.221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Linear policy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0.696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2.795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0.410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0.206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0.297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top-2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0.687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3.000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0.423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0.238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0.301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MLP+NMS (Our)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0.689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2.935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0.453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0.246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0.321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Temporal-supervised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0.696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2.273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0.432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0.088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Oracle top-2 ref.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0.701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2.493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0.615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0.224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0.442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60192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3+3 ref.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0.724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7.500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0.615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0.296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0.454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TextBox 5"/>
          <p:cNvSpPr/>
          <p:nvPr/>
        </p:nvSpPr>
        <p:spPr>
          <a:xfrm>
            <a:off x="640080" y="5687640"/>
            <a:ext cx="1097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MLP+NMS is the strongest learned grounded selector; temporal supervision is cheaper but under-covers by IoU.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Result 2 Takeaway: Compact Evidence Works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12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Rectangle 4"/>
          <p:cNvSpPr/>
          <p:nvPr/>
        </p:nvSpPr>
        <p:spPr>
          <a:xfrm>
            <a:off x="777240" y="1005840"/>
            <a:ext cx="3061440" cy="1334160"/>
          </a:xfrm>
          <a:prstGeom prst="rect">
            <a:avLst/>
          </a:prstGeom>
          <a:solidFill>
            <a:srgbClr val="f6f8fb"/>
          </a:solidFill>
          <a:ln w="2286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rIns="14616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Answer retained</a:t>
            </a:r>
            <a:endParaRPr b="0" lang="en-US" sz="13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900" spc="-1" strike="noStrike">
                <a:solidFill>
                  <a:srgbClr val="37917e"/>
                </a:solidFill>
                <a:latin typeface="Aptos"/>
                <a:ea typeface="DejaVu Sans"/>
              </a:rPr>
              <a:t>95%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4526280" y="1005840"/>
            <a:ext cx="3061440" cy="1334160"/>
          </a:xfrm>
          <a:prstGeom prst="rect">
            <a:avLst/>
          </a:prstGeom>
          <a:solidFill>
            <a:srgbClr val="f6f8fb"/>
          </a:solidFill>
          <a:ln w="2286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rIns="14616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Cost used</a:t>
            </a:r>
            <a:endParaRPr b="0" lang="en-US" sz="13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900" spc="-1" strike="noStrike">
                <a:solidFill>
                  <a:srgbClr val="2b5b8b"/>
                </a:solidFill>
                <a:latin typeface="Aptos"/>
                <a:ea typeface="DejaVu Sans"/>
              </a:rPr>
              <a:t>39%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8275320" y="1005840"/>
            <a:ext cx="3061440" cy="1334160"/>
          </a:xfrm>
          <a:prstGeom prst="rect">
            <a:avLst/>
          </a:prstGeom>
          <a:solidFill>
            <a:srgbClr val="f6f8fb"/>
          </a:solidFill>
          <a:ln w="2286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rIns="14616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Acc@GQA retained</a:t>
            </a:r>
            <a:endParaRPr b="0" lang="en-US" sz="1380" spc="-1" strike="noStrike"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900" spc="-1" strike="noStrike">
                <a:solidFill>
                  <a:srgbClr val="b88600"/>
                </a:solidFill>
                <a:latin typeface="Aptos"/>
                <a:ea typeface="DejaVu Sans"/>
              </a:rPr>
              <a:t>71%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822960" y="2834640"/>
            <a:ext cx="4981680" cy="141660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Why this matters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00" spc="-1" strike="noStrike">
                <a:solidFill>
                  <a:srgbClr val="121b2b"/>
                </a:solidFill>
                <a:latin typeface="Aptos"/>
                <a:ea typeface="DejaVu Sans"/>
              </a:rPr>
              <a:t>MLP+NMS gives a much cheaper learned operating point than fixed 3+3 while preserving most answer accuracy.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35" name="Rectangle 8"/>
          <p:cNvSpPr/>
          <p:nvPr/>
        </p:nvSpPr>
        <p:spPr>
          <a:xfrm>
            <a:off x="6263640" y="2834640"/>
            <a:ext cx="4981680" cy="141660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37917e"/>
                </a:solidFill>
                <a:latin typeface="Aptos"/>
                <a:ea typeface="DejaVu Sans"/>
              </a:rPr>
              <a:t>Remaining headroom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00" spc="-1" strike="noStrike">
                <a:solidFill>
                  <a:srgbClr val="121b2b"/>
                </a:solidFill>
                <a:latin typeface="Aptos"/>
                <a:ea typeface="DejaVu Sans"/>
              </a:rPr>
              <a:t>Oracle top-2 reaches 0.442 Acc@GQA at cost 2.493, showing compact support exists in the candidate pool.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777240" y="4956120"/>
            <a:ext cx="10743840" cy="633240"/>
          </a:xfrm>
          <a:prstGeom prst="rect">
            <a:avLst/>
          </a:prstGeom>
          <a:solidFill>
            <a:srgbClr val="e2f3ee"/>
          </a:solidFill>
          <a:ln w="17780">
            <a:solidFill>
              <a:srgbClr val="31927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80" spc="-1" strike="noStrike">
                <a:solidFill>
                  <a:srgbClr val="111827"/>
                </a:solidFill>
                <a:latin typeface="Aptos"/>
                <a:ea typeface="DejaVu Sans"/>
              </a:rPr>
              <a:t>Reviewer-facing message: compact evidence is not just cheaper; it changes what is measured, because grounded correctness penalizes correct answers supported by the wrong moment.</a:t>
            </a:r>
            <a:endParaRPr b="0" lang="en-US" sz="14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Accuracy-Cost-Grounding Tradeoff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13 / 16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40" name="Picture 4" descr="qwen_tradeoff.png"/>
          <p:cNvPicPr/>
          <p:nvPr/>
        </p:nvPicPr>
        <p:blipFill>
          <a:blip r:embed="rId1"/>
          <a:stretch/>
        </p:blipFill>
        <p:spPr>
          <a:xfrm>
            <a:off x="640080" y="749880"/>
            <a:ext cx="10925280" cy="3838680"/>
          </a:xfrm>
          <a:prstGeom prst="rect">
            <a:avLst/>
          </a:prstGeom>
          <a:ln w="0">
            <a:noFill/>
          </a:ln>
        </p:spPr>
      </p:pic>
      <p:sp>
        <p:nvSpPr>
          <p:cNvPr id="141" name="Rectangle 147"/>
          <p:cNvSpPr/>
          <p:nvPr/>
        </p:nvSpPr>
        <p:spPr>
          <a:xfrm>
            <a:off x="822960" y="4736520"/>
            <a:ext cx="10559880" cy="1389240"/>
          </a:xfrm>
          <a:prstGeom prst="rect">
            <a:avLst/>
          </a:prstGeom>
          <a:solidFill>
            <a:srgbClr val="e2edf9"/>
          </a:solidFill>
          <a:ln w="16510">
            <a:solidFill>
              <a:srgbClr val="2b5b8b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TextBox 148"/>
          <p:cNvSpPr/>
          <p:nvPr/>
        </p:nvSpPr>
        <p:spPr>
          <a:xfrm>
            <a:off x="932760" y="4855320"/>
            <a:ext cx="1034028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9000" bIns="9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rial"/>
                <a:ea typeface="DejaVu Sans"/>
              </a:rPr>
              <a:t>Interpretation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49"/>
          <p:cNvSpPr/>
          <p:nvPr/>
        </p:nvSpPr>
        <p:spPr>
          <a:xfrm>
            <a:off x="987480" y="5248800"/>
            <a:ext cx="10230840" cy="5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3672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430" spc="-1" strike="noStrike">
                <a:solidFill>
                  <a:srgbClr val="121b2b"/>
                </a:solidFill>
                <a:latin typeface="Aptos"/>
                <a:ea typeface="DejaVu Sans"/>
              </a:rPr>
              <a:t>Answer accuracy is relatively flat among compact selectors, but Acc@GQA separates evidence quality. MLP+NMS is the strongest learned grounded point; oracle top-2 shows compact support exists in the pool.</a:t>
            </a:r>
            <a:endParaRPr b="0" lang="en-US" sz="14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Qualitative Lessons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46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14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147" name="Table 4"/>
          <p:cNvGraphicFramePr/>
          <p:nvPr/>
        </p:nvGraphicFramePr>
        <p:xfrm>
          <a:off x="502920" y="960120"/>
          <a:ext cx="11201040" cy="3565440"/>
        </p:xfrm>
        <a:graphic>
          <a:graphicData uri="http://schemas.openxmlformats.org/drawingml/2006/table">
            <a:tbl>
              <a:tblPr/>
              <a:tblGrid>
                <a:gridCol w="2423160"/>
                <a:gridCol w="5486400"/>
                <a:gridCol w="3291840"/>
              </a:tblGrid>
              <a:tr h="8913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Case from report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Lesson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8913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 NMS helps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top-2 selects redundant late evidence; MLP+NMS recovers support overlap while preserving the answer.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Diversity filtering improves compact grounding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13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Router misses support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MLP+NMS can miss the annotated moment; oracle top-2 and fixed 3+3 recover it from the same pool.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Candidate pool has headroom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89172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Grounding and answering separate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High temporal overlap can still produce a wrong answer, and correct answers can be weakly grounded.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Report Acc@QA, cost, IoP/IoU, and Acc@GQA together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ectangle 5"/>
          <p:cNvSpPr/>
          <p:nvPr/>
        </p:nvSpPr>
        <p:spPr>
          <a:xfrm>
            <a:off x="914400" y="4827960"/>
            <a:ext cx="10330920" cy="116964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37917e"/>
                </a:solidFill>
                <a:latin typeface="Aptos"/>
                <a:ea typeface="DejaVu Sans"/>
              </a:rPr>
              <a:t>Takeaway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480" spc="-1" strike="noStrike">
                <a:solidFill>
                  <a:srgbClr val="121b2b"/>
                </a:solidFill>
                <a:latin typeface="Aptos"/>
                <a:ea typeface="DejaVu Sans"/>
              </a:rPr>
              <a:t>The qualitative examples support the same conclusion as the tables: the remaining bottleneck is ranking and diversifying support evidence.</a:t>
            </a:r>
            <a:endParaRPr b="0" lang="en-US" sz="14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0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Answers to the Opening Questions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15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2" name="Rectangle 4"/>
          <p:cNvSpPr/>
          <p:nvPr/>
        </p:nvSpPr>
        <p:spPr>
          <a:xfrm>
            <a:off x="731520" y="868680"/>
            <a:ext cx="10742400" cy="111492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60" spc="-1" strike="noStrike">
                <a:solidFill>
                  <a:srgbClr val="2b5b8b"/>
                </a:solidFill>
                <a:latin typeface="Aptos"/>
                <a:ea typeface="DejaVu Sans"/>
              </a:rPr>
              <a:t>Q1. Same evidence budget for every question?</a:t>
            </a:r>
            <a:endParaRPr b="0" lang="en-US" sz="136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40" spc="-1" strike="noStrike">
                <a:solidFill>
                  <a:srgbClr val="121b2b"/>
                </a:solidFill>
                <a:latin typeface="Aptos"/>
                <a:ea typeface="DejaVu Sans"/>
              </a:rPr>
              <a:t>No. Some questions need one short segment; others need broader temporal coverage. Fixed context can be wasteful or weakly grounded.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53" name="Rectangle 5"/>
          <p:cNvSpPr/>
          <p:nvPr/>
        </p:nvSpPr>
        <p:spPr>
          <a:xfrm>
            <a:off x="731520" y="2267640"/>
            <a:ext cx="10742400" cy="111492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60" spc="-1" strike="noStrike">
                <a:solidFill>
                  <a:srgbClr val="37917e"/>
                </a:solidFill>
                <a:latin typeface="Aptos"/>
                <a:ea typeface="DejaVu Sans"/>
              </a:rPr>
              <a:t>Q2. Can compact learned evidence preserve accuracy?</a:t>
            </a:r>
            <a:endParaRPr b="0" lang="en-US" sz="136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40" spc="-1" strike="noStrike">
                <a:solidFill>
                  <a:srgbClr val="121b2b"/>
                </a:solidFill>
                <a:latin typeface="Aptos"/>
                <a:ea typeface="DejaVu Sans"/>
              </a:rPr>
              <a:t>Yes. MLP+NMS improves Acc@GQA by 10.0 points over one segment, keeps about 95% of fixed 3+3 answer accuracy, and uses 39% of its evidence cost.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54" name="Rectangle 6"/>
          <p:cNvSpPr/>
          <p:nvPr/>
        </p:nvSpPr>
        <p:spPr>
          <a:xfrm>
            <a:off x="731520" y="3666600"/>
            <a:ext cx="10742400" cy="111492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 algn="ctr"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60" spc="-1" strike="noStrike">
                <a:solidFill>
                  <a:srgbClr val="b88600"/>
                </a:solidFill>
                <a:latin typeface="Aptos"/>
                <a:ea typeface="DejaVu Sans"/>
              </a:rPr>
              <a:t>Q3. Evidence problem or answerer problem?</a:t>
            </a:r>
            <a:endParaRPr b="0" lang="en-US" sz="136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40" spc="-1" strike="noStrike">
                <a:solidFill>
                  <a:srgbClr val="121b2b"/>
                </a:solidFill>
                <a:latin typeface="Aptos"/>
                <a:ea typeface="DejaVu Sans"/>
              </a:rPr>
              <a:t>Both, but the final gap is mainly routing. The frozen answerer hides evidence gains; Qwen exposes them; oracle top-2 shows compact support exists in the pool.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868680" y="5321880"/>
            <a:ext cx="10423800" cy="633240"/>
          </a:xfrm>
          <a:prstGeom prst="rect">
            <a:avLst/>
          </a:prstGeom>
          <a:solidFill>
            <a:srgbClr val="e2edf8"/>
          </a:solidFill>
          <a:ln w="17780">
            <a:solidFill>
              <a:srgbClr val="2a598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80" spc="-1" strike="noStrike">
                <a:solidFill>
                  <a:srgbClr val="111827"/>
                </a:solidFill>
                <a:latin typeface="Aptos"/>
                <a:ea typeface="DejaVu Sans"/>
              </a:rPr>
              <a:t>Final claim for the paper: report answer accuracy, temporal grounding, and evidence cost together; otherwise the evaluation cannot distinguish efficient grounded reasoning from answer-only recognition.</a:t>
            </a:r>
            <a:endParaRPr b="0" lang="en-US" sz="14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1"/>
          <p:cNvSpPr/>
          <p:nvPr/>
        </p:nvSpPr>
        <p:spPr>
          <a:xfrm>
            <a:off x="0" y="0"/>
            <a:ext cx="12189960" cy="56520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2"/>
          <p:cNvSpPr/>
          <p:nvPr/>
        </p:nvSpPr>
        <p:spPr>
          <a:xfrm>
            <a:off x="347400" y="73080"/>
            <a:ext cx="98737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Final Takeaway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58" name="TextBox 3"/>
          <p:cNvSpPr/>
          <p:nvPr/>
        </p:nvSpPr>
        <p:spPr>
          <a:xfrm>
            <a:off x="10652760" y="82440"/>
            <a:ext cx="10954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16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9" name="Rounded Rectangle 176"/>
          <p:cNvSpPr/>
          <p:nvPr/>
        </p:nvSpPr>
        <p:spPr>
          <a:xfrm>
            <a:off x="777240" y="896040"/>
            <a:ext cx="10697760" cy="840600"/>
          </a:xfrm>
          <a:prstGeom prst="roundRect">
            <a:avLst>
              <a:gd name="adj" fmla="val 16667"/>
            </a:avLst>
          </a:prstGeom>
          <a:solidFill>
            <a:srgbClr val="e2edf8"/>
          </a:solidFill>
          <a:ln w="17780">
            <a:solidFill>
              <a:srgbClr val="2a5989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109800" bIns="10980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50" spc="-1" strike="noStrike">
                <a:solidFill>
                  <a:srgbClr val="2a5989"/>
                </a:solidFill>
                <a:latin typeface="Aptos"/>
                <a:ea typeface="DejaVu Sans"/>
              </a:rPr>
              <a:t>Central message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111827"/>
                </a:solidFill>
                <a:latin typeface="Aptos"/>
                <a:ea typeface="DejaVu Sans"/>
              </a:rPr>
              <a:t>Grounded VideoQA should be evaluated as adaptive evidence acquisition followed by answer generation, not answer classification alone.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60" name="Rounded Rectangle 177"/>
          <p:cNvSpPr/>
          <p:nvPr/>
        </p:nvSpPr>
        <p:spPr>
          <a:xfrm>
            <a:off x="777240" y="1993320"/>
            <a:ext cx="5165640" cy="1352520"/>
          </a:xfrm>
          <a:prstGeom prst="roundRect">
            <a:avLst>
              <a:gd name="adj" fmla="val 16667"/>
            </a:avLst>
          </a:prstGeom>
          <a:solidFill>
            <a:srgbClr val="e2f3ee"/>
          </a:solidFill>
          <a:ln w="17780">
            <a:solidFill>
              <a:srgbClr val="31927e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109800" bIns="10980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31927e"/>
                </a:solidFill>
                <a:latin typeface="Aptos"/>
                <a:ea typeface="DejaVu Sans"/>
              </a:rPr>
              <a:t>1. Main method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111827"/>
                </a:solidFill>
                <a:latin typeface="Aptos"/>
                <a:ea typeface="DejaVu Sans"/>
              </a:rPr>
              <a:t>MLP+NMS is the proposed learned selector: 0.321 Acc@GQA at cost 2.935.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1" name="Rounded Rectangle 178"/>
          <p:cNvSpPr/>
          <p:nvPr/>
        </p:nvSpPr>
        <p:spPr>
          <a:xfrm>
            <a:off x="6263640" y="1993320"/>
            <a:ext cx="5165640" cy="135252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17780">
            <a:solidFill>
              <a:srgbClr val="b47d00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109800" bIns="10980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b47d00"/>
                </a:solidFill>
                <a:latin typeface="Aptos"/>
                <a:ea typeface="DejaVu Sans"/>
              </a:rPr>
              <a:t>2. Best reference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111827"/>
                </a:solidFill>
                <a:latin typeface="Aptos"/>
                <a:ea typeface="DejaVu Sans"/>
              </a:rPr>
              <a:t>Fixed 3+3 reaches 0.454 Acc@GQA, but uses cost 7.500; it is a high-cost reference, not our method.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62" name="Rounded Rectangle 179"/>
          <p:cNvSpPr/>
          <p:nvPr/>
        </p:nvSpPr>
        <p:spPr>
          <a:xfrm>
            <a:off x="777240" y="3675960"/>
            <a:ext cx="5165640" cy="1352520"/>
          </a:xfrm>
          <a:prstGeom prst="roundRect">
            <a:avLst>
              <a:gd name="adj" fmla="val 16667"/>
            </a:avLst>
          </a:prstGeom>
          <a:solidFill>
            <a:srgbClr val="e2edf8"/>
          </a:solidFill>
          <a:ln w="17780">
            <a:solidFill>
              <a:srgbClr val="2a5989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109800" bIns="10980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2a5989"/>
                </a:solidFill>
                <a:latin typeface="Aptos"/>
                <a:ea typeface="DejaVu Sans"/>
              </a:rPr>
              <a:t>3. Key evidence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111827"/>
                </a:solidFill>
                <a:latin typeface="Aptos"/>
                <a:ea typeface="DejaVu Sans"/>
              </a:rPr>
              <a:t>Oracle top-2 reaches 0.442 Acc@GQA at cost 2.493, showing that compact support exists in the candidate pool.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63" name="Rounded Rectangle 180"/>
          <p:cNvSpPr/>
          <p:nvPr/>
        </p:nvSpPr>
        <p:spPr>
          <a:xfrm>
            <a:off x="6263640" y="3675960"/>
            <a:ext cx="5165640" cy="1352520"/>
          </a:xfrm>
          <a:prstGeom prst="roundRect">
            <a:avLst>
              <a:gd name="adj" fmla="val 16667"/>
            </a:avLst>
          </a:prstGeom>
          <a:solidFill>
            <a:srgbClr val="f6f8fb"/>
          </a:solidFill>
          <a:ln w="17780">
            <a:solidFill>
              <a:srgbClr val="6b7280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109800" bIns="10980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4b5563"/>
                </a:solidFill>
                <a:latin typeface="Aptos"/>
                <a:ea typeface="DejaVu Sans"/>
              </a:rPr>
              <a:t>4. Submission takeaway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111827"/>
                </a:solidFill>
                <a:latin typeface="Aptos"/>
                <a:ea typeface="DejaVu Sans"/>
              </a:rPr>
              <a:t>The remaining challenge is better temporal routing: ranking compact support while avoiding redundant or irrelevant evidence.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64" name="Rounded Rectangle 181"/>
          <p:cNvSpPr/>
          <p:nvPr/>
        </p:nvSpPr>
        <p:spPr>
          <a:xfrm>
            <a:off x="1005840" y="5596200"/>
            <a:ext cx="10194840" cy="694080"/>
          </a:xfrm>
          <a:prstGeom prst="roundRect">
            <a:avLst>
              <a:gd name="adj" fmla="val 16667"/>
            </a:avLst>
          </a:prstGeom>
          <a:solidFill>
            <a:srgbClr val="e2f3ee"/>
          </a:solidFill>
          <a:ln w="17780">
            <a:solidFill>
              <a:srgbClr val="31927e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rIns="182880" tIns="109800" bIns="10980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380" spc="-1" strike="noStrike">
                <a:solidFill>
                  <a:srgbClr val="31927e"/>
                </a:solidFill>
                <a:latin typeface="Aptos"/>
                <a:ea typeface="DejaVu Sans"/>
              </a:rPr>
              <a:t>Report recommendation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20" spc="-1" strike="noStrike">
                <a:solidFill>
                  <a:srgbClr val="111827"/>
                </a:solidFill>
                <a:latin typeface="Aptos"/>
                <a:ea typeface="DejaVu Sans"/>
              </a:rPr>
              <a:t>Always present Acc@QA, Acc@GQA, IoP/IoU, and evidence cost together.</a:t>
            </a:r>
            <a:endParaRPr b="0" lang="en-US" sz="16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