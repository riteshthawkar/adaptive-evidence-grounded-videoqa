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2A5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81360" cy="960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200" b="1">
                <a:solidFill>
                  <a:srgbClr val="19375C"/>
                </a:solidFill>
                <a:latin typeface="Aptos"/>
              </a:rPr>
              <a:t>Adaptive Evidence Acquisition for</a:t>
            </a:r>
            <a:br/>
            <a:r>
              <a:t>Grounded Video Question Answering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31720"/>
            <a:ext cx="10515600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000" b="0">
                <a:solidFill>
                  <a:srgbClr val="5B6370"/>
                </a:solidFill>
                <a:latin typeface="Aptos"/>
              </a:rPr>
              <a:t>A cost-aware evidence selection view of grounded VideoQA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154680"/>
            <a:ext cx="5257800" cy="1325880"/>
          </a:xfrm>
          <a:prstGeom prst="rect">
            <a:avLst/>
          </a:prstGeom>
          <a:solidFill>
            <a:srgbClr val="E8F0FA"/>
          </a:solidFill>
          <a:ln w="15240">
            <a:solidFill>
              <a:srgbClr val="3B8B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3264408"/>
            <a:ext cx="49286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3B8B74"/>
                </a:solidFill>
                <a:latin typeface="Aptos"/>
              </a:rPr>
              <a:t>Opening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3630168"/>
            <a:ext cx="4928616" cy="7406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0">
                <a:solidFill>
                  <a:srgbClr val="14181F"/>
                </a:solidFill>
                <a:latin typeface="Aptos"/>
              </a:rPr>
              <a:t>How much visual evidence is enough to answer a video question while staying temporally grounded?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3154680"/>
            <a:ext cx="5257800" cy="1325880"/>
          </a:xfrm>
          <a:prstGeom prst="rect">
            <a:avLst/>
          </a:prstGeom>
          <a:solidFill>
            <a:srgbClr val="E8F0FA"/>
          </a:solidFill>
          <a:ln w="15240">
            <a:solidFill>
              <a:srgbClr val="B08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1" y="3264408"/>
            <a:ext cx="49286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B08400"/>
                </a:solidFill>
                <a:latin typeface="Aptos"/>
              </a:rPr>
              <a:t>Main claim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1" y="3630168"/>
            <a:ext cx="4928616" cy="7406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0">
                <a:solidFill>
                  <a:srgbClr val="14181F"/>
                </a:solidFill>
                <a:latin typeface="Aptos"/>
              </a:rPr>
              <a:t>Answer accuracy, evidence cost, and temporal grounding must be evaluated together.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650992"/>
            <a:ext cx="107899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0">
                <a:solidFill>
                  <a:srgbClr val="5B6370"/>
                </a:solidFill>
                <a:latin typeface="Aptos"/>
              </a:rPr>
              <a:t>Aniket Salunke, Ketan More, Nazish Baliyan, Ritesh Thawkar | MBZUAI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2A5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8580"/>
            <a:ext cx="96926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1">
                <a:solidFill>
                  <a:srgbClr val="FFFFFF"/>
                </a:solidFill>
                <a:latin typeface="Aptos"/>
              </a:rPr>
              <a:t>Three Questions We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86868"/>
            <a:ext cx="12344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800" b="0">
                <a:solidFill>
                  <a:srgbClr val="FFFFFF"/>
                </a:solidFill>
                <a:latin typeface="Aptos"/>
              </a:rPr>
              <a:t>2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74536"/>
            <a:ext cx="12191695" cy="283464"/>
          </a:xfrm>
          <a:prstGeom prst="rect">
            <a:avLst/>
          </a:prstGeom>
          <a:solidFill>
            <a:srgbClr val="E8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629400"/>
            <a:ext cx="7772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50" b="0">
                <a:solidFill>
                  <a:srgbClr val="19375C"/>
                </a:solidFill>
                <a:latin typeface="Aptos"/>
              </a:rPr>
              <a:t>Adaptive Evidence Acquisition for Grounded VideoQA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2600" y="6629400"/>
            <a:ext cx="24688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50">
                <a:solidFill>
                  <a:srgbClr val="374151"/>
                </a:solidFill>
              </a:rPr>
              <a:t>Research Presentation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960120"/>
            <a:ext cx="10561320" cy="932688"/>
          </a:xfrm>
          <a:prstGeom prst="rect">
            <a:avLst/>
          </a:prstGeom>
          <a:solidFill>
            <a:srgbClr val="E8F0FA"/>
          </a:solidFill>
          <a:ln w="15240">
            <a:solidFill>
              <a:srgbClr val="2A59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1069848"/>
            <a:ext cx="1023213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2A598F"/>
                </a:solidFill>
                <a:latin typeface="Aptos"/>
              </a:rPr>
              <a:t>Research Question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1435608"/>
            <a:ext cx="10232136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000" b="0">
                <a:solidFill>
                  <a:srgbClr val="14181F"/>
                </a:solidFill>
                <a:latin typeface="Aptos"/>
              </a:rPr>
              <a:t>Q1. Do all video questions need the same amount of visual evidence?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331720"/>
            <a:ext cx="10561320" cy="932688"/>
          </a:xfrm>
          <a:prstGeom prst="rect">
            <a:avLst/>
          </a:prstGeom>
          <a:solidFill>
            <a:srgbClr val="E8F0FA"/>
          </a:solidFill>
          <a:ln w="15240">
            <a:solidFill>
              <a:srgbClr val="3B8B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441448"/>
            <a:ext cx="1023213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3B8B74"/>
                </a:solidFill>
                <a:latin typeface="Aptos"/>
              </a:rPr>
              <a:t>Research Question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2807208"/>
            <a:ext cx="10232136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/>
              <a:t>Q2. Can compact question-conditioned evidence improve grounding without using the full fixed budget?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703320"/>
            <a:ext cx="10561320" cy="932688"/>
          </a:xfrm>
          <a:prstGeom prst="rect">
            <a:avLst/>
          </a:prstGeom>
          <a:solidFill>
            <a:srgbClr val="E8F0FA"/>
          </a:solidFill>
          <a:ln w="15240">
            <a:solidFill>
              <a:srgbClr val="B08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813048"/>
            <a:ext cx="1023213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B08400"/>
                </a:solidFill>
                <a:latin typeface="Aptos"/>
              </a:rPr>
              <a:t>Research Question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178808"/>
            <a:ext cx="10232136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/>
              <a:t>Q3. Is the remaining gap caused by evidence routing, answerer strength, or candidate-pool quality?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5349240"/>
            <a:ext cx="10241280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/>
              <a:t>We answer these through controlled evidence-budget experiments and an answerer swap from a frozen scorer to Qwen2.5-VL.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2A5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8580"/>
            <a:ext cx="96926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1">
                <a:solidFill>
                  <a:srgbClr val="FFFFFF"/>
                </a:solidFill>
                <a:latin typeface="Aptos"/>
              </a:rPr>
              <a:t>Motivation: Correct Answers Can Be Ungrounded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86868"/>
            <a:ext cx="12344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800" b="0">
                <a:solidFill>
                  <a:srgbClr val="FFFFFF"/>
                </a:solidFill>
                <a:latin typeface="Aptos"/>
              </a:rPr>
              <a:t>3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74536"/>
            <a:ext cx="12191695" cy="283464"/>
          </a:xfrm>
          <a:prstGeom prst="rect">
            <a:avLst/>
          </a:prstGeom>
          <a:solidFill>
            <a:srgbClr val="E8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629400"/>
            <a:ext cx="7772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50" b="0">
                <a:solidFill>
                  <a:srgbClr val="19375C"/>
                </a:solidFill>
                <a:latin typeface="Aptos"/>
              </a:rPr>
              <a:t>Adaptive Evidence Acquisition for Grounded VideoQA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2600" y="6629400"/>
            <a:ext cx="24688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50">
                <a:solidFill>
                  <a:srgbClr val="374151"/>
                </a:solidFill>
              </a:rPr>
              <a:t>Research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14400"/>
            <a:ext cx="5303520" cy="274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285750">
              <a:spcAft>
                <a:spcPts val="700"/>
              </a:spcAft>
              <a:defRPr sz="2000">
                <a:solidFill>
                  <a:srgbClr val="14181F"/>
                </a:solidFill>
                <a:latin typeface="Aptos"/>
              </a:defRPr>
            </a:pPr>
            <a:r>
              <a:t>VideoQA evidence is distributed over time.</a:t>
            </a:r>
          </a:p>
          <a:p>
            <a:pPr marL="285750">
              <a:spcAft>
                <a:spcPts val="700"/>
              </a:spcAft>
              <a:defRPr sz="2000">
                <a:solidFill>
                  <a:srgbClr val="14181F"/>
                </a:solidFill>
                <a:latin typeface="Aptos"/>
              </a:defRPr>
            </a:pPr>
            <a:r>
              <a:t>A correct option may be guessed from priors or broad scene context.</a:t>
            </a:r>
          </a:p>
          <a:p>
            <a:pPr marL="285750">
              <a:spcAft>
                <a:spcPts val="700"/>
              </a:spcAft>
              <a:defRPr sz="2000">
                <a:solidFill>
                  <a:srgbClr val="14181F"/>
                </a:solidFill>
                <a:latin typeface="Aptos"/>
              </a:defRPr>
            </a:pPr>
            <a:r>
              <a:t>Fixed frame/clip budgets can waste evidence or miss the support moment.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914400"/>
            <a:ext cx="4892040" cy="2011680"/>
          </a:xfrm>
          <a:prstGeom prst="rect">
            <a:avLst/>
          </a:prstGeom>
          <a:solidFill>
            <a:srgbClr val="E8F0FA"/>
          </a:solidFill>
          <a:ln w="15240">
            <a:solidFill>
              <a:srgbClr val="2A59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65392" y="1024128"/>
            <a:ext cx="4562855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2A598F"/>
                </a:solidFill>
                <a:latin typeface="Aptos"/>
              </a:rPr>
              <a:t>Grounded VideoQA asks two things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392" y="1389888"/>
            <a:ext cx="4562855" cy="14264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0">
                <a:solidFill>
                  <a:srgbClr val="14181F"/>
                </a:solidFill>
                <a:latin typeface="Aptos"/>
              </a:rPr>
              <a:t>1. Is the answer correct?</a:t>
            </a:r>
            <a:br/>
            <a:r>
              <a:t>2. Does the selected evidence overlap the annotated support moment?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3383280"/>
            <a:ext cx="4892040" cy="1508760"/>
          </a:xfrm>
          <a:prstGeom prst="rect">
            <a:avLst/>
          </a:prstGeom>
          <a:solidFill>
            <a:srgbClr val="E8F0FA"/>
          </a:solidFill>
          <a:ln w="15240">
            <a:solidFill>
              <a:srgbClr val="3B8B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65392" y="3493008"/>
            <a:ext cx="4562855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3B8B74"/>
                </a:solidFill>
                <a:latin typeface="Aptos"/>
              </a:rPr>
              <a:t>Why it matters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65392" y="3858768"/>
            <a:ext cx="4562855" cy="923543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0">
                <a:solidFill>
                  <a:srgbClr val="14181F"/>
                </a:solidFill>
                <a:latin typeface="Aptos"/>
              </a:rPr>
              <a:t>Grounding turns VideoQA from answer classification into evidence-supported reasoning.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5285232"/>
            <a:ext cx="5074920" cy="777240"/>
          </a:xfrm>
          <a:prstGeom prst="rect">
            <a:avLst/>
          </a:prstGeom>
          <a:solidFill>
            <a:srgbClr val="F8FAFC"/>
          </a:solidFill>
          <a:ln w="17780">
            <a:solidFill>
              <a:srgbClr val="B08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" y="5413248"/>
            <a:ext cx="491032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50" b="1">
                <a:solidFill>
                  <a:srgbClr val="5B6370"/>
                </a:solidFill>
                <a:latin typeface="Aptos"/>
              </a:rPr>
              <a:t>Failure mode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" y="5687568"/>
            <a:ext cx="4910328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800" b="1">
                <a:solidFill>
                  <a:srgbClr val="B08400"/>
                </a:solidFill>
                <a:latin typeface="Aptos"/>
              </a:rPr>
              <a:t>correct but weakly grounded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285232"/>
            <a:ext cx="5074920" cy="777240"/>
          </a:xfrm>
          <a:prstGeom prst="rect">
            <a:avLst/>
          </a:prstGeom>
          <a:solidFill>
            <a:srgbClr val="F8FAFC"/>
          </a:solidFill>
          <a:ln w="17780">
            <a:solidFill>
              <a:srgbClr val="3B8B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08776" y="5413248"/>
            <a:ext cx="491032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50" b="1">
                <a:solidFill>
                  <a:srgbClr val="5B6370"/>
                </a:solidFill>
                <a:latin typeface="Aptos"/>
              </a:rPr>
              <a:t>Desired behavior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08776" y="5687568"/>
            <a:ext cx="4910328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800" b="1">
                <a:solidFill>
                  <a:srgbClr val="3B8B74"/>
                </a:solidFill>
                <a:latin typeface="Aptos"/>
              </a:rPr>
              <a:t>correct and grounded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2A5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8580"/>
            <a:ext cx="96926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1">
                <a:solidFill>
                  <a:srgbClr val="FFFFFF"/>
                </a:solidFill>
                <a:latin typeface="Aptos"/>
              </a:rPr>
              <a:t>Related Work and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86868"/>
            <a:ext cx="12344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800" b="0">
                <a:solidFill>
                  <a:srgbClr val="FFFFFF"/>
                </a:solidFill>
                <a:latin typeface="Aptos"/>
              </a:rPr>
              <a:t>4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74536"/>
            <a:ext cx="12191695" cy="283464"/>
          </a:xfrm>
          <a:prstGeom prst="rect">
            <a:avLst/>
          </a:prstGeom>
          <a:solidFill>
            <a:srgbClr val="E8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629400"/>
            <a:ext cx="7772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50" b="0">
                <a:solidFill>
                  <a:srgbClr val="19375C"/>
                </a:solidFill>
                <a:latin typeface="Aptos"/>
              </a:rPr>
              <a:t>Adaptive Evidence Acquisition for Grounded VideoQA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2600" y="6629400"/>
            <a:ext cx="24688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50">
                <a:solidFill>
                  <a:srgbClr val="374151"/>
                </a:solidFill>
              </a:rPr>
              <a:t>Research Presentation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4617720"/>
            <a:ext cx="10561320" cy="960120"/>
          </a:xfrm>
          <a:prstGeom prst="rect">
            <a:avLst/>
          </a:prstGeom>
          <a:solidFill>
            <a:srgbClr val="E8F0FA"/>
          </a:solidFill>
          <a:ln w="15240">
            <a:solidFill>
              <a:srgbClr val="B08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4727448"/>
            <a:ext cx="1023213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2F5E8D"/>
                </a:solidFill>
              </a:rPr>
              <a:t>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5093208"/>
            <a:ext cx="10232136" cy="3749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150"/>
              <a:t>Prior work often reports answer quality without jointly charging evidence cost and verifying temporal support. We evaluate Acc@QA, cost, IoP/IoU, and Acc@GQA under one evidence-selection protocol.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94360" y="914400"/>
          <a:ext cx="11018518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6956"/>
                <a:gridCol w="4599034"/>
                <a:gridCol w="3832528"/>
              </a:tblGrid>
              <a:tr h="667512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FFFFFF"/>
                          </a:solidFill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2F5E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</a:rPr>
                        <a:t>Examples</a:t>
                      </a:r>
                    </a:p>
                  </a:txBody>
                  <a:tcPr marL="54864" marR="54864" marT="27432" marB="27432" anchor="ctr">
                    <a:solidFill>
                      <a:srgbClr val="2F5E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</a:rPr>
                        <a:t>What they provide</a:t>
                      </a:r>
                    </a:p>
                  </a:txBody>
                  <a:tcPr marL="54864" marR="54864" marT="27432" marB="27432" anchor="ctr">
                    <a:solidFill>
                      <a:srgbClr val="2F5E8D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11827"/>
                          </a:solidFill>
                        </a:rPr>
                        <a:t>VideoQA benchmarks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11827"/>
                          </a:solidFill>
                        </a:rPr>
                        <a:t>MovieQA, TGIF-QA, TVQA, NExT-QA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11827"/>
                          </a:solidFill>
                        </a:rPr>
                        <a:t>Temporal and causal reasoning tasks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11827"/>
                          </a:solidFill>
                        </a:rPr>
                        <a:t>Grounded VideoQA / localization</a:t>
                      </a:r>
                    </a:p>
                  </a:txBody>
                  <a:tcPr marL="54864" marR="54864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11827"/>
                          </a:solidFill>
                        </a:rPr>
                        <a:t>TVQA+, NExT-GQA, Moment-DETR/QVHighlights, SeViLA</a:t>
                      </a:r>
                    </a:p>
                  </a:txBody>
                  <a:tcPr marL="54864" marR="54864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11827"/>
                          </a:solidFill>
                        </a:rPr>
                        <a:t>Answer support and temporal evidence annotations</a:t>
                      </a:r>
                    </a:p>
                  </a:txBody>
                  <a:tcPr marL="54864" marR="54864" marT="27432" marB="27432" anchor="ctr">
                    <a:solidFill>
                      <a:srgbClr val="F6F8FB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11827"/>
                          </a:solidFill>
                        </a:rPr>
                        <a:t>Pretrained answerers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11827"/>
                          </a:solidFill>
                        </a:rPr>
                        <a:t>CLIP, FrozenBiLM, BLIP-2/InstructBLIP, Video-LLaVA, Qwen2.5-VL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11827"/>
                          </a:solidFill>
                        </a:rPr>
                        <a:t>Strong visual-language reasoning backbones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11827"/>
                          </a:solidFill>
                        </a:rPr>
                        <a:t>Retrieval-augmented video</a:t>
                      </a:r>
                    </a:p>
                  </a:txBody>
                  <a:tcPr marL="54864" marR="54864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11827"/>
                          </a:solidFill>
                        </a:rPr>
                        <a:t>R2A, VideoRAG/VRAG, UniversalRAG, ModaRoute</a:t>
                      </a:r>
                    </a:p>
                  </a:txBody>
                  <a:tcPr marL="54864" marR="54864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11827"/>
                          </a:solidFill>
                        </a:rPr>
                        <a:t>Selective context construction for long videos</a:t>
                      </a:r>
                    </a:p>
                  </a:txBody>
                  <a:tcPr marL="54864" marR="54864" marT="27432" marB="27432" anchor="ctr">
                    <a:solidFill>
                      <a:srgbClr val="F6F8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2A5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8580"/>
            <a:ext cx="96926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1">
                <a:solidFill>
                  <a:srgbClr val="FFFFFF"/>
                </a:solidFill>
                <a:latin typeface="Aptos"/>
              </a:rPr>
              <a:t>Task Formulation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86868"/>
            <a:ext cx="12344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800" b="0">
                <a:solidFill>
                  <a:srgbClr val="FFFFFF"/>
                </a:solidFill>
                <a:latin typeface="Aptos"/>
              </a:rPr>
              <a:t>5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74536"/>
            <a:ext cx="12191695" cy="283464"/>
          </a:xfrm>
          <a:prstGeom prst="rect">
            <a:avLst/>
          </a:prstGeom>
          <a:solidFill>
            <a:srgbClr val="E8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629400"/>
            <a:ext cx="7772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50" b="0">
                <a:solidFill>
                  <a:srgbClr val="19375C"/>
                </a:solidFill>
                <a:latin typeface="Aptos"/>
              </a:rPr>
              <a:t>Adaptive Evidence Acquisition for Grounded VideoQA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2600" y="6629400"/>
            <a:ext cx="24688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50">
                <a:solidFill>
                  <a:srgbClr val="374151"/>
                </a:solidFill>
              </a:rPr>
              <a:t>Research Presentation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868680"/>
            <a:ext cx="5257800" cy="1325880"/>
          </a:xfrm>
          <a:prstGeom prst="rect">
            <a:avLst/>
          </a:prstGeom>
          <a:solidFill>
            <a:srgbClr val="E8F0FA"/>
          </a:solidFill>
          <a:ln w="15240">
            <a:solidFill>
              <a:srgbClr val="2A59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978407"/>
            <a:ext cx="49286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2A598F"/>
                </a:solidFill>
                <a:latin typeface="Aptos"/>
              </a:rPr>
              <a:t>Grounded VideoQA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344168"/>
            <a:ext cx="4928616" cy="7406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700" b="0">
                <a:solidFill>
                  <a:srgbClr val="14181F"/>
                </a:solidFill>
                <a:latin typeface="Aptos"/>
              </a:rPr>
              <a:t>x = (v, q, A, y, T)</a:t>
            </a:r>
            <a:br/>
            <a:r>
              <a:t>video, question, answer options, label, support span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868680"/>
            <a:ext cx="5257800" cy="1325880"/>
          </a:xfrm>
          <a:prstGeom prst="rect">
            <a:avLst/>
          </a:prstGeom>
          <a:solidFill>
            <a:srgbClr val="E8F0FA"/>
          </a:solidFill>
          <a:ln w="15240">
            <a:solidFill>
              <a:srgbClr val="3B8B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1" y="978407"/>
            <a:ext cx="49286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3B8B74"/>
                </a:solidFill>
                <a:latin typeface="Aptos"/>
              </a:rPr>
              <a:t>Evidence pool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1" y="1344168"/>
            <a:ext cx="4928616" cy="7406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700" b="0">
                <a:solidFill>
                  <a:srgbClr val="14181F"/>
                </a:solidFill>
                <a:latin typeface="Aptos"/>
              </a:rPr>
              <a:t>E(x) = {e1, ..., eN}</a:t>
            </a:r>
            <a:br/>
            <a:r>
              <a:t>frames and short temporal segments with cost and interval metadata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606040"/>
            <a:ext cx="5257800" cy="1325880"/>
          </a:xfrm>
          <a:prstGeom prst="rect">
            <a:avLst/>
          </a:prstGeom>
          <a:solidFill>
            <a:srgbClr val="E8F0FA"/>
          </a:solidFill>
          <a:ln w="15240">
            <a:solidFill>
              <a:srgbClr val="B08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2715768"/>
            <a:ext cx="49286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B08400"/>
                </a:solidFill>
                <a:latin typeface="Aptos"/>
              </a:rPr>
              <a:t>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3081528"/>
            <a:ext cx="4928616" cy="7406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900" b="0">
                <a:solidFill>
                  <a:srgbClr val="14181F"/>
                </a:solidFill>
                <a:latin typeface="Aptos"/>
              </a:rPr>
              <a:t>Selects S subset E(x)</a:t>
            </a:r>
            <a:br/>
            <a:r>
              <a:t>C(S) = sum_i c_i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2606040"/>
            <a:ext cx="5257800" cy="1325880"/>
          </a:xfrm>
          <a:prstGeom prst="rect">
            <a:avLst/>
          </a:prstGeom>
          <a:solidFill>
            <a:srgbClr val="E8F0FA"/>
          </a:solidFill>
          <a:ln w="15240">
            <a:solidFill>
              <a:srgbClr val="2A59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1" y="2715768"/>
            <a:ext cx="49286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2A598F"/>
                </a:solidFill>
                <a:latin typeface="Aptos"/>
              </a:rPr>
              <a:t>Answerer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1" y="3081528"/>
            <a:ext cx="4928616" cy="7406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0">
                <a:solidFill>
                  <a:srgbClr val="14181F"/>
                </a:solidFill>
                <a:latin typeface="Aptos"/>
              </a:rPr>
              <a:t>Predicts answer from question, options, and selected evidence only.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983480"/>
            <a:ext cx="10332720" cy="4389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900" b="1">
                <a:solidFill>
                  <a:srgbClr val="19375C"/>
                </a:solidFill>
                <a:latin typeface="Aptos"/>
              </a:rPr>
              <a:t>Optimization intuition: maximize answer accuracy and grounding while minimizing acquired evidence cost.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2A5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8580"/>
            <a:ext cx="96926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1">
                <a:solidFill>
                  <a:srgbClr val="FFFFFF"/>
                </a:solidFill>
                <a:latin typeface="Aptos"/>
              </a:rPr>
              <a:t>Method: Adaptive Evidence Acquisition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86868"/>
            <a:ext cx="12344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800" b="0">
                <a:solidFill>
                  <a:srgbClr val="FFFFFF"/>
                </a:solidFill>
                <a:latin typeface="Aptos"/>
              </a:rPr>
              <a:t>6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74536"/>
            <a:ext cx="12191695" cy="283464"/>
          </a:xfrm>
          <a:prstGeom prst="rect">
            <a:avLst/>
          </a:prstGeom>
          <a:solidFill>
            <a:srgbClr val="E8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629400"/>
            <a:ext cx="7772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50" b="0">
                <a:solidFill>
                  <a:srgbClr val="19375C"/>
                </a:solidFill>
                <a:latin typeface="Aptos"/>
              </a:rPr>
              <a:t>Adaptive Evidence Acquisition for Grounded VideoQA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2600" y="6629400"/>
            <a:ext cx="24688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50">
                <a:solidFill>
                  <a:srgbClr val="374151"/>
                </a:solidFill>
              </a:rPr>
              <a:t>Research Presentation</a:t>
            </a:r>
          </a:p>
        </p:txBody>
      </p:sp>
      <p:pic>
        <p:nvPicPr>
          <p:cNvPr id="8" name="Picture 7" descr="figur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658368"/>
            <a:ext cx="9875520" cy="421445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7240" y="5102352"/>
            <a:ext cx="5257800" cy="932688"/>
          </a:xfrm>
          <a:prstGeom prst="rect">
            <a:avLst/>
          </a:prstGeom>
          <a:solidFill>
            <a:srgbClr val="E8F0FA"/>
          </a:solidFill>
          <a:ln w="15240">
            <a:solidFill>
              <a:srgbClr val="2A59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5212080"/>
            <a:ext cx="49286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2F5E8D"/>
                </a:solidFill>
              </a:rPr>
              <a:t>Candidate pool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5577840"/>
            <a:ext cx="4928616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130"/>
              <a:t>Sample frames and short temporal segments; store interval, modality, retrieval score, and cost for each candidate.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5102352"/>
            <a:ext cx="5257800" cy="932688"/>
          </a:xfrm>
          <a:prstGeom prst="rect">
            <a:avLst/>
          </a:prstGeom>
          <a:solidFill>
            <a:srgbClr val="E8F0FA"/>
          </a:solidFill>
          <a:ln w="15240">
            <a:solidFill>
              <a:srgbClr val="3B8B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6792" y="5212080"/>
            <a:ext cx="49286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2F5E8D"/>
                </a:solidFill>
              </a:rPr>
              <a:t>Controlled answerer swap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6792" y="5577840"/>
            <a:ext cx="4928616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130"/>
              <a:t>Keep the selected evidence fixed, then swap only the answerer. This separates routing quality from visual reasoning quality.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2A5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8580"/>
            <a:ext cx="96926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1">
                <a:solidFill>
                  <a:srgbClr val="FFFFFF"/>
                </a:solidFill>
                <a:latin typeface="Aptos"/>
              </a:rPr>
              <a:t>Evidence Policies and Cost Ladder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86868"/>
            <a:ext cx="12344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800" b="0">
                <a:solidFill>
                  <a:srgbClr val="FFFFFF"/>
                </a:solidFill>
                <a:latin typeface="Aptos"/>
              </a:rPr>
              <a:t>7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74536"/>
            <a:ext cx="12191695" cy="283464"/>
          </a:xfrm>
          <a:prstGeom prst="rect">
            <a:avLst/>
          </a:prstGeom>
          <a:solidFill>
            <a:srgbClr val="E8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629400"/>
            <a:ext cx="7772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50" b="0">
                <a:solidFill>
                  <a:srgbClr val="19375C"/>
                </a:solidFill>
                <a:latin typeface="Aptos"/>
              </a:rPr>
              <a:t>Adaptive Evidence Acquisition for Grounded VideoQA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2600" y="6629400"/>
            <a:ext cx="24688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50">
                <a:solidFill>
                  <a:srgbClr val="374151"/>
                </a:solidFill>
              </a:rPr>
              <a:t>Research Presentation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160520"/>
            <a:ext cx="4800600" cy="1234440"/>
          </a:xfrm>
          <a:prstGeom prst="rect">
            <a:avLst/>
          </a:prstGeom>
          <a:solidFill>
            <a:srgbClr val="E8F0FA"/>
          </a:solidFill>
          <a:ln w="15240">
            <a:solidFill>
              <a:srgbClr val="2A59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4270248"/>
            <a:ext cx="44714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50" b="1">
                <a:solidFill>
                  <a:srgbClr val="2F5E8D"/>
                </a:solidFill>
              </a:rPr>
              <a:t>Training and roles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4636008"/>
            <a:ext cx="4471416" cy="6492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40"/>
              <a:t>Linear policy uses oracle-trace imitation. MLP+NMS is the final learned router; temporal NMS discourages redundant intervals. Qwen is only the answerer.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4160520"/>
            <a:ext cx="4800600" cy="1234440"/>
          </a:xfrm>
          <a:prstGeom prst="rect">
            <a:avLst/>
          </a:prstGeom>
          <a:solidFill>
            <a:srgbClr val="E8F0FA"/>
          </a:solidFill>
          <a:ln w="15240">
            <a:solidFill>
              <a:srgbClr val="3B8B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65392" y="4270248"/>
            <a:ext cx="44714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50" b="1">
                <a:solidFill>
                  <a:srgbClr val="BC8600"/>
                </a:solidFill>
              </a:rPr>
              <a:t>References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65392" y="4636008"/>
            <a:ext cx="4471416" cy="6492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40"/>
              <a:t>Temporal-supervised, oracle, and fixed 3+3 rows are diagnostic/reference rows, not the proposed method.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8640" y="704088"/>
          <a:ext cx="11018517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3814"/>
                <a:gridCol w="3531576"/>
                <a:gridCol w="1094788"/>
                <a:gridCol w="1271367"/>
                <a:gridCol w="2736972"/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</a:rPr>
                        <a:t>Policy</a:t>
                      </a:r>
                    </a:p>
                  </a:txBody>
                  <a:tcPr marL="54864" marR="54864" marT="27432" marB="27432" anchor="ctr">
                    <a:solidFill>
                      <a:srgbClr val="2F5E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2F5E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Count</a:t>
                      </a:r>
                    </a:p>
                  </a:txBody>
                  <a:tcPr marL="54864" marR="54864" marT="27432" marB="27432" anchor="ctr">
                    <a:solidFill>
                      <a:srgbClr val="2F5E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Cost</a:t>
                      </a:r>
                    </a:p>
                  </a:txBody>
                  <a:tcPr marL="54864" marR="54864" marT="27432" marB="27432" anchor="ctr">
                    <a:solidFill>
                      <a:srgbClr val="2F5E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Role</a:t>
                      </a:r>
                    </a:p>
                  </a:txBody>
                  <a:tcPr marL="54864" marR="54864" marT="27432" marB="27432" anchor="ctr">
                    <a:solidFill>
                      <a:srgbClr val="2F5E8D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740" b="0">
                          <a:solidFill>
                            <a:srgbClr val="111827"/>
                          </a:solidFill>
                        </a:rPr>
                        <a:t>One segment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 b="0">
                          <a:solidFill>
                            <a:srgbClr val="111827"/>
                          </a:solidFill>
                        </a:rPr>
                        <a:t>top segment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 b="0">
                          <a:solidFill>
                            <a:srgbClr val="111827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 b="0">
                          <a:solidFill>
                            <a:srgbClr val="111827"/>
                          </a:solidFill>
                        </a:rPr>
                        <a:t>1.500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 b="0">
                          <a:solidFill>
                            <a:srgbClr val="111827"/>
                          </a:solidFill>
                        </a:rPr>
                        <a:t>low-cost control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740" b="0">
                          <a:solidFill>
                            <a:srgbClr val="111827"/>
                          </a:solidFill>
                        </a:rPr>
                        <a:t>Linear policy</a:t>
                      </a:r>
                    </a:p>
                  </a:txBody>
                  <a:tcPr marL="54864" marR="54864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 b="0">
                          <a:solidFill>
                            <a:srgbClr val="111827"/>
                          </a:solidFill>
                        </a:rPr>
                        <a:t>oracle-trace imitation</a:t>
                      </a:r>
                    </a:p>
                  </a:txBody>
                  <a:tcPr marL="54864" marR="54864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 b="0">
                          <a:solidFill>
                            <a:srgbClr val="111827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 b="0">
                          <a:solidFill>
                            <a:srgbClr val="111827"/>
                          </a:solidFill>
                        </a:rPr>
                        <a:t>2.795</a:t>
                      </a:r>
                    </a:p>
                  </a:txBody>
                  <a:tcPr marL="54864" marR="54864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 b="0">
                          <a:solidFill>
                            <a:srgbClr val="111827"/>
                          </a:solidFill>
                        </a:rPr>
                        <a:t>compact baseline</a:t>
                      </a:r>
                    </a:p>
                  </a:txBody>
                  <a:tcPr marL="54864" marR="54864" marT="27432" marB="27432" anchor="ctr">
                    <a:solidFill>
                      <a:srgbClr val="F6F8FB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740" b="0">
                          <a:solidFill>
                            <a:srgbClr val="111827"/>
                          </a:solidFill>
                        </a:rPr>
                        <a:t>MLP top-2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 b="0">
                          <a:solidFill>
                            <a:srgbClr val="111827"/>
                          </a:solidFill>
                        </a:rPr>
                        <a:t>candidate MLP scores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 b="0">
                          <a:solidFill>
                            <a:srgbClr val="111827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 b="0">
                          <a:solidFill>
                            <a:srgbClr val="111827"/>
                          </a:solidFill>
                        </a:rPr>
                        <a:t>3.000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 b="0">
                          <a:solidFill>
                            <a:srgbClr val="111827"/>
                          </a:solidFill>
                        </a:rPr>
                        <a:t>router ablation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740" b="1">
                          <a:solidFill>
                            <a:srgbClr val="111827"/>
                          </a:solidFill>
                        </a:rPr>
                        <a:t>MLP+NMS (Our)</a:t>
                      </a:r>
                    </a:p>
                  </a:txBody>
                  <a:tcPr marL="54864" marR="54864" marT="27432" marB="27432" anchor="ctr">
                    <a:solidFill>
                      <a:srgbClr val="E2F0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 b="1">
                          <a:solidFill>
                            <a:srgbClr val="111827"/>
                          </a:solidFill>
                        </a:rPr>
                        <a:t>MLP + temporal diversity</a:t>
                      </a:r>
                    </a:p>
                  </a:txBody>
                  <a:tcPr marL="54864" marR="54864" marT="27432" marB="27432" anchor="ctr">
                    <a:solidFill>
                      <a:srgbClr val="E2F0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 b="1">
                          <a:solidFill>
                            <a:srgbClr val="111827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2F0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 b="1">
                          <a:solidFill>
                            <a:srgbClr val="111827"/>
                          </a:solidFill>
                        </a:rPr>
                        <a:t>2.935</a:t>
                      </a:r>
                    </a:p>
                  </a:txBody>
                  <a:tcPr marL="54864" marR="54864" marT="27432" marB="27432" anchor="ctr">
                    <a:solidFill>
                      <a:srgbClr val="E2F0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 b="1">
                          <a:solidFill>
                            <a:srgbClr val="111827"/>
                          </a:solidFill>
                        </a:rPr>
                        <a:t>proposed selector</a:t>
                      </a:r>
                    </a:p>
                  </a:txBody>
                  <a:tcPr marL="54864" marR="54864" marT="27432" marB="27432" anchor="ctr">
                    <a:solidFill>
                      <a:srgbClr val="E2F0EC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740" b="0">
                          <a:solidFill>
                            <a:srgbClr val="111827"/>
                          </a:solidFill>
                        </a:rPr>
                        <a:t>Temporal-supervised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 b="0">
                          <a:solidFill>
                            <a:srgbClr val="111827"/>
                          </a:solidFill>
                        </a:rPr>
                        <a:t>overlap-label MLP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 b="0">
                          <a:solidFill>
                            <a:srgbClr val="111827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 b="0">
                          <a:solidFill>
                            <a:srgbClr val="111827"/>
                          </a:solidFill>
                        </a:rPr>
                        <a:t>2.273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 b="0">
                          <a:solidFill>
                            <a:srgbClr val="111827"/>
                          </a:solidFill>
                        </a:rPr>
                        <a:t>diagnostic router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740" b="0">
                          <a:solidFill>
                            <a:srgbClr val="111827"/>
                          </a:solidFill>
                        </a:rPr>
                        <a:t>Oracle top-2</a:t>
                      </a:r>
                    </a:p>
                  </a:txBody>
                  <a:tcPr marL="54864" marR="54864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 b="0">
                          <a:solidFill>
                            <a:srgbClr val="111827"/>
                          </a:solidFill>
                        </a:rPr>
                        <a:t>ground-truth IoP from pool</a:t>
                      </a:r>
                    </a:p>
                  </a:txBody>
                  <a:tcPr marL="54864" marR="54864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 b="0">
                          <a:solidFill>
                            <a:srgbClr val="111827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 b="0">
                          <a:solidFill>
                            <a:srgbClr val="111827"/>
                          </a:solidFill>
                        </a:rPr>
                        <a:t>2.493</a:t>
                      </a:r>
                    </a:p>
                  </a:txBody>
                  <a:tcPr marL="54864" marR="54864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 b="0">
                          <a:solidFill>
                            <a:srgbClr val="111827"/>
                          </a:solidFill>
                        </a:rPr>
                        <a:t>headroom reference</a:t>
                      </a:r>
                    </a:p>
                  </a:txBody>
                  <a:tcPr marL="54864" marR="54864" marT="27432" marB="27432" anchor="ctr">
                    <a:solidFill>
                      <a:srgbClr val="F6F8FB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740" b="0">
                          <a:solidFill>
                            <a:srgbClr val="111827"/>
                          </a:solidFill>
                        </a:rPr>
                        <a:t>Fixed 3+3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 b="0">
                          <a:solidFill>
                            <a:srgbClr val="111827"/>
                          </a:solidFill>
                        </a:rPr>
                        <a:t>3 frames + 3 segments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 b="0">
                          <a:solidFill>
                            <a:srgbClr val="111827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 b="0">
                          <a:solidFill>
                            <a:srgbClr val="111827"/>
                          </a:solidFill>
                        </a:rPr>
                        <a:t>7.500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40" b="0">
                          <a:solidFill>
                            <a:srgbClr val="111827"/>
                          </a:solidFill>
                        </a:rPr>
                        <a:t>coverage reference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2A5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8580"/>
            <a:ext cx="96926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1">
                <a:solidFill>
                  <a:srgbClr val="FFFFFF"/>
                </a:solidFill>
                <a:latin typeface="Aptos"/>
              </a:rPr>
              <a:t>Experimental Setup and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86868"/>
            <a:ext cx="12344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800" b="0">
                <a:solidFill>
                  <a:srgbClr val="FFFFFF"/>
                </a:solidFill>
                <a:latin typeface="Aptos"/>
              </a:rPr>
              <a:t>8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74536"/>
            <a:ext cx="12191695" cy="283464"/>
          </a:xfrm>
          <a:prstGeom prst="rect">
            <a:avLst/>
          </a:prstGeom>
          <a:solidFill>
            <a:srgbClr val="E8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629400"/>
            <a:ext cx="7772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50" b="0">
                <a:solidFill>
                  <a:srgbClr val="19375C"/>
                </a:solidFill>
                <a:latin typeface="Aptos"/>
              </a:rPr>
              <a:t>Adaptive Evidence Acquisition for Grounded VideoQA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2600" y="6629400"/>
            <a:ext cx="24688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50">
                <a:solidFill>
                  <a:srgbClr val="374151"/>
                </a:solidFill>
              </a:rPr>
              <a:t>Research Presentation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868680"/>
            <a:ext cx="3429000" cy="1417320"/>
          </a:xfrm>
          <a:prstGeom prst="rect">
            <a:avLst/>
          </a:prstGeom>
          <a:solidFill>
            <a:srgbClr val="E8F0FA"/>
          </a:solidFill>
          <a:ln w="15240">
            <a:solidFill>
              <a:srgbClr val="2A59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978407"/>
            <a:ext cx="30998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2A598F"/>
                </a:solidFill>
                <a:latin typeface="Aptos"/>
              </a:rPr>
              <a:t>Dataset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344168"/>
            <a:ext cx="3099816" cy="8321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>
                <a:solidFill>
                  <a:srgbClr val="14181F"/>
                </a:solidFill>
                <a:latin typeface="Aptos"/>
              </a:rPr>
              <a:t>NExT-GQA</a:t>
            </a:r>
            <a:br/>
            <a:r>
              <a:t>Validation: 3,358 examples</a:t>
            </a:r>
            <a:br/>
            <a:r>
              <a:t>Test: 5,553 examples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868680"/>
            <a:ext cx="3429000" cy="1417320"/>
          </a:xfrm>
          <a:prstGeom prst="rect">
            <a:avLst/>
          </a:prstGeom>
          <a:solidFill>
            <a:srgbClr val="E8F0FA"/>
          </a:solidFill>
          <a:ln w="15240">
            <a:solidFill>
              <a:srgbClr val="3B8B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978407"/>
            <a:ext cx="30998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3B8B74"/>
                </a:solidFill>
                <a:latin typeface="Aptos"/>
              </a:rPr>
              <a:t>Answerers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1344168"/>
            <a:ext cx="3099816" cy="8321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>
                <a:solidFill>
                  <a:srgbClr val="14181F"/>
                </a:solidFill>
                <a:latin typeface="Aptos"/>
              </a:rPr>
              <a:t>Frozen CLIP-style scorer</a:t>
            </a:r>
            <a:br/>
            <a:r>
              <a:t>Qwen2.5-VL-3B-Instruct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868680"/>
            <a:ext cx="3429000" cy="1417320"/>
          </a:xfrm>
          <a:prstGeom prst="rect">
            <a:avLst/>
          </a:prstGeom>
          <a:solidFill>
            <a:srgbClr val="E8F0FA"/>
          </a:solidFill>
          <a:ln w="15240">
            <a:solidFill>
              <a:srgbClr val="B08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57031" y="978407"/>
            <a:ext cx="30998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B08400"/>
                </a:solidFill>
                <a:latin typeface="Aptos"/>
              </a:rPr>
              <a:t>Protocol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1" y="1344168"/>
            <a:ext cx="3099816" cy="8321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120"/>
              <a:t>Same selected evidence</a:t>
            </a:r>
          </a:p>
          <a:p>
            <a:r>
              <a:rPr sz="1120"/>
              <a:t>Swap only final answerer</a:t>
            </a:r>
          </a:p>
          <a:p>
            <a:r>
              <a:rPr sz="1120"/>
              <a:t>Deterministic Qwen decoding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77240" y="2788920"/>
          <a:ext cx="1065276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6380"/>
                <a:gridCol w="5326380"/>
              </a:tblGrid>
              <a:tr h="37338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2F5E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Meaning</a:t>
                      </a:r>
                    </a:p>
                  </a:txBody>
                  <a:tcPr marL="54864" marR="54864" marT="27432" marB="27432" anchor="ctr">
                    <a:solidFill>
                      <a:srgbClr val="2F5E8D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827"/>
                          </a:solidFill>
                        </a:rPr>
                        <a:t>Acc@QA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Whether the answer letter is correct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827"/>
                          </a:solidFill>
                        </a:rPr>
                        <a:t>Cost / Count</a:t>
                      </a:r>
                    </a:p>
                  </a:txBody>
                  <a:tcPr marL="54864" marR="54864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Amount of visual evidence acquired</a:t>
                      </a:r>
                    </a:p>
                  </a:txBody>
                  <a:tcPr marL="54864" marR="54864" marT="27432" marB="27432" anchor="ctr">
                    <a:solidFill>
                      <a:srgbClr val="F6F8FB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827"/>
                          </a:solidFill>
                        </a:rPr>
                        <a:t>mIoP, IoP@0.5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Selected evidence is inside the support span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827"/>
                          </a:solidFill>
                        </a:rPr>
                        <a:t>mIoU, IoU@0.5</a:t>
                      </a:r>
                    </a:p>
                  </a:txBody>
                  <a:tcPr marL="54864" marR="54864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Stricter temporal overlap with support span</a:t>
                      </a:r>
                    </a:p>
                  </a:txBody>
                  <a:tcPr marL="54864" marR="54864" marT="27432" marB="27432" anchor="ctr">
                    <a:solidFill>
                      <a:srgbClr val="F6F8FB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827"/>
                          </a:solidFill>
                        </a:rPr>
                        <a:t>Acc@GQA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</a:rPr>
                        <a:t>Correct answer and IoP@0.5 grounding success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2A5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8580"/>
            <a:ext cx="96926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1">
                <a:solidFill>
                  <a:srgbClr val="FFFFFF"/>
                </a:solidFill>
                <a:latin typeface="Aptos"/>
              </a:rPr>
              <a:t>Main Comparison: Answer Accuracy Is Not Grounding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86868"/>
            <a:ext cx="12344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800" b="0">
                <a:solidFill>
                  <a:srgbClr val="FFFFFF"/>
                </a:solidFill>
                <a:latin typeface="Aptos"/>
              </a:rPr>
              <a:t>9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74536"/>
            <a:ext cx="12191695" cy="283464"/>
          </a:xfrm>
          <a:prstGeom prst="rect">
            <a:avLst/>
          </a:prstGeom>
          <a:solidFill>
            <a:srgbClr val="E8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629400"/>
            <a:ext cx="7772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50" b="0">
                <a:solidFill>
                  <a:srgbClr val="19375C"/>
                </a:solidFill>
                <a:latin typeface="Aptos"/>
              </a:rPr>
              <a:t>Adaptive Evidence Acquisition for Grounded VideoQA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2600" y="6629400"/>
            <a:ext cx="24688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50">
                <a:solidFill>
                  <a:srgbClr val="374151"/>
                </a:solidFill>
              </a:rPr>
              <a:t>Research Presentation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5010912"/>
            <a:ext cx="3429000" cy="1051560"/>
          </a:xfrm>
          <a:prstGeom prst="rect">
            <a:avLst/>
          </a:prstGeom>
          <a:solidFill>
            <a:srgbClr val="E8F0FA"/>
          </a:solidFill>
          <a:ln w="15240">
            <a:solidFill>
              <a:srgbClr val="2A59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5120640"/>
            <a:ext cx="30998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50" b="1">
                <a:solidFill>
                  <a:srgbClr val="2F5E8D"/>
                </a:solidFill>
              </a:rPr>
              <a:t>Protocol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5486400"/>
            <a:ext cx="3099816" cy="466343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19"/>
              <a:t>Prior rows use official NExT-GQA metrics; our grounding uses selected-evidence best overlap.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5010912"/>
            <a:ext cx="3429000" cy="1051560"/>
          </a:xfrm>
          <a:prstGeom prst="rect">
            <a:avLst/>
          </a:prstGeom>
          <a:solidFill>
            <a:srgbClr val="E8F0FA"/>
          </a:solidFill>
          <a:ln w="15240">
            <a:solidFill>
              <a:srgbClr val="3B8B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5120640"/>
            <a:ext cx="30998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50" b="1">
                <a:solidFill>
                  <a:srgbClr val="3F927D"/>
                </a:solidFill>
              </a:rPr>
              <a:t>Proposed point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5486400"/>
            <a:ext cx="3099816" cy="466343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19"/>
              <a:t>Qwen MLP+NMS (Our): 0.689 Acc@QA, 0.321 Acc@GQA, cost 2.935.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79" y="5010912"/>
            <a:ext cx="3429000" cy="1051560"/>
          </a:xfrm>
          <a:prstGeom prst="rect">
            <a:avLst/>
          </a:prstGeom>
          <a:solidFill>
            <a:srgbClr val="E8F0FA"/>
          </a:solidFill>
          <a:ln w="15240">
            <a:solidFill>
              <a:srgbClr val="B08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19871" y="5120640"/>
            <a:ext cx="309981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50" b="1">
                <a:solidFill>
                  <a:srgbClr val="BC8600"/>
                </a:solidFill>
              </a:rPr>
              <a:t>References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1" y="5486400"/>
            <a:ext cx="3099816" cy="466343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19"/>
              <a:t>Oracle top-2 reaches 0.442 Acc@GQA at cost 2.493; fixed 3+3 reaches 0.454 at cost 7.500.</a:t>
            </a:r>
          </a:p>
        </p:txBody>
      </p:sp>
      <p:pic>
        <p:nvPicPr>
          <p:cNvPr id="18" name="Picture 17" descr="main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777240"/>
            <a:ext cx="10835640" cy="389858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2A5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8580"/>
            <a:ext cx="96926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1">
                <a:solidFill>
                  <a:srgbClr val="FFFFFF"/>
                </a:solidFill>
                <a:latin typeface="Aptos"/>
              </a:rPr>
              <a:t>Result 1: Frozen Answerer Is the Bottleneck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86868"/>
            <a:ext cx="12344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800" b="0">
                <a:solidFill>
                  <a:srgbClr val="FFFFFF"/>
                </a:solidFill>
                <a:latin typeface="Aptos"/>
              </a:rPr>
              <a:t>10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74536"/>
            <a:ext cx="12191695" cy="283464"/>
          </a:xfrm>
          <a:prstGeom prst="rect">
            <a:avLst/>
          </a:prstGeom>
          <a:solidFill>
            <a:srgbClr val="E8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629400"/>
            <a:ext cx="7772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50" b="0">
                <a:solidFill>
                  <a:srgbClr val="19375C"/>
                </a:solidFill>
                <a:latin typeface="Aptos"/>
              </a:rPr>
              <a:t>Adaptive Evidence Acquisition for Grounded VideoQA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2600" y="6629400"/>
            <a:ext cx="24688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50">
                <a:solidFill>
                  <a:srgbClr val="374151"/>
                </a:solidFill>
              </a:rPr>
              <a:t>Research Presentation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914400"/>
          <a:ext cx="10835640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7128"/>
                <a:gridCol w="2167128"/>
                <a:gridCol w="2167128"/>
                <a:gridCol w="2167128"/>
                <a:gridCol w="2167128"/>
              </a:tblGrid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2F5E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Acc@QA</a:t>
                      </a:r>
                    </a:p>
                  </a:txBody>
                  <a:tcPr marL="54864" marR="54864" marT="27432" marB="27432" anchor="ctr">
                    <a:solidFill>
                      <a:srgbClr val="2F5E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Cost</a:t>
                      </a:r>
                    </a:p>
                  </a:txBody>
                  <a:tcPr marL="54864" marR="54864" marT="27432" marB="27432" anchor="ctr">
                    <a:solidFill>
                      <a:srgbClr val="2F5E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IoP@0.5</a:t>
                      </a:r>
                    </a:p>
                  </a:txBody>
                  <a:tcPr marL="54864" marR="54864" marT="27432" marB="27432" anchor="ctr">
                    <a:solidFill>
                      <a:srgbClr val="2F5E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Acc@GQA</a:t>
                      </a:r>
                    </a:p>
                  </a:txBody>
                  <a:tcPr marL="54864" marR="54864" marT="27432" marB="27432" anchor="ctr">
                    <a:solidFill>
                      <a:srgbClr val="2F5E8D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827"/>
                          </a:solidFill>
                          <a:latin typeface="Aptos"/>
                        </a:rPr>
                        <a:t>One segment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  <a:latin typeface="Aptos"/>
                        </a:rPr>
                        <a:t>0.378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  <a:latin typeface="Aptos"/>
                        </a:rPr>
                        <a:t>1.500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  <a:latin typeface="Aptos"/>
                        </a:rPr>
                        <a:t>0.311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  <a:latin typeface="Aptos"/>
                        </a:rPr>
                        <a:t>0.124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827"/>
                          </a:solidFill>
                        </a:rPr>
                        <a:t>Linear policy, two items</a:t>
                      </a:r>
                    </a:p>
                  </a:txBody>
                  <a:tcPr marL="54864" marR="54864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  <a:latin typeface="Aptos"/>
                        </a:rPr>
                        <a:t>0.381</a:t>
                      </a:r>
                    </a:p>
                  </a:txBody>
                  <a:tcPr marL="54864" marR="54864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  <a:latin typeface="Aptos"/>
                        </a:rPr>
                        <a:t>2.795</a:t>
                      </a:r>
                    </a:p>
                  </a:txBody>
                  <a:tcPr marL="54864" marR="54864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  <a:latin typeface="Aptos"/>
                        </a:rPr>
                        <a:t>0.410</a:t>
                      </a:r>
                    </a:p>
                  </a:txBody>
                  <a:tcPr marL="54864" marR="54864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  <a:latin typeface="Aptos"/>
                        </a:rPr>
                        <a:t>0.164</a:t>
                      </a:r>
                    </a:p>
                  </a:txBody>
                  <a:tcPr marL="54864" marR="54864" marT="27432" marB="27432" anchor="ctr">
                    <a:solidFill>
                      <a:srgbClr val="F6F8FB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827"/>
                          </a:solidFill>
                        </a:rPr>
                        <a:t>Fixed 3 frames + 3 segments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  <a:latin typeface="Aptos"/>
                        </a:rPr>
                        <a:t>0.388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  <a:latin typeface="Aptos"/>
                        </a:rPr>
                        <a:t>7.500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  <a:latin typeface="Aptos"/>
                        </a:rPr>
                        <a:t>0.615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  <a:latin typeface="Aptos"/>
                        </a:rPr>
                        <a:t>0.245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827"/>
                          </a:solidFill>
                        </a:rPr>
                        <a:t>Fixed 6 frames + 6 segments</a:t>
                      </a:r>
                    </a:p>
                  </a:txBody>
                  <a:tcPr marL="54864" marR="54864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  <a:latin typeface="Aptos"/>
                        </a:rPr>
                        <a:t>0.394</a:t>
                      </a:r>
                    </a:p>
                  </a:txBody>
                  <a:tcPr marL="54864" marR="54864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  <a:latin typeface="Aptos"/>
                        </a:rPr>
                        <a:t>14.908</a:t>
                      </a:r>
                    </a:p>
                  </a:txBody>
                  <a:tcPr marL="54864" marR="54864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  <a:latin typeface="Aptos"/>
                        </a:rPr>
                        <a:t>0.787</a:t>
                      </a:r>
                    </a:p>
                  </a:txBody>
                  <a:tcPr marL="54864" marR="54864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827"/>
                          </a:solidFill>
                          <a:latin typeface="Aptos"/>
                        </a:rPr>
                        <a:t>0.316</a:t>
                      </a:r>
                    </a:p>
                  </a:txBody>
                  <a:tcPr marL="54864" marR="54864" marT="27432" marB="27432" anchor="ctr">
                    <a:solidFill>
                      <a:srgbClr val="F6F8FB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822960" y="3886200"/>
            <a:ext cx="4983480" cy="1371600"/>
          </a:xfrm>
          <a:prstGeom prst="rect">
            <a:avLst/>
          </a:prstGeom>
          <a:solidFill>
            <a:srgbClr val="E8F0FA"/>
          </a:solidFill>
          <a:ln w="15240">
            <a:solidFill>
              <a:srgbClr val="2A59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995928"/>
            <a:ext cx="465429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2A598F"/>
                </a:solidFill>
                <a:latin typeface="Aptos"/>
              </a:rPr>
              <a:t>Observation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4361688"/>
            <a:ext cx="4654296" cy="7863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100"/>
              <a:t>Temporal coverage improves as evidence budget increases, but answer accuracy remains near 0.38-0.39.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3886200"/>
            <a:ext cx="4983480" cy="1371600"/>
          </a:xfrm>
          <a:prstGeom prst="rect">
            <a:avLst/>
          </a:prstGeom>
          <a:solidFill>
            <a:srgbClr val="E8F0FA"/>
          </a:solidFill>
          <a:ln w="15240">
            <a:solidFill>
              <a:srgbClr val="B08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3995928"/>
            <a:ext cx="465429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B08400"/>
                </a:solidFill>
                <a:latin typeface="Aptos"/>
              </a:rPr>
              <a:t>Conclusion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4361688"/>
            <a:ext cx="4654296" cy="7863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100"/>
              <a:t>A weak answerer can hide evidence-selection improvements in the answer metric.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2A5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8580"/>
            <a:ext cx="96926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1">
                <a:solidFill>
                  <a:srgbClr val="FFFFFF"/>
                </a:solidFill>
                <a:latin typeface="Aptos"/>
              </a:rPr>
              <a:t>Result 2: Stronger VLM Reveals the Tradeoff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86868"/>
            <a:ext cx="12344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800" b="0">
                <a:solidFill>
                  <a:srgbClr val="FFFFFF"/>
                </a:solidFill>
                <a:latin typeface="Aptos"/>
              </a:rPr>
              <a:t>11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74536"/>
            <a:ext cx="12191695" cy="283464"/>
          </a:xfrm>
          <a:prstGeom prst="rect">
            <a:avLst/>
          </a:prstGeom>
          <a:solidFill>
            <a:srgbClr val="E8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629400"/>
            <a:ext cx="7772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50" b="0">
                <a:solidFill>
                  <a:srgbClr val="19375C"/>
                </a:solidFill>
                <a:latin typeface="Aptos"/>
              </a:rPr>
              <a:t>Adaptive Evidence Acquisition for Grounded VideoQA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2600" y="6629400"/>
            <a:ext cx="24688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50">
                <a:solidFill>
                  <a:srgbClr val="374151"/>
                </a:solidFill>
              </a:rPr>
              <a:t>Research Presentation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657600"/>
            <a:ext cx="3383280" cy="868680"/>
          </a:xfrm>
          <a:prstGeom prst="rect">
            <a:avLst/>
          </a:prstGeom>
          <a:solidFill>
            <a:srgbClr val="F8FAFC"/>
          </a:solidFill>
          <a:ln w="17780">
            <a:solidFill>
              <a:srgbClr val="3B8B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3785615"/>
            <a:ext cx="321868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50" b="1">
                <a:solidFill>
                  <a:srgbClr val="2F5E8D"/>
                </a:solidFill>
              </a:rPr>
              <a:t>Answer retained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5" y="4059936"/>
            <a:ext cx="3218688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800" b="1">
                <a:solidFill>
                  <a:srgbClr val="3F927D"/>
                </a:solidFill>
              </a:rPr>
              <a:t>95%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3657600"/>
            <a:ext cx="3383280" cy="868680"/>
          </a:xfrm>
          <a:prstGeom prst="rect">
            <a:avLst/>
          </a:prstGeom>
          <a:solidFill>
            <a:srgbClr val="F8FAFC"/>
          </a:solidFill>
          <a:ln w="17780">
            <a:solidFill>
              <a:srgbClr val="2A59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71416" y="3785615"/>
            <a:ext cx="321868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50" b="1">
                <a:solidFill>
                  <a:srgbClr val="2F5E8D"/>
                </a:solidFill>
              </a:rPr>
              <a:t>Cost used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1416" y="4059936"/>
            <a:ext cx="3218688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800" b="1">
                <a:solidFill>
                  <a:srgbClr val="3F927D"/>
                </a:solidFill>
              </a:rPr>
              <a:t>39%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3657600"/>
            <a:ext cx="3383280" cy="868680"/>
          </a:xfrm>
          <a:prstGeom prst="rect">
            <a:avLst/>
          </a:prstGeom>
          <a:solidFill>
            <a:srgbClr val="F8FAFC"/>
          </a:solidFill>
          <a:ln w="17780">
            <a:solidFill>
              <a:srgbClr val="B08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46136" y="3785615"/>
            <a:ext cx="321868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50" b="1">
                <a:solidFill>
                  <a:srgbClr val="2F5E8D"/>
                </a:solidFill>
              </a:rPr>
              <a:t>Acc@GQA retained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46136" y="4059936"/>
            <a:ext cx="3218688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800" b="1">
                <a:solidFill>
                  <a:srgbClr val="3F927D"/>
                </a:solidFill>
              </a:rPr>
              <a:t>71%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074920"/>
            <a:ext cx="1014984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0">
                <a:solidFill>
                  <a:srgbClr val="111827"/>
                </a:solidFill>
              </a:rPr>
              <a:t>MLP+NMS is the strongest learned grounded selector; temporal supervision is cheaper but under-covers by IoU, and oracle top-2 shows routing headroom.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02920" y="685800"/>
          <a:ext cx="11201398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20490"/>
                <a:gridCol w="1400175"/>
                <a:gridCol w="1306829"/>
                <a:gridCol w="1586865"/>
                <a:gridCol w="1306829"/>
                <a:gridCol w="1680210"/>
              </a:tblGrid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78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2F5E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>
                          <a:solidFill>
                            <a:srgbClr val="FFFFFF"/>
                          </a:solidFill>
                        </a:rPr>
                        <a:t>Acc@QA</a:t>
                      </a:r>
                    </a:p>
                  </a:txBody>
                  <a:tcPr marL="54864" marR="54864" marT="27432" marB="27432" anchor="ctr">
                    <a:solidFill>
                      <a:srgbClr val="2F5E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>
                          <a:solidFill>
                            <a:srgbClr val="FFFFFF"/>
                          </a:solidFill>
                        </a:rPr>
                        <a:t>Cost</a:t>
                      </a:r>
                    </a:p>
                  </a:txBody>
                  <a:tcPr marL="54864" marR="54864" marT="27432" marB="27432" anchor="ctr">
                    <a:solidFill>
                      <a:srgbClr val="2F5E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>
                          <a:solidFill>
                            <a:srgbClr val="FFFFFF"/>
                          </a:solidFill>
                        </a:rPr>
                        <a:t>IoP@0.5</a:t>
                      </a:r>
                    </a:p>
                  </a:txBody>
                  <a:tcPr marL="54864" marR="54864" marT="27432" marB="27432" anchor="ctr">
                    <a:solidFill>
                      <a:srgbClr val="2F5E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>
                          <a:solidFill>
                            <a:srgbClr val="FFFFFF"/>
                          </a:solidFill>
                        </a:rPr>
                        <a:t>mIoU</a:t>
                      </a:r>
                    </a:p>
                  </a:txBody>
                  <a:tcPr marL="54864" marR="54864" marT="27432" marB="27432" anchor="ctr">
                    <a:solidFill>
                      <a:srgbClr val="2F5E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>
                          <a:solidFill>
                            <a:srgbClr val="FFFFFF"/>
                          </a:solidFill>
                        </a:rPr>
                        <a:t>Acc@GQA</a:t>
                      </a:r>
                    </a:p>
                  </a:txBody>
                  <a:tcPr marL="54864" marR="54864" marT="27432" marB="27432" anchor="ctr">
                    <a:solidFill>
                      <a:srgbClr val="2F5E8D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111827"/>
                          </a:solidFill>
                        </a:rPr>
                        <a:t>One segment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11827"/>
                          </a:solidFill>
                        </a:rPr>
                        <a:t>0.668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11827"/>
                          </a:solidFill>
                        </a:rPr>
                        <a:t>1.500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11827"/>
                          </a:solidFill>
                        </a:rPr>
                        <a:t>0.311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11827"/>
                          </a:solidFill>
                        </a:rPr>
                        <a:t>0.165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11827"/>
                          </a:solidFill>
                        </a:rPr>
                        <a:t>0.221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111827"/>
                          </a:solidFill>
                        </a:rPr>
                        <a:t>Linear policy</a:t>
                      </a:r>
                    </a:p>
                  </a:txBody>
                  <a:tcPr marL="54864" marR="54864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11827"/>
                          </a:solidFill>
                        </a:rPr>
                        <a:t>0.696</a:t>
                      </a:r>
                    </a:p>
                  </a:txBody>
                  <a:tcPr marL="54864" marR="54864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11827"/>
                          </a:solidFill>
                        </a:rPr>
                        <a:t>2.795</a:t>
                      </a:r>
                    </a:p>
                  </a:txBody>
                  <a:tcPr marL="54864" marR="54864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11827"/>
                          </a:solidFill>
                        </a:rPr>
                        <a:t>0.410</a:t>
                      </a:r>
                    </a:p>
                  </a:txBody>
                  <a:tcPr marL="54864" marR="54864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11827"/>
                          </a:solidFill>
                        </a:rPr>
                        <a:t>0.206</a:t>
                      </a:r>
                    </a:p>
                  </a:txBody>
                  <a:tcPr marL="54864" marR="54864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11827"/>
                          </a:solidFill>
                        </a:rPr>
                        <a:t>0.297</a:t>
                      </a:r>
                    </a:p>
                  </a:txBody>
                  <a:tcPr marL="54864" marR="54864" marT="27432" marB="27432" anchor="ctr">
                    <a:solidFill>
                      <a:srgbClr val="F6F8F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111827"/>
                          </a:solidFill>
                        </a:rPr>
                        <a:t>MLP top-2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11827"/>
                          </a:solidFill>
                        </a:rPr>
                        <a:t>0.687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11827"/>
                          </a:solidFill>
                        </a:rPr>
                        <a:t>3.000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11827"/>
                          </a:solidFill>
                        </a:rPr>
                        <a:t>0.423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11827"/>
                          </a:solidFill>
                        </a:rPr>
                        <a:t>0.238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11827"/>
                          </a:solidFill>
                        </a:rPr>
                        <a:t>0.301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11827"/>
                          </a:solidFill>
                        </a:rPr>
                        <a:t>MLP+NMS (Our)</a:t>
                      </a:r>
                    </a:p>
                  </a:txBody>
                  <a:tcPr marL="54864" marR="54864" marT="27432" marB="27432" anchor="ctr">
                    <a:solidFill>
                      <a:srgbClr val="E2F0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</a:rPr>
                        <a:t>0.689</a:t>
                      </a:r>
                    </a:p>
                  </a:txBody>
                  <a:tcPr marL="54864" marR="54864" marT="27432" marB="27432" anchor="ctr">
                    <a:solidFill>
                      <a:srgbClr val="E2F0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</a:rPr>
                        <a:t>2.935</a:t>
                      </a:r>
                    </a:p>
                  </a:txBody>
                  <a:tcPr marL="54864" marR="54864" marT="27432" marB="27432" anchor="ctr">
                    <a:solidFill>
                      <a:srgbClr val="E2F0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</a:rPr>
                        <a:t>0.453</a:t>
                      </a:r>
                    </a:p>
                  </a:txBody>
                  <a:tcPr marL="54864" marR="54864" marT="27432" marB="27432" anchor="ctr">
                    <a:solidFill>
                      <a:srgbClr val="E2F0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</a:rPr>
                        <a:t>0.246</a:t>
                      </a:r>
                    </a:p>
                  </a:txBody>
                  <a:tcPr marL="54864" marR="54864" marT="27432" marB="27432" anchor="ctr">
                    <a:solidFill>
                      <a:srgbClr val="E2F0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11827"/>
                          </a:solidFill>
                        </a:rPr>
                        <a:t>0.321</a:t>
                      </a:r>
                    </a:p>
                  </a:txBody>
                  <a:tcPr marL="54864" marR="54864" marT="27432" marB="27432" anchor="ctr">
                    <a:solidFill>
                      <a:srgbClr val="E2F0E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111827"/>
                          </a:solidFill>
                        </a:rPr>
                        <a:t>Temporal-supervised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11827"/>
                          </a:solidFill>
                        </a:rPr>
                        <a:t>0.696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11827"/>
                          </a:solidFill>
                        </a:rPr>
                        <a:t>2.273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11827"/>
                          </a:solidFill>
                        </a:rPr>
                        <a:t>0.432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11827"/>
                          </a:solidFill>
                        </a:rPr>
                        <a:t>0.088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11827"/>
                          </a:solidFill>
                        </a:rPr>
                        <a:t>0.312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111827"/>
                          </a:solidFill>
                        </a:rPr>
                        <a:t>Oracle top-2 ref.</a:t>
                      </a:r>
                    </a:p>
                  </a:txBody>
                  <a:tcPr marL="54864" marR="54864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11827"/>
                          </a:solidFill>
                        </a:rPr>
                        <a:t>0.701</a:t>
                      </a:r>
                    </a:p>
                  </a:txBody>
                  <a:tcPr marL="54864" marR="54864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11827"/>
                          </a:solidFill>
                        </a:rPr>
                        <a:t>2.493</a:t>
                      </a:r>
                    </a:p>
                  </a:txBody>
                  <a:tcPr marL="54864" marR="54864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11827"/>
                          </a:solidFill>
                        </a:rPr>
                        <a:t>0.615</a:t>
                      </a:r>
                    </a:p>
                  </a:txBody>
                  <a:tcPr marL="54864" marR="54864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11827"/>
                          </a:solidFill>
                        </a:rPr>
                        <a:t>0.224</a:t>
                      </a:r>
                    </a:p>
                  </a:txBody>
                  <a:tcPr marL="54864" marR="54864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11827"/>
                          </a:solidFill>
                        </a:rPr>
                        <a:t>0.442</a:t>
                      </a:r>
                    </a:p>
                  </a:txBody>
                  <a:tcPr marL="54864" marR="54864" marT="27432" marB="27432" anchor="ctr">
                    <a:solidFill>
                      <a:srgbClr val="F6F8F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111827"/>
                          </a:solidFill>
                        </a:rPr>
                        <a:t>Fixed 3+3 ref.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11827"/>
                          </a:solidFill>
                        </a:rPr>
                        <a:t>0.724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11827"/>
                          </a:solidFill>
                        </a:rPr>
                        <a:t>7.500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11827"/>
                          </a:solidFill>
                        </a:rPr>
                        <a:t>0.615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11827"/>
                          </a:solidFill>
                        </a:rPr>
                        <a:t>0.296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11827"/>
                          </a:solidFill>
                        </a:rPr>
                        <a:t>0.454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2A5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8580"/>
            <a:ext cx="96926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1">
                <a:solidFill>
                  <a:srgbClr val="FFFFFF"/>
                </a:solidFill>
                <a:latin typeface="Aptos"/>
              </a:rPr>
              <a:t>Accuracy-Cost-Grounding Tradeoff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86868"/>
            <a:ext cx="12344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800" b="0">
                <a:solidFill>
                  <a:srgbClr val="FFFFFF"/>
                </a:solidFill>
                <a:latin typeface="Aptos"/>
              </a:rPr>
              <a:t>12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74536"/>
            <a:ext cx="12191695" cy="283464"/>
          </a:xfrm>
          <a:prstGeom prst="rect">
            <a:avLst/>
          </a:prstGeom>
          <a:solidFill>
            <a:srgbClr val="E8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629400"/>
            <a:ext cx="7772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50" b="0">
                <a:solidFill>
                  <a:srgbClr val="19375C"/>
                </a:solidFill>
                <a:latin typeface="Aptos"/>
              </a:rPr>
              <a:t>Adaptive Evidence Acquisition for Grounded VideoQA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2600" y="6629400"/>
            <a:ext cx="24688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50">
                <a:solidFill>
                  <a:srgbClr val="374151"/>
                </a:solidFill>
              </a:rPr>
              <a:t>Research Presentation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5074920"/>
            <a:ext cx="10149840" cy="1024128"/>
          </a:xfrm>
          <a:prstGeom prst="rect">
            <a:avLst/>
          </a:prstGeom>
          <a:solidFill>
            <a:srgbClr val="E8F0FA"/>
          </a:solidFill>
          <a:ln w="15240">
            <a:solidFill>
              <a:srgbClr val="2A59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5184648"/>
            <a:ext cx="982065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50" b="1">
                <a:solidFill>
                  <a:srgbClr val="2F5E8D"/>
                </a:solidFill>
              </a:rPr>
              <a:t>Interpretation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5550408"/>
            <a:ext cx="9820656" cy="4389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150"/>
              <a:t>Answer accuracy is relatively flat among compact selectors, but Acc@GQA separates evidence quality. MLP+NMS is the strongest learned grounded point; oracle top-2 shows compact support exists in the pool.</a:t>
            </a:r>
          </a:p>
        </p:txBody>
      </p:sp>
      <p:pic>
        <p:nvPicPr>
          <p:cNvPr id="12" name="Picture 11" descr="qwen_trade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777240"/>
            <a:ext cx="11155680" cy="409235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2A5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8580"/>
            <a:ext cx="96926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1">
                <a:solidFill>
                  <a:srgbClr val="FFFFFF"/>
                </a:solidFill>
                <a:latin typeface="Aptos"/>
              </a:rPr>
              <a:t>Qualitative Lessons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86868"/>
            <a:ext cx="12344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800" b="0">
                <a:solidFill>
                  <a:srgbClr val="FFFFFF"/>
                </a:solidFill>
                <a:latin typeface="Aptos"/>
              </a:rPr>
              <a:t>13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74536"/>
            <a:ext cx="12191695" cy="283464"/>
          </a:xfrm>
          <a:prstGeom prst="rect">
            <a:avLst/>
          </a:prstGeom>
          <a:solidFill>
            <a:srgbClr val="E8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629400"/>
            <a:ext cx="7772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50" b="0">
                <a:solidFill>
                  <a:srgbClr val="19375C"/>
                </a:solidFill>
                <a:latin typeface="Aptos"/>
              </a:rPr>
              <a:t>Adaptive Evidence Acquisition for Grounded VideoQA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2600" y="6629400"/>
            <a:ext cx="24688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50">
                <a:solidFill>
                  <a:srgbClr val="374151"/>
                </a:solidFill>
              </a:rPr>
              <a:t>Research Presentation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572000"/>
            <a:ext cx="10378440" cy="960120"/>
          </a:xfrm>
          <a:prstGeom prst="rect">
            <a:avLst/>
          </a:prstGeom>
          <a:solidFill>
            <a:srgbClr val="E8F0FA"/>
          </a:solidFill>
          <a:ln w="15240">
            <a:solidFill>
              <a:srgbClr val="3B8B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4681728"/>
            <a:ext cx="1004925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3B8B74"/>
                </a:solidFill>
                <a:latin typeface="Aptos"/>
              </a:rPr>
              <a:t>Takeaway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5047488"/>
            <a:ext cx="10049256" cy="3749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150"/>
              <a:t>The qualitative examples support the same conclusion as the tables: the remaining bottleneck is ranking and diversifying support evidence, not simply adding a stronger answerer.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02920" y="822960"/>
          <a:ext cx="1120140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6970"/>
                <a:gridCol w="5040630"/>
                <a:gridCol w="3733800"/>
              </a:tblGrid>
              <a:tr h="811530">
                <a:tc>
                  <a:txBody>
                    <a:bodyPr/>
                    <a:lstStyle/>
                    <a:p>
                      <a:pPr algn="l"/>
                      <a:r>
                        <a:rPr sz="930" b="1">
                          <a:solidFill>
                            <a:srgbClr val="FFFFFF"/>
                          </a:solidFill>
                        </a:rPr>
                        <a:t>Case from report</a:t>
                      </a:r>
                    </a:p>
                  </a:txBody>
                  <a:tcPr marL="54864" marR="54864" marT="27432" marB="27432" anchor="ctr">
                    <a:solidFill>
                      <a:srgbClr val="2F5E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30" b="1">
                          <a:solidFill>
                            <a:srgbClr val="FFFFFF"/>
                          </a:solidFill>
                        </a:rPr>
                        <a:t>What happens</a:t>
                      </a:r>
                    </a:p>
                  </a:txBody>
                  <a:tcPr marL="54864" marR="54864" marT="27432" marB="27432" anchor="ctr">
                    <a:solidFill>
                      <a:srgbClr val="2F5E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30" b="1">
                          <a:solidFill>
                            <a:srgbClr val="FFFFFF"/>
                          </a:solidFill>
                        </a:rPr>
                        <a:t>Lesson</a:t>
                      </a:r>
                    </a:p>
                  </a:txBody>
                  <a:tcPr marL="54864" marR="54864" marT="27432" marB="27432" anchor="ctr">
                    <a:solidFill>
                      <a:srgbClr val="2F5E8D"/>
                    </a:solidFill>
                  </a:tcPr>
                </a:tc>
              </a:tr>
              <a:tr h="811530"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111827"/>
                          </a:solidFill>
                        </a:rPr>
                        <a:t>Temporal NMS helps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11827"/>
                          </a:solidFill>
                        </a:rPr>
                        <a:t>MLP top-2 selects redundant late evidence; MLP+NMS recovers support overlap while preserving the answer.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11827"/>
                          </a:solidFill>
                        </a:rPr>
                        <a:t>Diversity filtering improves compact grounding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811530"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111827"/>
                          </a:solidFill>
                        </a:rPr>
                        <a:t>Router misses support</a:t>
                      </a:r>
                    </a:p>
                  </a:txBody>
                  <a:tcPr marL="54864" marR="54864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11827"/>
                          </a:solidFill>
                        </a:rPr>
                        <a:t>MLP+NMS can miss the annotated moment; oracle top-2 and fixed 3+3 recover it from the same pool.</a:t>
                      </a:r>
                    </a:p>
                  </a:txBody>
                  <a:tcPr marL="54864" marR="54864" marT="27432" marB="27432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11827"/>
                          </a:solidFill>
                        </a:rPr>
                        <a:t>Candidate pool has headroom</a:t>
                      </a:r>
                    </a:p>
                  </a:txBody>
                  <a:tcPr marL="54864" marR="54864" marT="27432" marB="27432" anchor="ctr">
                    <a:solidFill>
                      <a:srgbClr val="F6F8FB"/>
                    </a:solidFill>
                  </a:tcPr>
                </a:tc>
              </a:tr>
              <a:tr h="811530"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111827"/>
                          </a:solidFill>
                        </a:rPr>
                        <a:t>Grounding and answering separate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11827"/>
                          </a:solidFill>
                        </a:rPr>
                        <a:t>High temporal overlap can still produce a wrong answer, and correct answers can be weakly grounded.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0" b="0">
                          <a:solidFill>
                            <a:srgbClr val="111827"/>
                          </a:solidFill>
                        </a:rPr>
                        <a:t>Report Acc@QA, cost, IoP/IoU, and Acc@GQA together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2A5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8580"/>
            <a:ext cx="96926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1">
                <a:solidFill>
                  <a:srgbClr val="FFFFFF"/>
                </a:solidFill>
                <a:latin typeface="Aptos"/>
              </a:rPr>
              <a:t>Answers to the Opening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86868"/>
            <a:ext cx="12344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800" b="0">
                <a:solidFill>
                  <a:srgbClr val="FFFFFF"/>
                </a:solidFill>
                <a:latin typeface="Aptos"/>
              </a:rPr>
              <a:t>14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74536"/>
            <a:ext cx="12191695" cy="283464"/>
          </a:xfrm>
          <a:prstGeom prst="rect">
            <a:avLst/>
          </a:prstGeom>
          <a:solidFill>
            <a:srgbClr val="E8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629400"/>
            <a:ext cx="7772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50" b="0">
                <a:solidFill>
                  <a:srgbClr val="19375C"/>
                </a:solidFill>
                <a:latin typeface="Aptos"/>
              </a:rPr>
              <a:t>Adaptive Evidence Acquisition for Grounded VideoQA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2600" y="6629400"/>
            <a:ext cx="24688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50">
                <a:solidFill>
                  <a:srgbClr val="374151"/>
                </a:solidFill>
              </a:rPr>
              <a:t>Research Presentation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822960"/>
            <a:ext cx="10652760" cy="1078992"/>
          </a:xfrm>
          <a:prstGeom prst="rect">
            <a:avLst/>
          </a:prstGeom>
          <a:solidFill>
            <a:srgbClr val="E8F0FA"/>
          </a:solidFill>
          <a:ln w="15240">
            <a:solidFill>
              <a:srgbClr val="2A59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932688"/>
            <a:ext cx="103235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2A598F"/>
                </a:solidFill>
                <a:latin typeface="Aptos"/>
              </a:rPr>
              <a:t>Q1. Same evidence budget for every question?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1298448"/>
            <a:ext cx="10323576" cy="49377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20"/>
              <a:t>No. Some questions need one short segment; others need broader temporal coverage. Fixed context can be wasteful or weakly grounded.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331720"/>
            <a:ext cx="10652760" cy="1078992"/>
          </a:xfrm>
          <a:prstGeom prst="rect">
            <a:avLst/>
          </a:prstGeom>
          <a:solidFill>
            <a:srgbClr val="E8F0FA"/>
          </a:solidFill>
          <a:ln w="15240">
            <a:solidFill>
              <a:srgbClr val="3B8B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2441448"/>
            <a:ext cx="103235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3B8B74"/>
                </a:solidFill>
                <a:latin typeface="Aptos"/>
              </a:rPr>
              <a:t>Q2. Can compact learned evidence preserve accuracy?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2807208"/>
            <a:ext cx="10323576" cy="49377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20"/>
              <a:t>Yes. MLP+NMS improves Acc@GQA by 10.0 points over one segment, keeps about 95% of fixed 3+3 answer accuracy, and uses 39% of its evidence cost.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840480"/>
            <a:ext cx="10652760" cy="1078992"/>
          </a:xfrm>
          <a:prstGeom prst="rect">
            <a:avLst/>
          </a:prstGeom>
          <a:solidFill>
            <a:srgbClr val="E8F0FA"/>
          </a:solidFill>
          <a:ln w="15240">
            <a:solidFill>
              <a:srgbClr val="B08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950208"/>
            <a:ext cx="103235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1">
                <a:solidFill>
                  <a:srgbClr val="B08400"/>
                </a:solidFill>
                <a:latin typeface="Aptos"/>
              </a:rPr>
              <a:t>Q3. Evidence problem or answerer problem?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315968"/>
            <a:ext cx="10323576" cy="49377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20"/>
              <a:t>Both, but the final gap is mainly routing. The frozen answerer hides evidence gains; Qwen exposes them; oracle top-2 shows compact support exists in the pool.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623560"/>
            <a:ext cx="103327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00" b="1">
                <a:solidFill>
                  <a:srgbClr val="2F5E8D"/>
                </a:solidFill>
              </a:rPr>
              <a:t>The final claim is a Pareto view: answer accuracy, temporal grounding, and evidence cost must be reported together.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2A5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8580"/>
            <a:ext cx="96926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800" b="1">
                <a:solidFill>
                  <a:srgbClr val="FFFFFF"/>
                </a:solidFill>
                <a:latin typeface="Aptos"/>
              </a:rPr>
              <a:t>Final Takeaway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86868"/>
            <a:ext cx="123444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800" b="0">
                <a:solidFill>
                  <a:srgbClr val="FFFFFF"/>
                </a:solidFill>
                <a:latin typeface="Aptos"/>
              </a:rPr>
              <a:t>15 /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74536"/>
            <a:ext cx="12191695" cy="283464"/>
          </a:xfrm>
          <a:prstGeom prst="rect">
            <a:avLst/>
          </a:prstGeom>
          <a:solidFill>
            <a:srgbClr val="E8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629400"/>
            <a:ext cx="7772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850" b="0">
                <a:solidFill>
                  <a:srgbClr val="19375C"/>
                </a:solidFill>
                <a:latin typeface="Aptos"/>
              </a:rPr>
              <a:t>Adaptive Evidence Acquisition for Grounded VideoQA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2600" y="6629400"/>
            <a:ext cx="24688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50">
                <a:solidFill>
                  <a:srgbClr val="374151"/>
                </a:solidFill>
              </a:rPr>
              <a:t>Research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914400"/>
            <a:ext cx="1056132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000" b="1">
                <a:solidFill>
                  <a:srgbClr val="111827"/>
                </a:solidFill>
              </a:rPr>
              <a:t>Grounded VideoQA should be evaluated as evidence acquisition followed by answer generation.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148840"/>
            <a:ext cx="9966960" cy="2011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/>
              <a:t>MLP+NMS is the best learned selector: 0.321 Acc@GQA at cost 2.935.</a:t>
            </a:r>
          </a:p>
          <a:p>
            <a:r>
              <a:rPr sz="1500"/>
              <a:t>Fixed 3+3 is strongest but expensive: 0.454 Acc@GQA at cost 7.500.</a:t>
            </a:r>
          </a:p>
          <a:p>
            <a:r>
              <a:rPr sz="1500"/>
              <a:t>Oracle top-2 reaches 0.442 Acc@GQA at cost 2.493, so compact support exists in the pool.</a:t>
            </a:r>
          </a:p>
          <a:p>
            <a:r>
              <a:rPr sz="1500"/>
              <a:t>The remaining bottleneck is ranking and diversifying the support evidence.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63040" y="4892040"/>
            <a:ext cx="9235440" cy="868680"/>
          </a:xfrm>
          <a:prstGeom prst="rect">
            <a:avLst/>
          </a:prstGeom>
          <a:solidFill>
            <a:srgbClr val="E8F0FA"/>
          </a:solidFill>
          <a:ln w="15240">
            <a:solidFill>
              <a:srgbClr val="3B8B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27632" y="5001768"/>
            <a:ext cx="890625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50" b="1">
                <a:solidFill>
                  <a:srgbClr val="2F5E8D"/>
                </a:solidFill>
              </a:rPr>
              <a:t>One-line closing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7632" y="5367527"/>
            <a:ext cx="8906256" cy="283463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20" b="1">
                <a:solidFill>
                  <a:srgbClr val="111827"/>
                </a:solidFill>
              </a:rPr>
              <a:t>Report answer accuracy, evidence cost, and temporal grounding together.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