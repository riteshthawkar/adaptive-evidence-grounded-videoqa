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6EE9CA5-7099-45B5-A9DF-9786DB173C6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62AEE59-CC04-4362-A455-0C7D976732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D3DF99E-8EA3-444D-B5F1-90F80513A7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296E33F-D125-43AA-BAF5-310021402AD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7DB90A9-416A-498B-B125-541F7D2627F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E15FFCC-8A93-49DF-BE0C-5AB83C2B88B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E97F1CC-1032-4000-B43D-06DE07A0B7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3D40C6F-521C-4E4E-9162-8C731560B4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ECA8E28-4FAA-4EA5-9AE8-F0EB13A956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CA1B404-C115-4DF1-B600-26C4056BCEA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8A9F068-4092-40A9-91CF-FFF9CD51F73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E3C7556-6EBA-4A53-AB93-A46440140CC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05B0696-5152-40CC-9431-D654DD1FCDF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90680" cy="501840"/>
          </a:xfrm>
          <a:prstGeom prst="rect">
            <a:avLst/>
          </a:prstGeom>
          <a:solidFill>
            <a:srgbClr val="2b5b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TextBox 2"/>
          <p:cNvSpPr/>
          <p:nvPr/>
        </p:nvSpPr>
        <p:spPr>
          <a:xfrm>
            <a:off x="594360" y="1051560"/>
            <a:ext cx="1078884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b3a5f"/>
                </a:solidFill>
                <a:latin typeface="Arial"/>
                <a:ea typeface="DejaVu Sans"/>
              </a:rPr>
              <a:t>Adaptive Evidence Acquisition for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594360" y="1600200"/>
            <a:ext cx="93258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121b2b"/>
                </a:solidFill>
                <a:latin typeface="Arial"/>
                <a:ea typeface="DejaVu Sans"/>
              </a:rPr>
              <a:t>Grounded Video Question Answering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4" name="TextBox 4"/>
          <p:cNvSpPr/>
          <p:nvPr/>
        </p:nvSpPr>
        <p:spPr>
          <a:xfrm>
            <a:off x="594360" y="2514600"/>
            <a:ext cx="960012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586374"/>
                </a:solidFill>
                <a:latin typeface="Arial"/>
                <a:ea typeface="DejaVu Sans"/>
              </a:rPr>
              <a:t>A cost-aware evidence selection view of grounded VideoQA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5" name="Rectangle 5"/>
          <p:cNvSpPr/>
          <p:nvPr/>
        </p:nvSpPr>
        <p:spPr>
          <a:xfrm>
            <a:off x="594360" y="3246120"/>
            <a:ext cx="4936680" cy="1461960"/>
          </a:xfrm>
          <a:prstGeom prst="rect">
            <a:avLst/>
          </a:prstGeom>
          <a:solidFill>
            <a:srgbClr val="e0f1ec"/>
          </a:solidFill>
          <a:ln w="17780">
            <a:solidFill>
              <a:srgbClr val="37917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37917e"/>
                </a:solidFill>
                <a:latin typeface="Arial"/>
                <a:ea typeface="DejaVu Sans"/>
              </a:rPr>
              <a:t>Opening question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121b2b"/>
                </a:solidFill>
                <a:latin typeface="Arial"/>
                <a:ea typeface="DejaVu Sans"/>
              </a:rPr>
              <a:t>How much visual evidence is enough to answer a video question while staying temporally grounded?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6" name="Rectangle 6"/>
          <p:cNvSpPr/>
          <p:nvPr/>
        </p:nvSpPr>
        <p:spPr>
          <a:xfrm>
            <a:off x="5897880" y="3246120"/>
            <a:ext cx="4936680" cy="1461960"/>
          </a:xfrm>
          <a:prstGeom prst="rect">
            <a:avLst/>
          </a:prstGeom>
          <a:solidFill>
            <a:srgbClr val="fcf5dd"/>
          </a:solidFill>
          <a:ln w="17780">
            <a:solidFill>
              <a:srgbClr val="b886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b88600"/>
                </a:solidFill>
                <a:latin typeface="Arial"/>
                <a:ea typeface="DejaVu Sans"/>
              </a:rPr>
              <a:t>Main claim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121b2b"/>
                </a:solidFill>
                <a:latin typeface="Arial"/>
                <a:ea typeface="DejaVu Sans"/>
              </a:rPr>
              <a:t>Answer accuracy, evidence cost, and temporal grounding must be evaluated together.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7" name="TextBox 7"/>
          <p:cNvSpPr/>
          <p:nvPr/>
        </p:nvSpPr>
        <p:spPr>
          <a:xfrm>
            <a:off x="594360" y="5806440"/>
            <a:ext cx="987444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586374"/>
                </a:solidFill>
                <a:latin typeface="Arial"/>
                <a:ea typeface="DejaVu Sans"/>
              </a:rPr>
              <a:t>Aniket Salunke, Ketan More, Nazish Baliyan, Ritesh Thawkar | MBZUAI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1"/>
          <p:cNvSpPr/>
          <p:nvPr/>
        </p:nvSpPr>
        <p:spPr>
          <a:xfrm>
            <a:off x="0" y="0"/>
            <a:ext cx="12190680" cy="565920"/>
          </a:xfrm>
          <a:prstGeom prst="rect">
            <a:avLst/>
          </a:prstGeom>
          <a:solidFill>
            <a:srgbClr val="2b5b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" name="TextBox 2"/>
          <p:cNvSpPr/>
          <p:nvPr/>
        </p:nvSpPr>
        <p:spPr>
          <a:xfrm>
            <a:off x="347400" y="73080"/>
            <a:ext cx="98744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Three Questions We Answer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50" name="TextBox 3"/>
          <p:cNvSpPr/>
          <p:nvPr/>
        </p:nvSpPr>
        <p:spPr>
          <a:xfrm>
            <a:off x="10652760" y="82440"/>
            <a:ext cx="1096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2 / 16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1" name="Rectangle 4"/>
          <p:cNvSpPr/>
          <p:nvPr/>
        </p:nvSpPr>
        <p:spPr>
          <a:xfrm>
            <a:off x="731520" y="960120"/>
            <a:ext cx="10697400" cy="913320"/>
          </a:xfrm>
          <a:prstGeom prst="rect">
            <a:avLst/>
          </a:prstGeom>
          <a:solidFill>
            <a:srgbClr val="e2edf9"/>
          </a:solidFill>
          <a:ln w="17780">
            <a:solidFill>
              <a:srgbClr val="2b5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2b5b8b"/>
                </a:solidFill>
                <a:latin typeface="Arial"/>
                <a:ea typeface="DejaVu Sans"/>
              </a:rPr>
              <a:t>Research Question 1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2200" spc="-1" strike="noStrike">
                <a:solidFill>
                  <a:srgbClr val="121b2b"/>
                </a:solidFill>
                <a:latin typeface="Arial"/>
                <a:ea typeface="DejaVu Sans"/>
              </a:rPr>
              <a:t>Q1. Do all video questions need the same amount of visual evidence?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52" name="Rectangle 5"/>
          <p:cNvSpPr/>
          <p:nvPr/>
        </p:nvSpPr>
        <p:spPr>
          <a:xfrm>
            <a:off x="731520" y="2331720"/>
            <a:ext cx="10697400" cy="913320"/>
          </a:xfrm>
          <a:prstGeom prst="rect">
            <a:avLst/>
          </a:prstGeom>
          <a:solidFill>
            <a:srgbClr val="e0f1ec"/>
          </a:solidFill>
          <a:ln w="17780">
            <a:solidFill>
              <a:srgbClr val="37917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37917e"/>
                </a:solidFill>
                <a:latin typeface="Arial"/>
                <a:ea typeface="DejaVu Sans"/>
              </a:rPr>
              <a:t>Research Question 2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900" spc="-1" strike="noStrike">
                <a:solidFill>
                  <a:srgbClr val="121b2b"/>
                </a:solidFill>
                <a:latin typeface="Arial"/>
                <a:ea typeface="DejaVu Sans"/>
              </a:rPr>
              <a:t>Q2. Can compact question-conditioned evidence improve grounding without using the full fixed budget?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53" name="Rectangle 6"/>
          <p:cNvSpPr/>
          <p:nvPr/>
        </p:nvSpPr>
        <p:spPr>
          <a:xfrm>
            <a:off x="731520" y="3703320"/>
            <a:ext cx="10697400" cy="913320"/>
          </a:xfrm>
          <a:prstGeom prst="rect">
            <a:avLst/>
          </a:prstGeom>
          <a:solidFill>
            <a:srgbClr val="fcf5dd"/>
          </a:solidFill>
          <a:ln w="17780">
            <a:solidFill>
              <a:srgbClr val="b886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b88600"/>
                </a:solidFill>
                <a:latin typeface="Arial"/>
                <a:ea typeface="DejaVu Sans"/>
              </a:rPr>
              <a:t>Research Question 3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900" spc="-1" strike="noStrike">
                <a:solidFill>
                  <a:srgbClr val="121b2b"/>
                </a:solidFill>
                <a:latin typeface="Arial"/>
                <a:ea typeface="DejaVu Sans"/>
              </a:rPr>
              <a:t>Q3. Is the remaining gap caused by evidence routing, answerer strength, or candidate-pool quality?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54" name="TextBox 7"/>
          <p:cNvSpPr/>
          <p:nvPr/>
        </p:nvSpPr>
        <p:spPr>
          <a:xfrm>
            <a:off x="868680" y="5486400"/>
            <a:ext cx="10240200" cy="66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121b2b"/>
                </a:solidFill>
                <a:latin typeface="Arial"/>
                <a:ea typeface="DejaVu Sans"/>
              </a:rPr>
              <a:t>We answer these through controlled evidence-budget experiments and an answerer swap from a frozen scorer to Qwen2.5-VL.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5" name="Rectangle 8"/>
          <p:cNvSpPr/>
          <p:nvPr/>
        </p:nvSpPr>
        <p:spPr>
          <a:xfrm>
            <a:off x="0" y="6602040"/>
            <a:ext cx="12190680" cy="254880"/>
          </a:xfrm>
          <a:prstGeom prst="rect">
            <a:avLst/>
          </a:prstGeom>
          <a:solidFill>
            <a:srgbClr val="e8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1"/>
          <p:cNvSpPr/>
          <p:nvPr/>
        </p:nvSpPr>
        <p:spPr>
          <a:xfrm>
            <a:off x="0" y="0"/>
            <a:ext cx="12190680" cy="565920"/>
          </a:xfrm>
          <a:prstGeom prst="rect">
            <a:avLst/>
          </a:prstGeom>
          <a:solidFill>
            <a:srgbClr val="2b5b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" name="TextBox 2"/>
          <p:cNvSpPr/>
          <p:nvPr/>
        </p:nvSpPr>
        <p:spPr>
          <a:xfrm>
            <a:off x="347400" y="73080"/>
            <a:ext cx="98744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Motivation: Correct Answers Can Be Ungrounded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58" name="TextBox 3"/>
          <p:cNvSpPr/>
          <p:nvPr/>
        </p:nvSpPr>
        <p:spPr>
          <a:xfrm>
            <a:off x="10652760" y="82440"/>
            <a:ext cx="1096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3 / 16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9" name="TextBox 4"/>
          <p:cNvSpPr/>
          <p:nvPr/>
        </p:nvSpPr>
        <p:spPr>
          <a:xfrm>
            <a:off x="822960" y="1005840"/>
            <a:ext cx="4936680" cy="28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121b2b"/>
                </a:solidFill>
                <a:latin typeface="Arial"/>
                <a:ea typeface="DejaVu Sans"/>
              </a:rPr>
              <a:t>VideoQA evidence is distributed over time.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121b2b"/>
                </a:solidFill>
                <a:latin typeface="Arial"/>
                <a:ea typeface="DejaVu Sans"/>
              </a:rPr>
              <a:t>A correct option may be guessed from priors or broad scene context.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121b2b"/>
                </a:solidFill>
                <a:latin typeface="Arial"/>
                <a:ea typeface="DejaVu Sans"/>
              </a:rPr>
              <a:t>Fixed frame/clip budgets can waste evidence or miss the support moment.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60" name="Rectangle 5"/>
          <p:cNvSpPr/>
          <p:nvPr/>
        </p:nvSpPr>
        <p:spPr>
          <a:xfrm>
            <a:off x="6080760" y="960120"/>
            <a:ext cx="4800240" cy="1663920"/>
          </a:xfrm>
          <a:prstGeom prst="rect">
            <a:avLst/>
          </a:prstGeom>
          <a:solidFill>
            <a:srgbClr val="e2edf9"/>
          </a:solidFill>
          <a:ln w="17780">
            <a:solidFill>
              <a:srgbClr val="2b5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73080" bIns="7308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500" spc="-1" strike="noStrike">
                <a:solidFill>
                  <a:srgbClr val="2a5989"/>
                </a:solidFill>
                <a:latin typeface="Aptos"/>
                <a:ea typeface="DejaVu Sans"/>
              </a:rPr>
              <a:t>Grounded VideoQA asks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000" spc="-1" strike="noStrike">
                <a:solidFill>
                  <a:srgbClr val="111827"/>
                </a:solidFill>
                <a:latin typeface="Aptos"/>
                <a:ea typeface="DejaVu Sans"/>
              </a:rPr>
              <a:t>1. Is the answer correct?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000" spc="-1" strike="noStrike">
                <a:solidFill>
                  <a:srgbClr val="111827"/>
                </a:solidFill>
                <a:latin typeface="Aptos"/>
                <a:ea typeface="DejaVu Sans"/>
              </a:rPr>
              <a:t>2. Does selected evidence overlap the support moment?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1" name="Rectangle 6"/>
          <p:cNvSpPr/>
          <p:nvPr/>
        </p:nvSpPr>
        <p:spPr>
          <a:xfrm>
            <a:off x="6080760" y="3017520"/>
            <a:ext cx="4800240" cy="1298160"/>
          </a:xfrm>
          <a:prstGeom prst="rect">
            <a:avLst/>
          </a:prstGeom>
          <a:solidFill>
            <a:srgbClr val="e0f1ec"/>
          </a:solidFill>
          <a:ln w="17780">
            <a:solidFill>
              <a:srgbClr val="37917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73080" bIns="7308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500" spc="-1" strike="noStrike">
                <a:solidFill>
                  <a:srgbClr val="31927e"/>
                </a:solidFill>
                <a:latin typeface="Aptos"/>
                <a:ea typeface="DejaVu Sans"/>
              </a:rPr>
              <a:t>Why it matters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111827"/>
                </a:solidFill>
                <a:latin typeface="Aptos"/>
                <a:ea typeface="DejaVu Sans"/>
              </a:rPr>
              <a:t>Grounding turns answer classification into evidence-supported reasoning.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62" name="Rectangle 7"/>
          <p:cNvSpPr/>
          <p:nvPr/>
        </p:nvSpPr>
        <p:spPr>
          <a:xfrm>
            <a:off x="960120" y="4892040"/>
            <a:ext cx="4890960" cy="684720"/>
          </a:xfrm>
          <a:prstGeom prst="rect">
            <a:avLst/>
          </a:prstGeom>
          <a:solidFill>
            <a:srgbClr val="f6f8fb"/>
          </a:solidFill>
          <a:ln w="17780">
            <a:solidFill>
              <a:srgbClr val="b886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b88600"/>
                </a:solidFill>
                <a:latin typeface="Arial"/>
                <a:ea typeface="DejaVu Sans"/>
              </a:rPr>
              <a:t>Failure mode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900" spc="-1" strike="noStrike">
                <a:solidFill>
                  <a:srgbClr val="121b2b"/>
                </a:solidFill>
                <a:latin typeface="Arial"/>
                <a:ea typeface="DejaVu Sans"/>
              </a:rPr>
              <a:t>correct but weakly grounded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63" name="Rectangle 8"/>
          <p:cNvSpPr/>
          <p:nvPr/>
        </p:nvSpPr>
        <p:spPr>
          <a:xfrm>
            <a:off x="5989320" y="4892040"/>
            <a:ext cx="4890960" cy="684720"/>
          </a:xfrm>
          <a:prstGeom prst="rect">
            <a:avLst/>
          </a:prstGeom>
          <a:solidFill>
            <a:srgbClr val="f6f8fb"/>
          </a:solidFill>
          <a:ln w="17780">
            <a:solidFill>
              <a:srgbClr val="37917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37917e"/>
                </a:solidFill>
                <a:latin typeface="Arial"/>
                <a:ea typeface="DejaVu Sans"/>
              </a:rPr>
              <a:t>Desired behavior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900" spc="-1" strike="noStrike">
                <a:solidFill>
                  <a:srgbClr val="121b2b"/>
                </a:solidFill>
                <a:latin typeface="Arial"/>
                <a:ea typeface="DejaVu Sans"/>
              </a:rPr>
              <a:t>correct and grounded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64" name="Rectangle 9"/>
          <p:cNvSpPr/>
          <p:nvPr/>
        </p:nvSpPr>
        <p:spPr>
          <a:xfrm>
            <a:off x="0" y="6602040"/>
            <a:ext cx="12190680" cy="254880"/>
          </a:xfrm>
          <a:prstGeom prst="rect">
            <a:avLst/>
          </a:prstGeom>
          <a:solidFill>
            <a:srgbClr val="e8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12190680" cy="565920"/>
          </a:xfrm>
          <a:prstGeom prst="rect">
            <a:avLst/>
          </a:prstGeom>
          <a:solidFill>
            <a:srgbClr val="2b5b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" name="TextBox 2"/>
          <p:cNvSpPr/>
          <p:nvPr/>
        </p:nvSpPr>
        <p:spPr>
          <a:xfrm>
            <a:off x="347400" y="73080"/>
            <a:ext cx="98744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Related Work and Gap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10652760" y="82440"/>
            <a:ext cx="1096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4 / 16</a:t>
            </a:r>
            <a:endParaRPr b="0" lang="en-US" sz="1800" spc="-1" strike="noStrike">
              <a:latin typeface="Arial"/>
            </a:endParaRPr>
          </a:p>
        </p:txBody>
      </p:sp>
      <p:graphicFrame>
        <p:nvGraphicFramePr>
          <p:cNvPr id="68" name="Table 4"/>
          <p:cNvGraphicFramePr/>
          <p:nvPr/>
        </p:nvGraphicFramePr>
        <p:xfrm>
          <a:off x="502920" y="960120"/>
          <a:ext cx="11200680" cy="3428640"/>
        </p:xfrm>
        <a:graphic>
          <a:graphicData uri="http://schemas.openxmlformats.org/drawingml/2006/table">
            <a:tbl>
              <a:tblPr/>
              <a:tblGrid>
                <a:gridCol w="2651760"/>
                <a:gridCol w="4572000"/>
                <a:gridCol w="3977280"/>
              </a:tblGrid>
              <a:tr h="6858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2b5b8b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Examples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2b5b8b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What they provide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2b5b8b"/>
                    </a:solidFill>
                  </a:tcPr>
                </a:tc>
              </a:tr>
              <a:tr h="6858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VideoQA benchmarks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MovieQA, TGIF-QA, TVQA, NExT-QA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Temporal and causal reasoning tasks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Grounded VideoQA / localization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TVQA+, NExT-GQA, Moment-DETR, QVHighlights, SeViLA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Support spans and temporal evidence annotations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6858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Pretrained answerers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CLIP, FrozenBiLM, BLIP-2, Video-LLaVA, Qwen2.5-VL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Strong visual-language reasoning backbones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Retrieval/adaptive context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R2A, VideoRAG/VRAG, UniversalRAG, ModaRoute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Selective context construction for long videos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69" name="Rectangle 5"/>
          <p:cNvSpPr/>
          <p:nvPr/>
        </p:nvSpPr>
        <p:spPr>
          <a:xfrm>
            <a:off x="822960" y="4892040"/>
            <a:ext cx="10560240" cy="913320"/>
          </a:xfrm>
          <a:prstGeom prst="rect">
            <a:avLst/>
          </a:prstGeom>
          <a:solidFill>
            <a:srgbClr val="fcf5dd"/>
          </a:solidFill>
          <a:ln w="17780">
            <a:solidFill>
              <a:srgbClr val="b886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b88600"/>
                </a:solidFill>
                <a:latin typeface="Arial"/>
                <a:ea typeface="DejaVu Sans"/>
              </a:rPr>
              <a:t>Gap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700" spc="-1" strike="noStrike">
                <a:solidFill>
                  <a:srgbClr val="121b2b"/>
                </a:solidFill>
                <a:latin typeface="Arial"/>
                <a:ea typeface="DejaVu Sans"/>
              </a:rPr>
              <a:t>Prior work often reports answer quality without jointly charging evidence cost and verifying temporal support. We evaluate Acc@QA, cost, IoP/IoU, and Acc@GQA under one evidence-selection protocol.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70" name="Rectangle 6"/>
          <p:cNvSpPr/>
          <p:nvPr/>
        </p:nvSpPr>
        <p:spPr>
          <a:xfrm>
            <a:off x="0" y="6602040"/>
            <a:ext cx="12190680" cy="254880"/>
          </a:xfrm>
          <a:prstGeom prst="rect">
            <a:avLst/>
          </a:prstGeom>
          <a:solidFill>
            <a:srgbClr val="e8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12190680" cy="565920"/>
          </a:xfrm>
          <a:prstGeom prst="rect">
            <a:avLst/>
          </a:prstGeom>
          <a:solidFill>
            <a:srgbClr val="2b5b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2" name="TextBox 2"/>
          <p:cNvSpPr/>
          <p:nvPr/>
        </p:nvSpPr>
        <p:spPr>
          <a:xfrm>
            <a:off x="347400" y="73080"/>
            <a:ext cx="98744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Task Formulation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10652760" y="82440"/>
            <a:ext cx="1096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5 / 16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4" name="Rectangle 4"/>
          <p:cNvSpPr/>
          <p:nvPr/>
        </p:nvSpPr>
        <p:spPr>
          <a:xfrm>
            <a:off x="685800" y="960120"/>
            <a:ext cx="5073840" cy="1233360"/>
          </a:xfrm>
          <a:prstGeom prst="rect">
            <a:avLst/>
          </a:prstGeom>
          <a:solidFill>
            <a:srgbClr val="e2edf9"/>
          </a:solidFill>
          <a:ln w="17780">
            <a:solidFill>
              <a:srgbClr val="2b5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2b5b8b"/>
                </a:solidFill>
                <a:latin typeface="Arial"/>
                <a:ea typeface="DejaVu Sans"/>
              </a:rPr>
              <a:t>Grounded VideoQA example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900" spc="-1" strike="noStrike">
                <a:solidFill>
                  <a:srgbClr val="121b2b"/>
                </a:solidFill>
                <a:latin typeface="Arial"/>
                <a:ea typeface="DejaVu Sans"/>
              </a:rPr>
              <a:t>x = (v, q, A, y, T)</a:t>
            </a:r>
            <a:endParaRPr b="0" lang="en-US" sz="19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900" spc="-1" strike="noStrike">
                <a:solidFill>
                  <a:srgbClr val="121b2b"/>
                </a:solidFill>
                <a:latin typeface="Arial"/>
                <a:ea typeface="DejaVu Sans"/>
              </a:rPr>
              <a:t>video, question, answer options, label, support span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75" name="Rectangle 5"/>
          <p:cNvSpPr/>
          <p:nvPr/>
        </p:nvSpPr>
        <p:spPr>
          <a:xfrm>
            <a:off x="6172200" y="960120"/>
            <a:ext cx="5073840" cy="1233360"/>
          </a:xfrm>
          <a:prstGeom prst="rect">
            <a:avLst/>
          </a:prstGeom>
          <a:solidFill>
            <a:srgbClr val="e0f1ec"/>
          </a:solidFill>
          <a:ln w="17780">
            <a:solidFill>
              <a:srgbClr val="37917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37917e"/>
                </a:solidFill>
                <a:latin typeface="Arial"/>
                <a:ea typeface="DejaVu Sans"/>
              </a:rPr>
              <a:t>Evidence pool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900" spc="-1" strike="noStrike">
                <a:solidFill>
                  <a:srgbClr val="121b2b"/>
                </a:solidFill>
                <a:latin typeface="Arial"/>
                <a:ea typeface="DejaVu Sans"/>
              </a:rPr>
              <a:t>E(x) = {e1, ..., eN}</a:t>
            </a:r>
            <a:endParaRPr b="0" lang="en-US" sz="19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900" spc="-1" strike="noStrike">
                <a:solidFill>
                  <a:srgbClr val="121b2b"/>
                </a:solidFill>
                <a:latin typeface="Arial"/>
                <a:ea typeface="DejaVu Sans"/>
              </a:rPr>
              <a:t>frames and short temporal segments with cost and interval metadata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76" name="Rectangle 6"/>
          <p:cNvSpPr/>
          <p:nvPr/>
        </p:nvSpPr>
        <p:spPr>
          <a:xfrm>
            <a:off x="685800" y="2743200"/>
            <a:ext cx="5073840" cy="1233360"/>
          </a:xfrm>
          <a:prstGeom prst="rect">
            <a:avLst/>
          </a:prstGeom>
          <a:solidFill>
            <a:srgbClr val="fcf5dd"/>
          </a:solidFill>
          <a:ln w="17780">
            <a:solidFill>
              <a:srgbClr val="b886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b88600"/>
                </a:solidFill>
                <a:latin typeface="Arial"/>
                <a:ea typeface="DejaVu Sans"/>
              </a:rPr>
              <a:t>Policy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121b2b"/>
                </a:solidFill>
                <a:latin typeface="Arial"/>
                <a:ea typeface="DejaVu Sans"/>
              </a:rPr>
              <a:t>Selects S subset E(x)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2200" spc="-1" strike="noStrike">
                <a:solidFill>
                  <a:srgbClr val="121b2b"/>
                </a:solidFill>
                <a:latin typeface="Arial"/>
                <a:ea typeface="DejaVu Sans"/>
              </a:rPr>
              <a:t>C(S) = sum_i c_i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77" name="Rectangle 7"/>
          <p:cNvSpPr/>
          <p:nvPr/>
        </p:nvSpPr>
        <p:spPr>
          <a:xfrm>
            <a:off x="6172200" y="2743200"/>
            <a:ext cx="5073840" cy="1233360"/>
          </a:xfrm>
          <a:prstGeom prst="rect">
            <a:avLst/>
          </a:prstGeom>
          <a:solidFill>
            <a:srgbClr val="e2edf9"/>
          </a:solidFill>
          <a:ln w="17780">
            <a:solidFill>
              <a:srgbClr val="2b5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2b5b8b"/>
                </a:solidFill>
                <a:latin typeface="Arial"/>
                <a:ea typeface="DejaVu Sans"/>
              </a:rPr>
              <a:t>Answerer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2000" spc="-1" strike="noStrike">
                <a:solidFill>
                  <a:srgbClr val="121b2b"/>
                </a:solidFill>
                <a:latin typeface="Arial"/>
                <a:ea typeface="DejaVu Sans"/>
              </a:rPr>
              <a:t>Predicts the answer from the question, answer options, and selected evidence only.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78" name="TextBox 8"/>
          <p:cNvSpPr/>
          <p:nvPr/>
        </p:nvSpPr>
        <p:spPr>
          <a:xfrm>
            <a:off x="868680" y="5257800"/>
            <a:ext cx="10423080" cy="72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900" spc="-1" strike="noStrike">
                <a:solidFill>
                  <a:srgbClr val="1b3a5f"/>
                </a:solidFill>
                <a:latin typeface="Arial"/>
                <a:ea typeface="DejaVu Sans"/>
              </a:rPr>
              <a:t>Optimization intuition: maximize answer accuracy and grounding while minimizing acquired evidence cost.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79" name="Rectangle 9"/>
          <p:cNvSpPr/>
          <p:nvPr/>
        </p:nvSpPr>
        <p:spPr>
          <a:xfrm>
            <a:off x="0" y="6602040"/>
            <a:ext cx="12190680" cy="254880"/>
          </a:xfrm>
          <a:prstGeom prst="rect">
            <a:avLst/>
          </a:prstGeom>
          <a:solidFill>
            <a:srgbClr val="e8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"/>
          <p:cNvSpPr/>
          <p:nvPr/>
        </p:nvSpPr>
        <p:spPr>
          <a:xfrm>
            <a:off x="0" y="0"/>
            <a:ext cx="12190680" cy="565920"/>
          </a:xfrm>
          <a:prstGeom prst="rect">
            <a:avLst/>
          </a:prstGeom>
          <a:solidFill>
            <a:srgbClr val="2b5b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1" name="TextBox 2"/>
          <p:cNvSpPr/>
          <p:nvPr/>
        </p:nvSpPr>
        <p:spPr>
          <a:xfrm>
            <a:off x="347400" y="73080"/>
            <a:ext cx="98744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Method: Adaptive Evidence Acquisition Pipeline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10652760" y="82440"/>
            <a:ext cx="1096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6 / 16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3" name="Rectangle 4"/>
          <p:cNvSpPr/>
          <p:nvPr/>
        </p:nvSpPr>
        <p:spPr>
          <a:xfrm>
            <a:off x="502920" y="1325880"/>
            <a:ext cx="2056320" cy="1324800"/>
          </a:xfrm>
          <a:prstGeom prst="rect">
            <a:avLst/>
          </a:prstGeom>
          <a:solidFill>
            <a:srgbClr val="e2edf9"/>
          </a:solidFill>
          <a:ln w="17780">
            <a:solidFill>
              <a:srgbClr val="2b5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2b5b8b"/>
                </a:solidFill>
                <a:latin typeface="Arial"/>
                <a:ea typeface="DejaVu Sans"/>
              </a:rPr>
              <a:t>Input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21b2b"/>
                </a:solidFill>
                <a:latin typeface="Arial"/>
                <a:ea typeface="DejaVu Sans"/>
              </a:rPr>
              <a:t>video + question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600" spc="-1" strike="noStrike">
                <a:solidFill>
                  <a:srgbClr val="121b2b"/>
                </a:solidFill>
                <a:latin typeface="Arial"/>
                <a:ea typeface="DejaVu Sans"/>
              </a:rPr>
              <a:t>answer options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84" name="TextBox 5"/>
          <p:cNvSpPr/>
          <p:nvPr/>
        </p:nvSpPr>
        <p:spPr>
          <a:xfrm>
            <a:off x="2578680" y="1783080"/>
            <a:ext cx="227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546478"/>
                </a:solidFill>
                <a:latin typeface="Arial"/>
                <a:ea typeface="DejaVu Sans"/>
              </a:rPr>
              <a:t>&gt;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5" name="Rectangle 6"/>
          <p:cNvSpPr/>
          <p:nvPr/>
        </p:nvSpPr>
        <p:spPr>
          <a:xfrm>
            <a:off x="2834640" y="1325880"/>
            <a:ext cx="2056320" cy="1324800"/>
          </a:xfrm>
          <a:prstGeom prst="rect">
            <a:avLst/>
          </a:prstGeom>
          <a:solidFill>
            <a:srgbClr val="e0f1ec"/>
          </a:solidFill>
          <a:ln w="17780">
            <a:solidFill>
              <a:srgbClr val="37917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37917e"/>
                </a:solidFill>
                <a:latin typeface="Arial"/>
                <a:ea typeface="DejaVu Sans"/>
              </a:rPr>
              <a:t>Candidate pool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21b2b"/>
                </a:solidFill>
                <a:latin typeface="Arial"/>
                <a:ea typeface="DejaVu Sans"/>
              </a:rPr>
              <a:t>keyframes + short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600" spc="-1" strike="noStrike">
                <a:solidFill>
                  <a:srgbClr val="121b2b"/>
                </a:solidFill>
                <a:latin typeface="Arial"/>
                <a:ea typeface="DejaVu Sans"/>
              </a:rPr>
              <a:t>temporal segments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86" name="TextBox 7"/>
          <p:cNvSpPr/>
          <p:nvPr/>
        </p:nvSpPr>
        <p:spPr>
          <a:xfrm>
            <a:off x="4910400" y="1783080"/>
            <a:ext cx="227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546478"/>
                </a:solidFill>
                <a:latin typeface="Arial"/>
                <a:ea typeface="DejaVu Sans"/>
              </a:rPr>
              <a:t>&gt;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7" name="Rectangle 8"/>
          <p:cNvSpPr/>
          <p:nvPr/>
        </p:nvSpPr>
        <p:spPr>
          <a:xfrm>
            <a:off x="5166360" y="1325880"/>
            <a:ext cx="2056320" cy="1324800"/>
          </a:xfrm>
          <a:prstGeom prst="rect">
            <a:avLst/>
          </a:prstGeom>
          <a:solidFill>
            <a:srgbClr val="fcf5dd"/>
          </a:solidFill>
          <a:ln w="17780">
            <a:solidFill>
              <a:srgbClr val="b886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b88600"/>
                </a:solidFill>
                <a:latin typeface="Arial"/>
                <a:ea typeface="DejaVu Sans"/>
              </a:rPr>
              <a:t>Evidence router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21b2b"/>
                </a:solidFill>
                <a:latin typeface="Arial"/>
                <a:ea typeface="DejaVu Sans"/>
              </a:rPr>
              <a:t>MLP+NMS selects compact,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600" spc="-1" strike="noStrike">
                <a:solidFill>
                  <a:srgbClr val="121b2b"/>
                </a:solidFill>
                <a:latin typeface="Arial"/>
                <a:ea typeface="DejaVu Sans"/>
              </a:rPr>
              <a:t>diverse evidence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88" name="TextBox 9"/>
          <p:cNvSpPr/>
          <p:nvPr/>
        </p:nvSpPr>
        <p:spPr>
          <a:xfrm>
            <a:off x="7242120" y="1783080"/>
            <a:ext cx="227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546478"/>
                </a:solidFill>
                <a:latin typeface="Arial"/>
                <a:ea typeface="DejaVu Sans"/>
              </a:rPr>
              <a:t>&gt;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9" name="Rectangle 10"/>
          <p:cNvSpPr/>
          <p:nvPr/>
        </p:nvSpPr>
        <p:spPr>
          <a:xfrm>
            <a:off x="7498080" y="1325880"/>
            <a:ext cx="2056320" cy="1324800"/>
          </a:xfrm>
          <a:prstGeom prst="rect">
            <a:avLst/>
          </a:prstGeom>
          <a:solidFill>
            <a:srgbClr val="e2edf9"/>
          </a:solidFill>
          <a:ln w="17780">
            <a:solidFill>
              <a:srgbClr val="2b5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2b5b8b"/>
                </a:solidFill>
                <a:latin typeface="Arial"/>
                <a:ea typeface="DejaVu Sans"/>
              </a:rPr>
              <a:t>Qwen answerer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21b2b"/>
                </a:solidFill>
                <a:latin typeface="Arial"/>
                <a:ea typeface="DejaVu Sans"/>
              </a:rPr>
              <a:t>predicts answer using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600" spc="-1" strike="noStrike">
                <a:solidFill>
                  <a:srgbClr val="121b2b"/>
                </a:solidFill>
                <a:latin typeface="Arial"/>
                <a:ea typeface="DejaVu Sans"/>
              </a:rPr>
              <a:t>selected evidence only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0" name="TextBox 11"/>
          <p:cNvSpPr/>
          <p:nvPr/>
        </p:nvSpPr>
        <p:spPr>
          <a:xfrm>
            <a:off x="9573840" y="1783080"/>
            <a:ext cx="227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546478"/>
                </a:solidFill>
                <a:latin typeface="Arial"/>
                <a:ea typeface="DejaVu Sans"/>
              </a:rPr>
              <a:t>&gt;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1" name="Rectangle 12"/>
          <p:cNvSpPr/>
          <p:nvPr/>
        </p:nvSpPr>
        <p:spPr>
          <a:xfrm>
            <a:off x="9829800" y="1325880"/>
            <a:ext cx="2056320" cy="1324800"/>
          </a:xfrm>
          <a:prstGeom prst="rect">
            <a:avLst/>
          </a:prstGeom>
          <a:solidFill>
            <a:srgbClr val="e0f1ec"/>
          </a:solidFill>
          <a:ln w="17780">
            <a:solidFill>
              <a:srgbClr val="37917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37917e"/>
                </a:solidFill>
                <a:latin typeface="Arial"/>
                <a:ea typeface="DejaVu Sans"/>
              </a:rPr>
              <a:t>Evaluation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121b2b"/>
                </a:solidFill>
                <a:latin typeface="Arial"/>
                <a:ea typeface="DejaVu Sans"/>
              </a:rPr>
              <a:t>Acc@QA + cost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600" spc="-1" strike="noStrike">
                <a:solidFill>
                  <a:srgbClr val="121b2b"/>
                </a:solidFill>
                <a:latin typeface="Arial"/>
                <a:ea typeface="DejaVu Sans"/>
              </a:rPr>
              <a:t>+ IoP/IoU + Acc@GQA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2" name="Rectangle 13"/>
          <p:cNvSpPr/>
          <p:nvPr/>
        </p:nvSpPr>
        <p:spPr>
          <a:xfrm>
            <a:off x="731520" y="3611880"/>
            <a:ext cx="5165280" cy="1416240"/>
          </a:xfrm>
          <a:prstGeom prst="rect">
            <a:avLst/>
          </a:prstGeom>
          <a:solidFill>
            <a:srgbClr val="e0f1ec"/>
          </a:solidFill>
          <a:ln w="17780">
            <a:solidFill>
              <a:srgbClr val="37917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37917e"/>
                </a:solidFill>
                <a:latin typeface="Arial"/>
                <a:ea typeface="DejaVu Sans"/>
              </a:rPr>
              <a:t>Controlled answerer swap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600" spc="-1" strike="noStrike">
                <a:solidFill>
                  <a:srgbClr val="121b2b"/>
                </a:solidFill>
                <a:latin typeface="Arial"/>
                <a:ea typeface="DejaVu Sans"/>
              </a:rPr>
              <a:t>Keep selected evidence fixed, then swap only the answerer. This separates routing quality from visual reasoning quality.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3" name="Rectangle 14"/>
          <p:cNvSpPr/>
          <p:nvPr/>
        </p:nvSpPr>
        <p:spPr>
          <a:xfrm>
            <a:off x="6263640" y="3611880"/>
            <a:ext cx="5165280" cy="1416240"/>
          </a:xfrm>
          <a:prstGeom prst="rect">
            <a:avLst/>
          </a:prstGeom>
          <a:solidFill>
            <a:srgbClr val="e2edf9"/>
          </a:solidFill>
          <a:ln w="17780">
            <a:solidFill>
              <a:srgbClr val="2b5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2b5b8b"/>
                </a:solidFill>
                <a:latin typeface="Arial"/>
                <a:ea typeface="DejaVu Sans"/>
              </a:rPr>
              <a:t>What is trained?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600" spc="-1" strike="noStrike">
                <a:solidFill>
                  <a:srgbClr val="121b2b"/>
                </a:solidFill>
                <a:latin typeface="Arial"/>
                <a:ea typeface="DejaVu Sans"/>
              </a:rPr>
              <a:t>The proposed router is a lightweight MLP candidate scorer with temporal NMS. Qwen is not trained.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4" name="TextBox 15"/>
          <p:cNvSpPr/>
          <p:nvPr/>
        </p:nvSpPr>
        <p:spPr>
          <a:xfrm>
            <a:off x="822960" y="5440680"/>
            <a:ext cx="104230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b3a5f"/>
                </a:solidFill>
                <a:latin typeface="Arial"/>
                <a:ea typeface="DejaVu Sans"/>
              </a:rPr>
              <a:t>This keeps the research question focused on evidence acquisition rather than full VLM fine-tuning.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5" name="Rectangle 16"/>
          <p:cNvSpPr/>
          <p:nvPr/>
        </p:nvSpPr>
        <p:spPr>
          <a:xfrm>
            <a:off x="0" y="6602040"/>
            <a:ext cx="12190680" cy="254880"/>
          </a:xfrm>
          <a:prstGeom prst="rect">
            <a:avLst/>
          </a:prstGeom>
          <a:solidFill>
            <a:srgbClr val="e8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/>
          <p:nvPr/>
        </p:nvSpPr>
        <p:spPr>
          <a:xfrm>
            <a:off x="0" y="0"/>
            <a:ext cx="12190680" cy="565920"/>
          </a:xfrm>
          <a:prstGeom prst="rect">
            <a:avLst/>
          </a:prstGeom>
          <a:solidFill>
            <a:srgbClr val="2b5b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7" name="TextBox 2"/>
          <p:cNvSpPr/>
          <p:nvPr/>
        </p:nvSpPr>
        <p:spPr>
          <a:xfrm>
            <a:off x="347400" y="73080"/>
            <a:ext cx="98744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Evidence Policies and Cost Ladder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10652760" y="82440"/>
            <a:ext cx="1096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7 / 16</a:t>
            </a:r>
            <a:endParaRPr b="0" lang="en-US" sz="1800" spc="-1" strike="noStrike">
              <a:latin typeface="Arial"/>
            </a:endParaRPr>
          </a:p>
        </p:txBody>
      </p:sp>
      <p:graphicFrame>
        <p:nvGraphicFramePr>
          <p:cNvPr id="99" name="Table 4"/>
          <p:cNvGraphicFramePr/>
          <p:nvPr/>
        </p:nvGraphicFramePr>
        <p:xfrm>
          <a:off x="457200" y="868680"/>
          <a:ext cx="11292120" cy="4479840"/>
        </p:xfrm>
        <a:graphic>
          <a:graphicData uri="http://schemas.openxmlformats.org/drawingml/2006/table">
            <a:tbl>
              <a:tblPr/>
              <a:tblGrid>
                <a:gridCol w="2103120"/>
                <a:gridCol w="3474720"/>
                <a:gridCol w="914400"/>
                <a:gridCol w="1051560"/>
                <a:gridCol w="3748680"/>
              </a:tblGrid>
              <a:tr h="5598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Policy</a:t>
                      </a:r>
                      <a:endParaRPr b="0" lang="en-US" sz="145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2b5b8b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4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Selection rule</a:t>
                      </a:r>
                      <a:endParaRPr b="0" lang="en-US" sz="145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2b5b8b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4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Count</a:t>
                      </a:r>
                      <a:endParaRPr b="0" lang="en-US" sz="145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2b5b8b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4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Cost</a:t>
                      </a:r>
                      <a:endParaRPr b="0" lang="en-US" sz="145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2b5b8b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4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  <a:endParaRPr b="0" lang="en-US" sz="145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2b5b8b"/>
                    </a:solidFill>
                  </a:tcPr>
                </a:tc>
              </a:tr>
              <a:tr h="5598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One segment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top segment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1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1.500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low-cost control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98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Linear policy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oracle-trace imitation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2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2.795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compact baseline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5598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MLP top-2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candidate MLP scores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2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3.000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router ablation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98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MLP+NMS (Our)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e0f1ec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MLP + temporal diversity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e0f1ec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2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e0f1ec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2.935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e0f1ec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proposed selector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e0f1ec"/>
                    </a:solidFill>
                  </a:tcPr>
                </a:tc>
              </a:tr>
              <a:tr h="5598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Temporal-supervised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overlap-label MLP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2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2.273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diagnostic router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98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Oracle top-2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ground-truth IoP from pool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2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2.493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headroom reference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56160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Fixed 3+3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3 frames + 3 segments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6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7.500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7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coverage reference</a:t>
                      </a:r>
                      <a:endParaRPr b="0" lang="en-US" sz="127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" name="TextBox 5"/>
          <p:cNvSpPr/>
          <p:nvPr/>
        </p:nvSpPr>
        <p:spPr>
          <a:xfrm>
            <a:off x="685800" y="5623560"/>
            <a:ext cx="10788840" cy="66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1b3a5f"/>
                </a:solidFill>
                <a:latin typeface="Arial"/>
                <a:ea typeface="DejaVu Sans"/>
              </a:rPr>
              <a:t>Temporal-supervised, oracle, and fixed 3+3 rows are diagnostic/reference rows, not the proposed method.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01" name="Rectangle 6"/>
          <p:cNvSpPr/>
          <p:nvPr/>
        </p:nvSpPr>
        <p:spPr>
          <a:xfrm>
            <a:off x="0" y="6602040"/>
            <a:ext cx="12190680" cy="254880"/>
          </a:xfrm>
          <a:prstGeom prst="rect">
            <a:avLst/>
          </a:prstGeom>
          <a:solidFill>
            <a:srgbClr val="e8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12190680" cy="565920"/>
          </a:xfrm>
          <a:prstGeom prst="rect">
            <a:avLst/>
          </a:prstGeom>
          <a:solidFill>
            <a:srgbClr val="2b5b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3" name="TextBox 2"/>
          <p:cNvSpPr/>
          <p:nvPr/>
        </p:nvSpPr>
        <p:spPr>
          <a:xfrm>
            <a:off x="347400" y="73080"/>
            <a:ext cx="98744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Experimental Setup and Metrics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10652760" y="82440"/>
            <a:ext cx="1096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8 / 16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5" name="Rectangle 4"/>
          <p:cNvSpPr/>
          <p:nvPr/>
        </p:nvSpPr>
        <p:spPr>
          <a:xfrm>
            <a:off x="594360" y="914400"/>
            <a:ext cx="3336480" cy="1233360"/>
          </a:xfrm>
          <a:prstGeom prst="rect">
            <a:avLst/>
          </a:prstGeom>
          <a:solidFill>
            <a:srgbClr val="e2edf9"/>
          </a:solidFill>
          <a:ln w="17780">
            <a:solidFill>
              <a:srgbClr val="2b5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2b5b8b"/>
                </a:solidFill>
                <a:latin typeface="Arial"/>
                <a:ea typeface="DejaVu Sans"/>
              </a:rPr>
              <a:t>Dataset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121b2b"/>
                </a:solidFill>
                <a:latin typeface="Arial"/>
                <a:ea typeface="DejaVu Sans"/>
              </a:rPr>
              <a:t>NExT-GQA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121b2b"/>
                </a:solidFill>
                <a:latin typeface="Arial"/>
                <a:ea typeface="DejaVu Sans"/>
              </a:rPr>
              <a:t>Validation: 3,358 examples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121b2b"/>
                </a:solidFill>
                <a:latin typeface="Arial"/>
                <a:ea typeface="DejaVu Sans"/>
              </a:rPr>
              <a:t>Test: 5,553 examples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6" name="Rectangle 5"/>
          <p:cNvSpPr/>
          <p:nvPr/>
        </p:nvSpPr>
        <p:spPr>
          <a:xfrm>
            <a:off x="4434840" y="914400"/>
            <a:ext cx="3336480" cy="1233360"/>
          </a:xfrm>
          <a:prstGeom prst="rect">
            <a:avLst/>
          </a:prstGeom>
          <a:solidFill>
            <a:srgbClr val="e0f1ec"/>
          </a:solidFill>
          <a:ln w="17780">
            <a:solidFill>
              <a:srgbClr val="37917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37917e"/>
                </a:solidFill>
                <a:latin typeface="Arial"/>
                <a:ea typeface="DejaVu Sans"/>
              </a:rPr>
              <a:t>Answerers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121b2b"/>
                </a:solidFill>
                <a:latin typeface="Arial"/>
                <a:ea typeface="DejaVu Sans"/>
              </a:rPr>
              <a:t>Frozen CLIP-style scorer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121b2b"/>
                </a:solidFill>
                <a:latin typeface="Arial"/>
                <a:ea typeface="DejaVu Sans"/>
              </a:rPr>
              <a:t>Qwen2.5-VL-3B-Instruct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7" name="Rectangle 6"/>
          <p:cNvSpPr/>
          <p:nvPr/>
        </p:nvSpPr>
        <p:spPr>
          <a:xfrm>
            <a:off x="8275320" y="914400"/>
            <a:ext cx="3336480" cy="1233360"/>
          </a:xfrm>
          <a:prstGeom prst="rect">
            <a:avLst/>
          </a:prstGeom>
          <a:solidFill>
            <a:srgbClr val="fcf5dd"/>
          </a:solidFill>
          <a:ln w="17780">
            <a:solidFill>
              <a:srgbClr val="b886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b88600"/>
                </a:solidFill>
                <a:latin typeface="Arial"/>
                <a:ea typeface="DejaVu Sans"/>
              </a:rPr>
              <a:t>Protocol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121b2b"/>
                </a:solidFill>
                <a:latin typeface="Arial"/>
                <a:ea typeface="DejaVu Sans"/>
              </a:rPr>
              <a:t>Same selected evidence</a:t>
            </a:r>
            <a:endParaRPr b="0" lang="en-US" sz="17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121b2b"/>
                </a:solidFill>
                <a:latin typeface="Arial"/>
                <a:ea typeface="DejaVu Sans"/>
              </a:rPr>
              <a:t>Swap only final answerer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700" spc="-1" strike="noStrike">
                <a:solidFill>
                  <a:srgbClr val="121b2b"/>
                </a:solidFill>
                <a:latin typeface="Arial"/>
                <a:ea typeface="DejaVu Sans"/>
              </a:rPr>
              <a:t>Deterministic Qwen decoding</a:t>
            </a:r>
            <a:endParaRPr b="0" lang="en-US" sz="1700" spc="-1" strike="noStrike">
              <a:latin typeface="Arial"/>
            </a:endParaRPr>
          </a:p>
        </p:txBody>
      </p:sp>
      <p:graphicFrame>
        <p:nvGraphicFramePr>
          <p:cNvPr id="108" name="Table 7"/>
          <p:cNvGraphicFramePr/>
          <p:nvPr/>
        </p:nvGraphicFramePr>
        <p:xfrm>
          <a:off x="685800" y="2560320"/>
          <a:ext cx="10834920" cy="2513880"/>
        </p:xfrm>
        <a:graphic>
          <a:graphicData uri="http://schemas.openxmlformats.org/drawingml/2006/table">
            <a:tbl>
              <a:tblPr/>
              <a:tblGrid>
                <a:gridCol w="2651760"/>
                <a:gridCol w="8183520"/>
              </a:tblGrid>
              <a:tr h="4190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2b5b8b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2b5b8b"/>
                    </a:solidFill>
                  </a:tcPr>
                </a:tc>
              </a:tr>
              <a:tr h="4190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5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Acc@QA</a:t>
                      </a:r>
                      <a:endParaRPr b="0" lang="en-US" sz="135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35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Whether the answer letter is correct</a:t>
                      </a:r>
                      <a:endParaRPr b="0" lang="en-US" sz="135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90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5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Cost / Count</a:t>
                      </a:r>
                      <a:endParaRPr b="0" lang="en-US" sz="135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35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Amount and number of acquired evidence items</a:t>
                      </a:r>
                      <a:endParaRPr b="0" lang="en-US" sz="135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4190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5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mIoP, IoP@0.5</a:t>
                      </a:r>
                      <a:endParaRPr b="0" lang="en-US" sz="135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35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Selected evidence is inside the support span</a:t>
                      </a:r>
                      <a:endParaRPr b="0" lang="en-US" sz="135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90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5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mIoU, IoU@0.5</a:t>
                      </a:r>
                      <a:endParaRPr b="0" lang="en-US" sz="135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35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Stricter temporal overlap with support span</a:t>
                      </a:r>
                      <a:endParaRPr b="0" lang="en-US" sz="135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4190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5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Acc@GQA</a:t>
                      </a:r>
                      <a:endParaRPr b="0" lang="en-US" sz="135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35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Correct answer and IoP@0.5 grounding success</a:t>
                      </a:r>
                      <a:endParaRPr b="0" lang="en-US" sz="135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9" name="TextBox 8"/>
          <p:cNvSpPr/>
          <p:nvPr/>
        </p:nvSpPr>
        <p:spPr>
          <a:xfrm>
            <a:off x="914400" y="5486400"/>
            <a:ext cx="10331640" cy="66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1b3a5f"/>
                </a:solidFill>
                <a:latin typeface="Arial"/>
                <a:ea typeface="DejaVu Sans"/>
              </a:rPr>
              <a:t>Grounded answer accuracy is stricter than answer accuracy because it gates correctness by temporal support.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10" name="Rectangle 9"/>
          <p:cNvSpPr/>
          <p:nvPr/>
        </p:nvSpPr>
        <p:spPr>
          <a:xfrm>
            <a:off x="0" y="6602040"/>
            <a:ext cx="12190680" cy="254880"/>
          </a:xfrm>
          <a:prstGeom prst="rect">
            <a:avLst/>
          </a:prstGeom>
          <a:solidFill>
            <a:srgbClr val="e8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0" y="0"/>
            <a:ext cx="12190680" cy="565920"/>
          </a:xfrm>
          <a:prstGeom prst="rect">
            <a:avLst/>
          </a:prstGeom>
          <a:solidFill>
            <a:srgbClr val="2b5b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2" name="TextBox 2"/>
          <p:cNvSpPr/>
          <p:nvPr/>
        </p:nvSpPr>
        <p:spPr>
          <a:xfrm>
            <a:off x="347400" y="73080"/>
            <a:ext cx="98744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Main Comparison: Answer Accuracy Is Not Grounding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13" name="TextBox 3"/>
          <p:cNvSpPr/>
          <p:nvPr/>
        </p:nvSpPr>
        <p:spPr>
          <a:xfrm>
            <a:off x="10652760" y="82440"/>
            <a:ext cx="1096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9 / 16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14" name="Picture 4" descr="main_comparison.png"/>
          <p:cNvPicPr/>
          <p:nvPr/>
        </p:nvPicPr>
        <p:blipFill>
          <a:blip r:embed="rId1"/>
          <a:stretch/>
        </p:blipFill>
        <p:spPr>
          <a:xfrm>
            <a:off x="594360" y="822960"/>
            <a:ext cx="11017440" cy="3885120"/>
          </a:xfrm>
          <a:prstGeom prst="rect">
            <a:avLst/>
          </a:prstGeom>
          <a:ln w="0">
            <a:noFill/>
          </a:ln>
        </p:spPr>
      </p:pic>
      <p:sp>
        <p:nvSpPr>
          <p:cNvPr id="115" name="Rectangle 8"/>
          <p:cNvSpPr/>
          <p:nvPr/>
        </p:nvSpPr>
        <p:spPr>
          <a:xfrm>
            <a:off x="0" y="6602040"/>
            <a:ext cx="12190680" cy="254880"/>
          </a:xfrm>
          <a:prstGeom prst="rect">
            <a:avLst/>
          </a:prstGeom>
          <a:solidFill>
            <a:srgbClr val="e8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6" name="Rectangle 118"/>
          <p:cNvSpPr/>
          <p:nvPr/>
        </p:nvSpPr>
        <p:spPr>
          <a:xfrm>
            <a:off x="594360" y="4736520"/>
            <a:ext cx="3474000" cy="1370880"/>
          </a:xfrm>
          <a:prstGeom prst="rect">
            <a:avLst/>
          </a:prstGeom>
          <a:solidFill>
            <a:srgbClr val="e2edf9"/>
          </a:solidFill>
          <a:ln w="16510">
            <a:solidFill>
              <a:srgbClr val="2b5b8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7" name="TextBox 119"/>
          <p:cNvSpPr/>
          <p:nvPr/>
        </p:nvSpPr>
        <p:spPr>
          <a:xfrm>
            <a:off x="704160" y="4837320"/>
            <a:ext cx="3254400" cy="2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9000" bIns="9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b5b8b"/>
                </a:solidFill>
                <a:latin typeface="Arial"/>
                <a:ea typeface="DejaVu Sans"/>
              </a:rPr>
              <a:t>Protocol context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8" name="TextBox 120"/>
          <p:cNvSpPr/>
          <p:nvPr/>
        </p:nvSpPr>
        <p:spPr>
          <a:xfrm>
            <a:off x="758880" y="5212080"/>
            <a:ext cx="31449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9000" bIns="9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60" spc="-1" strike="noStrike">
                <a:solidFill>
                  <a:srgbClr val="121b2b"/>
                </a:solidFill>
                <a:latin typeface="Arial"/>
                <a:ea typeface="DejaVu Sans"/>
              </a:rPr>
              <a:t>Prior rows use official NExT-GQA metrics. Our grounding uses selected-evidence best overlap.</a:t>
            </a:r>
            <a:endParaRPr b="0" lang="en-US" sz="1160" spc="-1" strike="noStrike">
              <a:latin typeface="Arial"/>
            </a:endParaRPr>
          </a:p>
        </p:txBody>
      </p:sp>
      <p:sp>
        <p:nvSpPr>
          <p:cNvPr id="119" name="Rectangle 121"/>
          <p:cNvSpPr/>
          <p:nvPr/>
        </p:nvSpPr>
        <p:spPr>
          <a:xfrm>
            <a:off x="4343400" y="4736520"/>
            <a:ext cx="3474000" cy="1370880"/>
          </a:xfrm>
          <a:prstGeom prst="rect">
            <a:avLst/>
          </a:prstGeom>
          <a:solidFill>
            <a:srgbClr val="e0f1ec"/>
          </a:solidFill>
          <a:ln w="16510">
            <a:solidFill>
              <a:srgbClr val="37917e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0" name="TextBox 122"/>
          <p:cNvSpPr/>
          <p:nvPr/>
        </p:nvSpPr>
        <p:spPr>
          <a:xfrm>
            <a:off x="4453200" y="4837320"/>
            <a:ext cx="3254400" cy="2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9000" bIns="9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7917e"/>
                </a:solidFill>
                <a:latin typeface="Arial"/>
                <a:ea typeface="DejaVu Sans"/>
              </a:rPr>
              <a:t>Proposed point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1" name="TextBox 123"/>
          <p:cNvSpPr/>
          <p:nvPr/>
        </p:nvSpPr>
        <p:spPr>
          <a:xfrm>
            <a:off x="4507920" y="5212080"/>
            <a:ext cx="3144960" cy="3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9000" bIns="9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60" spc="-1" strike="noStrike">
                <a:solidFill>
                  <a:srgbClr val="121b2b"/>
                </a:solidFill>
                <a:latin typeface="Arial"/>
                <a:ea typeface="DejaVu Sans"/>
              </a:rPr>
              <a:t>Qwen MLP+NMS: 0.689 Acc@QA, 0.321 Acc@GQA, cost 2.935.</a:t>
            </a:r>
            <a:endParaRPr b="0" lang="en-US" sz="1160" spc="-1" strike="noStrike">
              <a:latin typeface="Arial"/>
            </a:endParaRPr>
          </a:p>
        </p:txBody>
      </p:sp>
      <p:sp>
        <p:nvSpPr>
          <p:cNvPr id="122" name="Rectangle 124"/>
          <p:cNvSpPr/>
          <p:nvPr/>
        </p:nvSpPr>
        <p:spPr>
          <a:xfrm>
            <a:off x="8092440" y="4736520"/>
            <a:ext cx="3474000" cy="1370880"/>
          </a:xfrm>
          <a:prstGeom prst="rect">
            <a:avLst/>
          </a:prstGeom>
          <a:solidFill>
            <a:srgbClr val="fcf5dd"/>
          </a:solidFill>
          <a:ln w="16510">
            <a:solidFill>
              <a:srgbClr val="b88600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3" name="TextBox 125"/>
          <p:cNvSpPr/>
          <p:nvPr/>
        </p:nvSpPr>
        <p:spPr>
          <a:xfrm>
            <a:off x="8202240" y="4837320"/>
            <a:ext cx="3254400" cy="2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9000" bIns="9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b88600"/>
                </a:solidFill>
                <a:latin typeface="Arial"/>
                <a:ea typeface="DejaVu Sans"/>
              </a:rPr>
              <a:t>References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4" name="TextBox 126"/>
          <p:cNvSpPr/>
          <p:nvPr/>
        </p:nvSpPr>
        <p:spPr>
          <a:xfrm>
            <a:off x="8256960" y="5212080"/>
            <a:ext cx="3144960" cy="3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9000" bIns="9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60" spc="-1" strike="noStrike">
                <a:solidFill>
                  <a:srgbClr val="121b2b"/>
                </a:solidFill>
                <a:latin typeface="Arial"/>
                <a:ea typeface="DejaVu Sans"/>
              </a:rPr>
              <a:t>Oracle top-2: 0.442 Acc@GQA. Fixed 3+3: 0.454 Acc@GQA.</a:t>
            </a:r>
            <a:endParaRPr b="0" lang="en-US" sz="116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"/>
          <p:cNvSpPr/>
          <p:nvPr/>
        </p:nvSpPr>
        <p:spPr>
          <a:xfrm>
            <a:off x="0" y="0"/>
            <a:ext cx="12190680" cy="565920"/>
          </a:xfrm>
          <a:prstGeom prst="rect">
            <a:avLst/>
          </a:prstGeom>
          <a:solidFill>
            <a:srgbClr val="2b5b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6" name="TextBox 2"/>
          <p:cNvSpPr/>
          <p:nvPr/>
        </p:nvSpPr>
        <p:spPr>
          <a:xfrm>
            <a:off x="347400" y="73080"/>
            <a:ext cx="98744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Result 1: Frozen Answerer Is the Bottleneck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27" name="TextBox 3"/>
          <p:cNvSpPr/>
          <p:nvPr/>
        </p:nvSpPr>
        <p:spPr>
          <a:xfrm>
            <a:off x="10652760" y="82440"/>
            <a:ext cx="1096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10 / 16</a:t>
            </a:r>
            <a:endParaRPr b="0" lang="en-US" sz="1800" spc="-1" strike="noStrike">
              <a:latin typeface="Arial"/>
            </a:endParaRPr>
          </a:p>
        </p:txBody>
      </p:sp>
      <p:graphicFrame>
        <p:nvGraphicFramePr>
          <p:cNvPr id="128" name="Table 4"/>
          <p:cNvGraphicFramePr/>
          <p:nvPr/>
        </p:nvGraphicFramePr>
        <p:xfrm>
          <a:off x="685800" y="960120"/>
          <a:ext cx="10834920" cy="2742840"/>
        </p:xfrm>
        <a:graphic>
          <a:graphicData uri="http://schemas.openxmlformats.org/drawingml/2006/table">
            <a:tbl>
              <a:tblPr/>
              <a:tblGrid>
                <a:gridCol w="3383280"/>
                <a:gridCol w="1874160"/>
                <a:gridCol w="1554480"/>
                <a:gridCol w="1920240"/>
                <a:gridCol w="2103120"/>
              </a:tblGrid>
              <a:tr h="5486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5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  <a:endParaRPr b="0" lang="en-US" sz="155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2b5b8b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5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Acc@QA</a:t>
                      </a:r>
                      <a:endParaRPr b="0" lang="en-US" sz="155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2b5b8b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5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Cost</a:t>
                      </a:r>
                      <a:endParaRPr b="0" lang="en-US" sz="155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2b5b8b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5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IoP@0.5</a:t>
                      </a:r>
                      <a:endParaRPr b="0" lang="en-US" sz="155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2b5b8b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5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Acc@GQA</a:t>
                      </a:r>
                      <a:endParaRPr b="0" lang="en-US" sz="155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2b5b8b"/>
                    </a:solidFill>
                  </a:tcPr>
                </a:tc>
              </a:tr>
              <a:tr h="5486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One segment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0.378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1.500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0.311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0.124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Linear policy, two items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0.381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2.795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0.410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0.164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Fixed 3 frames + 3 segments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0.388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7.500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0.615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0.245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Fixed 6 frames + 6 segments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0.394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14.908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0.787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0.316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29" name="Rectangle 5"/>
          <p:cNvSpPr/>
          <p:nvPr/>
        </p:nvSpPr>
        <p:spPr>
          <a:xfrm>
            <a:off x="822960" y="4297680"/>
            <a:ext cx="4936680" cy="1141920"/>
          </a:xfrm>
          <a:prstGeom prst="rect">
            <a:avLst/>
          </a:prstGeom>
          <a:solidFill>
            <a:srgbClr val="e2edf9"/>
          </a:solidFill>
          <a:ln w="17780">
            <a:solidFill>
              <a:srgbClr val="2b5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2b5b8b"/>
                </a:solidFill>
                <a:latin typeface="Arial"/>
                <a:ea typeface="DejaVu Sans"/>
              </a:rPr>
              <a:t>Observation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121b2b"/>
                </a:solidFill>
                <a:latin typeface="Arial"/>
                <a:ea typeface="DejaVu Sans"/>
              </a:rPr>
              <a:t>Temporal coverage improves as evidence budget increases, but answer accuracy remains near 0.38-0.39.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0" name="Rectangle 6"/>
          <p:cNvSpPr/>
          <p:nvPr/>
        </p:nvSpPr>
        <p:spPr>
          <a:xfrm>
            <a:off x="6263640" y="4297680"/>
            <a:ext cx="4936680" cy="1141920"/>
          </a:xfrm>
          <a:prstGeom prst="rect">
            <a:avLst/>
          </a:prstGeom>
          <a:solidFill>
            <a:srgbClr val="fcf5dd"/>
          </a:solidFill>
          <a:ln w="17780">
            <a:solidFill>
              <a:srgbClr val="b886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b88600"/>
                </a:solidFill>
                <a:latin typeface="Arial"/>
                <a:ea typeface="DejaVu Sans"/>
              </a:rPr>
              <a:t>Conclusion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121b2b"/>
                </a:solidFill>
                <a:latin typeface="Arial"/>
                <a:ea typeface="DejaVu Sans"/>
              </a:rPr>
              <a:t>A weak answerer can hide evidence-selection improvements in the answer metric.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1" name="Rectangle 7"/>
          <p:cNvSpPr/>
          <p:nvPr/>
        </p:nvSpPr>
        <p:spPr>
          <a:xfrm>
            <a:off x="0" y="6602040"/>
            <a:ext cx="12190680" cy="254880"/>
          </a:xfrm>
          <a:prstGeom prst="rect">
            <a:avLst/>
          </a:prstGeom>
          <a:solidFill>
            <a:srgbClr val="e8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0" y="0"/>
            <a:ext cx="12190680" cy="565920"/>
          </a:xfrm>
          <a:prstGeom prst="rect">
            <a:avLst/>
          </a:prstGeom>
          <a:solidFill>
            <a:srgbClr val="2b5b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3" name="TextBox 2"/>
          <p:cNvSpPr/>
          <p:nvPr/>
        </p:nvSpPr>
        <p:spPr>
          <a:xfrm>
            <a:off x="347400" y="73080"/>
            <a:ext cx="98744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Result 2: Qwen Reveals the Selector Tradeoff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34" name="TextBox 3"/>
          <p:cNvSpPr/>
          <p:nvPr/>
        </p:nvSpPr>
        <p:spPr>
          <a:xfrm>
            <a:off x="10652760" y="82440"/>
            <a:ext cx="1096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11 / 16</a:t>
            </a:r>
            <a:endParaRPr b="0" lang="en-US" sz="1800" spc="-1" strike="noStrike">
              <a:latin typeface="Arial"/>
            </a:endParaRPr>
          </a:p>
        </p:txBody>
      </p:sp>
      <p:graphicFrame>
        <p:nvGraphicFramePr>
          <p:cNvPr id="135" name="Table 4"/>
          <p:cNvGraphicFramePr/>
          <p:nvPr/>
        </p:nvGraphicFramePr>
        <p:xfrm>
          <a:off x="411480" y="868680"/>
          <a:ext cx="11383920" cy="4799880"/>
        </p:xfrm>
        <a:graphic>
          <a:graphicData uri="http://schemas.openxmlformats.org/drawingml/2006/table">
            <a:tbl>
              <a:tblPr/>
              <a:tblGrid>
                <a:gridCol w="3657600"/>
                <a:gridCol w="1463040"/>
                <a:gridCol w="1325880"/>
                <a:gridCol w="1600200"/>
                <a:gridCol w="1325880"/>
                <a:gridCol w="2011680"/>
              </a:tblGrid>
              <a:tr h="59976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  <a:endParaRPr b="0" lang="en-US" sz="145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2b5b8b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4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Acc@QA</a:t>
                      </a:r>
                      <a:endParaRPr b="0" lang="en-US" sz="145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2b5b8b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4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Cost</a:t>
                      </a:r>
                      <a:endParaRPr b="0" lang="en-US" sz="145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2b5b8b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4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IoP@0.5</a:t>
                      </a:r>
                      <a:endParaRPr b="0" lang="en-US" sz="145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2b5b8b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4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mIoU</a:t>
                      </a:r>
                      <a:endParaRPr b="0" lang="en-US" sz="145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2b5b8b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4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Acc@GQA</a:t>
                      </a:r>
                      <a:endParaRPr b="0" lang="en-US" sz="145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2b5b8b"/>
                    </a:solidFill>
                  </a:tcPr>
                </a:tc>
              </a:tr>
              <a:tr h="59976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One segment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0.668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1.500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0.311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0.165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0.221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976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Linear policy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0.696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2.795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0.410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0.206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0.297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59976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MLP top-2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0.687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3.000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0.423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0.238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0.301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976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MLP+NMS (Our)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e0f1ec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0.689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e0f1ec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2.935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e0f1ec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0.453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e0f1ec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0.246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e0f1ec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0.321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e0f1ec"/>
                    </a:solidFill>
                  </a:tcPr>
                </a:tc>
              </a:tr>
              <a:tr h="59976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Temporal-supervised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0.696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2.273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0.432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0.088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0.312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976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Oracle top-2 ref.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0.701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2.493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0.615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0.224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0.442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60192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Fixed 3+3 ref.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0.724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7.500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0.615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0.296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6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0.454</a:t>
                      </a:r>
                      <a:endParaRPr b="0" lang="en-US" sz="126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6" name="TextBox 5"/>
          <p:cNvSpPr/>
          <p:nvPr/>
        </p:nvSpPr>
        <p:spPr>
          <a:xfrm>
            <a:off x="640080" y="5852160"/>
            <a:ext cx="10971720" cy="66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1b3a5f"/>
                </a:solidFill>
                <a:latin typeface="Arial"/>
                <a:ea typeface="DejaVu Sans"/>
              </a:rPr>
              <a:t>MLP+NMS is the strongest learned grounded selector; temporal supervision is cheaper but under-covers by IoU.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37" name="Rectangle 6"/>
          <p:cNvSpPr/>
          <p:nvPr/>
        </p:nvSpPr>
        <p:spPr>
          <a:xfrm>
            <a:off x="0" y="6602040"/>
            <a:ext cx="12190680" cy="254880"/>
          </a:xfrm>
          <a:prstGeom prst="rect">
            <a:avLst/>
          </a:prstGeom>
          <a:solidFill>
            <a:srgbClr val="e8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"/>
          <p:cNvSpPr/>
          <p:nvPr/>
        </p:nvSpPr>
        <p:spPr>
          <a:xfrm>
            <a:off x="0" y="0"/>
            <a:ext cx="12190680" cy="565920"/>
          </a:xfrm>
          <a:prstGeom prst="rect">
            <a:avLst/>
          </a:prstGeom>
          <a:solidFill>
            <a:srgbClr val="2b5b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9" name="TextBox 2"/>
          <p:cNvSpPr/>
          <p:nvPr/>
        </p:nvSpPr>
        <p:spPr>
          <a:xfrm>
            <a:off x="347400" y="73080"/>
            <a:ext cx="98744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Result 2 Takeaway: Compact Evidence Works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40" name="TextBox 3"/>
          <p:cNvSpPr/>
          <p:nvPr/>
        </p:nvSpPr>
        <p:spPr>
          <a:xfrm>
            <a:off x="10652760" y="82440"/>
            <a:ext cx="1096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12 / 16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1" name="Rectangle 4"/>
          <p:cNvSpPr/>
          <p:nvPr/>
        </p:nvSpPr>
        <p:spPr>
          <a:xfrm>
            <a:off x="777240" y="1005840"/>
            <a:ext cx="3062160" cy="1233360"/>
          </a:xfrm>
          <a:prstGeom prst="rect">
            <a:avLst/>
          </a:prstGeom>
          <a:solidFill>
            <a:srgbClr val="f6f8fb"/>
          </a:solidFill>
          <a:ln w="22860">
            <a:solidFill>
              <a:srgbClr val="37917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308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2b5b8b"/>
                </a:solidFill>
                <a:latin typeface="Arial"/>
                <a:ea typeface="DejaVu Sans"/>
              </a:rPr>
              <a:t>Answer retained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3000" spc="-1" strike="noStrike">
                <a:solidFill>
                  <a:srgbClr val="37917e"/>
                </a:solidFill>
                <a:latin typeface="Arial"/>
                <a:ea typeface="DejaVu Sans"/>
              </a:rPr>
              <a:t>95%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42" name="Rectangle 5"/>
          <p:cNvSpPr/>
          <p:nvPr/>
        </p:nvSpPr>
        <p:spPr>
          <a:xfrm>
            <a:off x="4526280" y="1005840"/>
            <a:ext cx="3062160" cy="1233360"/>
          </a:xfrm>
          <a:prstGeom prst="rect">
            <a:avLst/>
          </a:prstGeom>
          <a:solidFill>
            <a:srgbClr val="f6f8fb"/>
          </a:solidFill>
          <a:ln w="22860">
            <a:solidFill>
              <a:srgbClr val="2b5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308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2b5b8b"/>
                </a:solidFill>
                <a:latin typeface="Arial"/>
                <a:ea typeface="DejaVu Sans"/>
              </a:rPr>
              <a:t>Cost used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3000" spc="-1" strike="noStrike">
                <a:solidFill>
                  <a:srgbClr val="2b5b8b"/>
                </a:solidFill>
                <a:latin typeface="Arial"/>
                <a:ea typeface="DejaVu Sans"/>
              </a:rPr>
              <a:t>39%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43" name="Rectangle 6"/>
          <p:cNvSpPr/>
          <p:nvPr/>
        </p:nvSpPr>
        <p:spPr>
          <a:xfrm>
            <a:off x="8275320" y="1005840"/>
            <a:ext cx="3062160" cy="1233360"/>
          </a:xfrm>
          <a:prstGeom prst="rect">
            <a:avLst/>
          </a:prstGeom>
          <a:solidFill>
            <a:srgbClr val="f6f8fb"/>
          </a:solidFill>
          <a:ln w="22860">
            <a:solidFill>
              <a:srgbClr val="b886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308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2b5b8b"/>
                </a:solidFill>
                <a:latin typeface="Arial"/>
                <a:ea typeface="DejaVu Sans"/>
              </a:rPr>
              <a:t>Acc@GQA retained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3000" spc="-1" strike="noStrike">
                <a:solidFill>
                  <a:srgbClr val="b88600"/>
                </a:solidFill>
                <a:latin typeface="Arial"/>
                <a:ea typeface="DejaVu Sans"/>
              </a:rPr>
              <a:t>71%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44" name="Rectangle 7"/>
          <p:cNvSpPr/>
          <p:nvPr/>
        </p:nvSpPr>
        <p:spPr>
          <a:xfrm>
            <a:off x="822960" y="2926080"/>
            <a:ext cx="4982400" cy="1233360"/>
          </a:xfrm>
          <a:prstGeom prst="rect">
            <a:avLst/>
          </a:prstGeom>
          <a:solidFill>
            <a:srgbClr val="e2edf9"/>
          </a:solidFill>
          <a:ln w="17780">
            <a:solidFill>
              <a:srgbClr val="2b5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2b5b8b"/>
                </a:solidFill>
                <a:latin typeface="Arial"/>
                <a:ea typeface="DejaVu Sans"/>
              </a:rPr>
              <a:t>Why this matters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121b2b"/>
                </a:solidFill>
                <a:latin typeface="Arial"/>
                <a:ea typeface="DejaVu Sans"/>
              </a:rPr>
              <a:t>MLP+NMS gives a much cheaper learned operating point than fixed 3+3 while preserving most answer accuracy.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5" name="Rectangle 8"/>
          <p:cNvSpPr/>
          <p:nvPr/>
        </p:nvSpPr>
        <p:spPr>
          <a:xfrm>
            <a:off x="6263640" y="2926080"/>
            <a:ext cx="4982400" cy="1233360"/>
          </a:xfrm>
          <a:prstGeom prst="rect">
            <a:avLst/>
          </a:prstGeom>
          <a:solidFill>
            <a:srgbClr val="e0f1ec"/>
          </a:solidFill>
          <a:ln w="17780">
            <a:solidFill>
              <a:srgbClr val="37917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37917e"/>
                </a:solidFill>
                <a:latin typeface="Arial"/>
                <a:ea typeface="DejaVu Sans"/>
              </a:rPr>
              <a:t>Remaining headroom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121b2b"/>
                </a:solidFill>
                <a:latin typeface="Arial"/>
                <a:ea typeface="DejaVu Sans"/>
              </a:rPr>
              <a:t>Oracle top-2 reaches 0.442 Acc@GQA at cost 2.493, showing compact support exists in the candidate pool.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6" name="TextBox 9"/>
          <p:cNvSpPr/>
          <p:nvPr/>
        </p:nvSpPr>
        <p:spPr>
          <a:xfrm>
            <a:off x="822960" y="5074920"/>
            <a:ext cx="10514520" cy="7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1b3a5f"/>
                </a:solidFill>
                <a:latin typeface="Arial"/>
                <a:ea typeface="DejaVu Sans"/>
              </a:rPr>
              <a:t>The remaining bottleneck is ranking and diversifying support evidence, not simply adding a stronger answerer.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7" name="Rectangle 10"/>
          <p:cNvSpPr/>
          <p:nvPr/>
        </p:nvSpPr>
        <p:spPr>
          <a:xfrm>
            <a:off x="0" y="6602040"/>
            <a:ext cx="12190680" cy="254880"/>
          </a:xfrm>
          <a:prstGeom prst="rect">
            <a:avLst/>
          </a:prstGeom>
          <a:solidFill>
            <a:srgbClr val="e8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"/>
          <p:cNvSpPr/>
          <p:nvPr/>
        </p:nvSpPr>
        <p:spPr>
          <a:xfrm>
            <a:off x="0" y="0"/>
            <a:ext cx="12190680" cy="565920"/>
          </a:xfrm>
          <a:prstGeom prst="rect">
            <a:avLst/>
          </a:prstGeom>
          <a:solidFill>
            <a:srgbClr val="2b5b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9" name="TextBox 2"/>
          <p:cNvSpPr/>
          <p:nvPr/>
        </p:nvSpPr>
        <p:spPr>
          <a:xfrm>
            <a:off x="347400" y="73080"/>
            <a:ext cx="98744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Accuracy-Cost-Grounding Tradeoff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50" name="TextBox 3"/>
          <p:cNvSpPr/>
          <p:nvPr/>
        </p:nvSpPr>
        <p:spPr>
          <a:xfrm>
            <a:off x="10652760" y="82440"/>
            <a:ext cx="1096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13 / 16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51" name="Picture 4" descr="qwen_tradeoff.png"/>
          <p:cNvPicPr/>
          <p:nvPr/>
        </p:nvPicPr>
        <p:blipFill>
          <a:blip r:embed="rId1"/>
          <a:stretch/>
        </p:blipFill>
        <p:spPr>
          <a:xfrm>
            <a:off x="640080" y="749880"/>
            <a:ext cx="10926000" cy="3839400"/>
          </a:xfrm>
          <a:prstGeom prst="rect">
            <a:avLst/>
          </a:prstGeom>
          <a:ln w="0">
            <a:noFill/>
          </a:ln>
        </p:spPr>
      </p:pic>
      <p:sp>
        <p:nvSpPr>
          <p:cNvPr id="152" name="Rectangle 6"/>
          <p:cNvSpPr/>
          <p:nvPr/>
        </p:nvSpPr>
        <p:spPr>
          <a:xfrm>
            <a:off x="0" y="6602040"/>
            <a:ext cx="12190680" cy="254880"/>
          </a:xfrm>
          <a:prstGeom prst="rect">
            <a:avLst/>
          </a:prstGeom>
          <a:solidFill>
            <a:srgbClr val="e8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3" name="Rectangle 147"/>
          <p:cNvSpPr/>
          <p:nvPr/>
        </p:nvSpPr>
        <p:spPr>
          <a:xfrm>
            <a:off x="822960" y="4827960"/>
            <a:ext cx="10560600" cy="1233720"/>
          </a:xfrm>
          <a:prstGeom prst="rect">
            <a:avLst/>
          </a:prstGeom>
          <a:solidFill>
            <a:srgbClr val="e2edf9"/>
          </a:solidFill>
          <a:ln w="16510">
            <a:solidFill>
              <a:srgbClr val="2b5b8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4" name="TextBox 148"/>
          <p:cNvSpPr/>
          <p:nvPr/>
        </p:nvSpPr>
        <p:spPr>
          <a:xfrm>
            <a:off x="932760" y="4928760"/>
            <a:ext cx="10341000" cy="2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9000" bIns="9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b5b8b"/>
                </a:solidFill>
                <a:latin typeface="Arial"/>
                <a:ea typeface="DejaVu Sans"/>
              </a:rPr>
              <a:t>Interpretation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5" name="TextBox 149"/>
          <p:cNvSpPr/>
          <p:nvPr/>
        </p:nvSpPr>
        <p:spPr>
          <a:xfrm>
            <a:off x="987480" y="5303520"/>
            <a:ext cx="1023156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9000" bIns="9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80" spc="-1" strike="noStrike">
                <a:solidFill>
                  <a:srgbClr val="121b2b"/>
                </a:solidFill>
                <a:latin typeface="Arial"/>
                <a:ea typeface="DejaVu Sans"/>
              </a:rPr>
              <a:t>Answer accuracy is relatively flat among compact selectors, but Acc@GQA separates evidence quality. MLP+NMS is the strongest learned grounded point; oracle top-2 shows compact support exists in the pool.</a:t>
            </a:r>
            <a:endParaRPr b="0" lang="en-US" sz="11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"/>
          <p:cNvSpPr/>
          <p:nvPr/>
        </p:nvSpPr>
        <p:spPr>
          <a:xfrm>
            <a:off x="0" y="0"/>
            <a:ext cx="12190680" cy="565920"/>
          </a:xfrm>
          <a:prstGeom prst="rect">
            <a:avLst/>
          </a:prstGeom>
          <a:solidFill>
            <a:srgbClr val="2b5b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7" name="TextBox 2"/>
          <p:cNvSpPr/>
          <p:nvPr/>
        </p:nvSpPr>
        <p:spPr>
          <a:xfrm>
            <a:off x="347400" y="73080"/>
            <a:ext cx="98744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Qualitative Lessons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58" name="TextBox 3"/>
          <p:cNvSpPr/>
          <p:nvPr/>
        </p:nvSpPr>
        <p:spPr>
          <a:xfrm>
            <a:off x="10652760" y="82440"/>
            <a:ext cx="1096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14 / 16</a:t>
            </a:r>
            <a:endParaRPr b="0" lang="en-US" sz="1800" spc="-1" strike="noStrike">
              <a:latin typeface="Arial"/>
            </a:endParaRPr>
          </a:p>
        </p:txBody>
      </p:sp>
      <p:graphicFrame>
        <p:nvGraphicFramePr>
          <p:cNvPr id="159" name="Table 4"/>
          <p:cNvGraphicFramePr/>
          <p:nvPr/>
        </p:nvGraphicFramePr>
        <p:xfrm>
          <a:off x="502920" y="960120"/>
          <a:ext cx="11201040" cy="3565440"/>
        </p:xfrm>
        <a:graphic>
          <a:graphicData uri="http://schemas.openxmlformats.org/drawingml/2006/table">
            <a:tbl>
              <a:tblPr/>
              <a:tblGrid>
                <a:gridCol w="2423160"/>
                <a:gridCol w="5486400"/>
                <a:gridCol w="3291840"/>
              </a:tblGrid>
              <a:tr h="89136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Case from report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2b5b8b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What happens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2b5b8b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Lesson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2b5b8b"/>
                    </a:solidFill>
                  </a:tcPr>
                </a:tc>
              </a:tr>
              <a:tr h="89136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3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Temporal NMS helps</a:t>
                      </a:r>
                      <a:endParaRPr b="0" lang="en-US" sz="133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33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MLP top-2 selects redundant late evidence; MLP+NMS recovers support overlap while preserving the answer.</a:t>
                      </a:r>
                      <a:endParaRPr b="0" lang="en-US" sz="133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33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Diversity filtering improves compact grounding</a:t>
                      </a:r>
                      <a:endParaRPr b="0" lang="en-US" sz="133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9136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3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Router misses support</a:t>
                      </a:r>
                      <a:endParaRPr b="0" lang="en-US" sz="133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33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MLP+NMS can miss the annotated moment; oracle top-2 and fixed 3+3 recover it from the same pool.</a:t>
                      </a:r>
                      <a:endParaRPr b="0" lang="en-US" sz="133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33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Candidate pool has headroom</a:t>
                      </a:r>
                      <a:endParaRPr b="0" lang="en-US" sz="133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891720">
                <a:tc>
                  <a:txBody>
                    <a:bodyPr lIns="45720" rIns="45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3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Grounding and answering separate</a:t>
                      </a:r>
                      <a:endParaRPr b="0" lang="en-US" sz="133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33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High temporal overlap can still produce a wrong answer, and correct answers can be weakly grounded.</a:t>
                      </a:r>
                      <a:endParaRPr b="0" lang="en-US" sz="133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330" spc="-1" strike="noStrike">
                          <a:solidFill>
                            <a:srgbClr val="121b2b"/>
                          </a:solidFill>
                          <a:latin typeface="Arial"/>
                        </a:rPr>
                        <a:t>Report Acc@QA, cost, IoP/IoU, and Acc@GQA together</a:t>
                      </a:r>
                      <a:endParaRPr b="0" lang="en-US" sz="1330" spc="-1" strike="noStrike"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8799ae"/>
                      </a:solidFill>
                    </a:lnL>
                    <a:lnR w="12240">
                      <a:solidFill>
                        <a:srgbClr val="8799ae"/>
                      </a:solidFill>
                    </a:lnR>
                    <a:lnT w="12240">
                      <a:solidFill>
                        <a:srgbClr val="8799ae"/>
                      </a:solidFill>
                    </a:lnT>
                    <a:lnB w="12240">
                      <a:solidFill>
                        <a:srgbClr val="8799a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0" name="Rectangle 5"/>
          <p:cNvSpPr/>
          <p:nvPr/>
        </p:nvSpPr>
        <p:spPr>
          <a:xfrm>
            <a:off x="914400" y="4892040"/>
            <a:ext cx="10331640" cy="959040"/>
          </a:xfrm>
          <a:prstGeom prst="rect">
            <a:avLst/>
          </a:prstGeom>
          <a:solidFill>
            <a:srgbClr val="e0f1ec"/>
          </a:solidFill>
          <a:ln w="17780">
            <a:solidFill>
              <a:srgbClr val="37917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37917e"/>
                </a:solidFill>
                <a:latin typeface="Arial"/>
                <a:ea typeface="DejaVu Sans"/>
              </a:rPr>
              <a:t>Takeaway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550" spc="-1" strike="noStrike">
                <a:solidFill>
                  <a:srgbClr val="121b2b"/>
                </a:solidFill>
                <a:latin typeface="Arial"/>
                <a:ea typeface="DejaVu Sans"/>
              </a:rPr>
              <a:t>The qualitative examples support the same conclusion as the tables: the remaining bottleneck is ranking and diversifying support evidence.</a:t>
            </a:r>
            <a:endParaRPr b="0" lang="en-US" sz="1550" spc="-1" strike="noStrike">
              <a:latin typeface="Arial"/>
            </a:endParaRPr>
          </a:p>
        </p:txBody>
      </p:sp>
      <p:sp>
        <p:nvSpPr>
          <p:cNvPr id="161" name="Rectangle 6"/>
          <p:cNvSpPr/>
          <p:nvPr/>
        </p:nvSpPr>
        <p:spPr>
          <a:xfrm>
            <a:off x="0" y="6602040"/>
            <a:ext cx="12190680" cy="254880"/>
          </a:xfrm>
          <a:prstGeom prst="rect">
            <a:avLst/>
          </a:prstGeom>
          <a:solidFill>
            <a:srgbClr val="e8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1"/>
          <p:cNvSpPr/>
          <p:nvPr/>
        </p:nvSpPr>
        <p:spPr>
          <a:xfrm>
            <a:off x="0" y="0"/>
            <a:ext cx="12190680" cy="565920"/>
          </a:xfrm>
          <a:prstGeom prst="rect">
            <a:avLst/>
          </a:prstGeom>
          <a:solidFill>
            <a:srgbClr val="2b5b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3" name="TextBox 2"/>
          <p:cNvSpPr/>
          <p:nvPr/>
        </p:nvSpPr>
        <p:spPr>
          <a:xfrm>
            <a:off x="347400" y="73080"/>
            <a:ext cx="98744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Answers to the Opening Questions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64" name="TextBox 3"/>
          <p:cNvSpPr/>
          <p:nvPr/>
        </p:nvSpPr>
        <p:spPr>
          <a:xfrm>
            <a:off x="10652760" y="82440"/>
            <a:ext cx="1096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15 / 16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5" name="Rectangle 4"/>
          <p:cNvSpPr/>
          <p:nvPr/>
        </p:nvSpPr>
        <p:spPr>
          <a:xfrm>
            <a:off x="731520" y="868680"/>
            <a:ext cx="10743120" cy="1050480"/>
          </a:xfrm>
          <a:prstGeom prst="rect">
            <a:avLst/>
          </a:prstGeom>
          <a:solidFill>
            <a:srgbClr val="e2edf9"/>
          </a:solidFill>
          <a:ln w="17780">
            <a:solidFill>
              <a:srgbClr val="2b5b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2b5b8b"/>
                </a:solidFill>
                <a:latin typeface="Arial"/>
                <a:ea typeface="DejaVu Sans"/>
              </a:rPr>
              <a:t>Q1. Same evidence budget for every question?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121b2b"/>
                </a:solidFill>
                <a:latin typeface="Arial"/>
                <a:ea typeface="DejaVu Sans"/>
              </a:rPr>
              <a:t>No. Some questions need one short segment; others need broader temporal coverage. Fixed context can be wasteful or weakly grounded.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6" name="Rectangle 5"/>
          <p:cNvSpPr/>
          <p:nvPr/>
        </p:nvSpPr>
        <p:spPr>
          <a:xfrm>
            <a:off x="731520" y="2240280"/>
            <a:ext cx="10743120" cy="1050480"/>
          </a:xfrm>
          <a:prstGeom prst="rect">
            <a:avLst/>
          </a:prstGeom>
          <a:solidFill>
            <a:srgbClr val="e0f1ec"/>
          </a:solidFill>
          <a:ln w="17780">
            <a:solidFill>
              <a:srgbClr val="37917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37917e"/>
                </a:solidFill>
                <a:latin typeface="Arial"/>
                <a:ea typeface="DejaVu Sans"/>
              </a:rPr>
              <a:t>Q2. Can compact learned evidence preserve accuracy?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700" spc="-1" strike="noStrike">
                <a:solidFill>
                  <a:srgbClr val="121b2b"/>
                </a:solidFill>
                <a:latin typeface="Arial"/>
                <a:ea typeface="DejaVu Sans"/>
              </a:rPr>
              <a:t>Yes. MLP+NMS improves Acc@GQA by 10.0 points over one segment, keeps about 95% of fixed 3+3 answer accuracy, and uses 39% of its evidence cost.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67" name="Rectangle 6"/>
          <p:cNvSpPr/>
          <p:nvPr/>
        </p:nvSpPr>
        <p:spPr>
          <a:xfrm>
            <a:off x="731520" y="3611880"/>
            <a:ext cx="10743120" cy="1050480"/>
          </a:xfrm>
          <a:prstGeom prst="rect">
            <a:avLst/>
          </a:prstGeom>
          <a:solidFill>
            <a:srgbClr val="fcf5dd"/>
          </a:solidFill>
          <a:ln w="17780">
            <a:solidFill>
              <a:srgbClr val="b886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b88600"/>
                </a:solidFill>
                <a:latin typeface="Arial"/>
                <a:ea typeface="DejaVu Sans"/>
              </a:rPr>
              <a:t>Q3. Evidence problem or answerer problem?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700" spc="-1" strike="noStrike">
                <a:solidFill>
                  <a:srgbClr val="121b2b"/>
                </a:solidFill>
                <a:latin typeface="Arial"/>
                <a:ea typeface="DejaVu Sans"/>
              </a:rPr>
              <a:t>Both, but the final gap is mainly routing. The frozen answerer hides evidence gains; Qwen exposes them; oracle top-2 shows compact support exists in the pool.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68" name="TextBox 7"/>
          <p:cNvSpPr/>
          <p:nvPr/>
        </p:nvSpPr>
        <p:spPr>
          <a:xfrm>
            <a:off x="868680" y="5577840"/>
            <a:ext cx="104230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b3a5f"/>
                </a:solidFill>
                <a:latin typeface="Arial"/>
                <a:ea typeface="DejaVu Sans"/>
              </a:rPr>
              <a:t>Final claim: answer accuracy, temporal grounding, and evidence cost must be reported together.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9" name="Rectangle 8"/>
          <p:cNvSpPr/>
          <p:nvPr/>
        </p:nvSpPr>
        <p:spPr>
          <a:xfrm>
            <a:off x="0" y="6602040"/>
            <a:ext cx="12190680" cy="254880"/>
          </a:xfrm>
          <a:prstGeom prst="rect">
            <a:avLst/>
          </a:prstGeom>
          <a:solidFill>
            <a:srgbClr val="e8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"/>
          <p:cNvSpPr/>
          <p:nvPr/>
        </p:nvSpPr>
        <p:spPr>
          <a:xfrm>
            <a:off x="0" y="0"/>
            <a:ext cx="12190680" cy="565920"/>
          </a:xfrm>
          <a:prstGeom prst="rect">
            <a:avLst/>
          </a:prstGeom>
          <a:solidFill>
            <a:srgbClr val="2b5b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1" name="TextBox 2"/>
          <p:cNvSpPr/>
          <p:nvPr/>
        </p:nvSpPr>
        <p:spPr>
          <a:xfrm>
            <a:off x="347400" y="73080"/>
            <a:ext cx="98744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Final Takeaway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72" name="TextBox 3"/>
          <p:cNvSpPr/>
          <p:nvPr/>
        </p:nvSpPr>
        <p:spPr>
          <a:xfrm>
            <a:off x="10652760" y="82440"/>
            <a:ext cx="1096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16 / 16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3" name="TextBox 4"/>
          <p:cNvSpPr/>
          <p:nvPr/>
        </p:nvSpPr>
        <p:spPr>
          <a:xfrm>
            <a:off x="1143000" y="960120"/>
            <a:ext cx="9920160" cy="9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121b2b"/>
                </a:solidFill>
                <a:latin typeface="Arial"/>
                <a:ea typeface="DejaVu Sans"/>
              </a:rPr>
              <a:t>Grounded VideoQA should be evaluated as evidence acquisition followed by answer generation.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74" name="TextBox 5"/>
          <p:cNvSpPr/>
          <p:nvPr/>
        </p:nvSpPr>
        <p:spPr>
          <a:xfrm>
            <a:off x="1051560" y="2240280"/>
            <a:ext cx="10057320" cy="167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73080" bIns="7308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121b2b"/>
                </a:solidFill>
                <a:latin typeface="Arial"/>
                <a:ea typeface="DejaVu Sans"/>
              </a:rPr>
              <a:t>MLP+NMS is the best learned selector: 0.321 Acc@GQA at cost 2.935.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121b2b"/>
                </a:solidFill>
                <a:latin typeface="Arial"/>
                <a:ea typeface="DejaVu Sans"/>
              </a:rPr>
              <a:t>Fixed 3+3 is strongest but expensive: 0.454 Acc@GQA at cost 7.500.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121b2b"/>
                </a:solidFill>
                <a:latin typeface="Arial"/>
                <a:ea typeface="DejaVu Sans"/>
              </a:rPr>
              <a:t>Oracle top-2 reaches 0.442 Acc@GQA at cost 2.493, so compact support exists in the pool.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121b2b"/>
                </a:solidFill>
                <a:latin typeface="Arial"/>
                <a:ea typeface="DejaVu Sans"/>
              </a:rPr>
              <a:t>The remaining bottleneck is ranking and diversifying support evidence.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75" name="Rectangle 6"/>
          <p:cNvSpPr/>
          <p:nvPr/>
        </p:nvSpPr>
        <p:spPr>
          <a:xfrm>
            <a:off x="1508760" y="4983480"/>
            <a:ext cx="9142920" cy="776160"/>
          </a:xfrm>
          <a:prstGeom prst="rect">
            <a:avLst/>
          </a:prstGeom>
          <a:solidFill>
            <a:srgbClr val="e0f1ec"/>
          </a:solidFill>
          <a:ln w="17780">
            <a:solidFill>
              <a:srgbClr val="37917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46160" tIns="9144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37917e"/>
                </a:solidFill>
                <a:latin typeface="Arial"/>
                <a:ea typeface="DejaVu Sans"/>
              </a:rPr>
              <a:t>One-line closing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121b2b"/>
                </a:solidFill>
                <a:latin typeface="Arial"/>
                <a:ea typeface="DejaVu Sans"/>
              </a:rPr>
              <a:t>Report answer accuracy, evidence cost, and temporal grounding together.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6" name="Rectangle 7"/>
          <p:cNvSpPr/>
          <p:nvPr/>
        </p:nvSpPr>
        <p:spPr>
          <a:xfrm>
            <a:off x="0" y="6602040"/>
            <a:ext cx="12190680" cy="254880"/>
          </a:xfrm>
          <a:prstGeom prst="rect">
            <a:avLst/>
          </a:prstGeom>
          <a:solidFill>
            <a:srgbClr val="e8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