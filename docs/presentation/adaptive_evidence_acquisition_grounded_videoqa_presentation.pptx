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548B99-2793-461F-A2C5-6B263AED07D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108213-87FB-44A1-8501-B8AF4282A1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83FE1A-26D5-424F-A43D-3D79401E91F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3D31AB-43A2-4F87-8127-C50B0EA23A7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315D386-D2DA-4CB6-8616-6B028446E50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8CB49C-DC1D-487E-B7BD-1FD5BF25EC0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2CC913-244C-47C2-84CD-54D1A739102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9B3CC7-BED3-497A-82E3-7ECF66A6A3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AE7371-67D1-4A7E-974B-8B05B20C2F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0CF175-231B-4F9D-A791-DC188F88D40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7F0BA03-EA8E-468B-9C1E-A5D3E5D596F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CACD50-9823-41C1-9CD8-983945B582A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7722F2-75FE-4333-ABC2-1424313029C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91040" cy="52956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TextBox 2"/>
          <p:cNvSpPr/>
          <p:nvPr/>
        </p:nvSpPr>
        <p:spPr>
          <a:xfrm>
            <a:off x="658440" y="987480"/>
            <a:ext cx="1088064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</a:t>
            </a:r>
            <a:br>
              <a:rPr sz="1800"/>
            </a:br>
            <a:r>
              <a:rPr b="0" lang="en-US" sz="2200" spc="-1" strike="noStrike">
                <a:solidFill>
                  <a:srgbClr val="000000"/>
                </a:solidFill>
                <a:latin typeface="Calibri"/>
                <a:ea typeface="DejaVu Sans"/>
              </a:rPr>
              <a:t>Grounded Video Question Answering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685800" y="2331720"/>
            <a:ext cx="105148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5b6370"/>
                </a:solidFill>
                <a:latin typeface="Aptos"/>
                <a:ea typeface="DejaVu Sans"/>
              </a:rPr>
              <a:t>A cost-aware evidence selection view of grounded VideoQA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685800" y="3154680"/>
            <a:ext cx="5257080" cy="132516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" name="TextBox 5"/>
          <p:cNvSpPr/>
          <p:nvPr/>
        </p:nvSpPr>
        <p:spPr>
          <a:xfrm>
            <a:off x="850320" y="3264480"/>
            <a:ext cx="4928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3b8b74"/>
                </a:solidFill>
                <a:latin typeface="Aptos"/>
                <a:ea typeface="DejaVu Sans"/>
              </a:rPr>
              <a:t>Opening question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6" name="TextBox 6"/>
          <p:cNvSpPr/>
          <p:nvPr/>
        </p:nvSpPr>
        <p:spPr>
          <a:xfrm>
            <a:off x="850320" y="3630240"/>
            <a:ext cx="4928040" cy="7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14181f"/>
                </a:solidFill>
                <a:latin typeface="Aptos"/>
                <a:ea typeface="DejaVu Sans"/>
              </a:rPr>
              <a:t>How much visual evidence is enough to answer a video question while staying temporally grounded?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6263640" y="3154680"/>
            <a:ext cx="5257080" cy="132516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" name="TextBox 8"/>
          <p:cNvSpPr/>
          <p:nvPr/>
        </p:nvSpPr>
        <p:spPr>
          <a:xfrm>
            <a:off x="6428160" y="3264480"/>
            <a:ext cx="4928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b08400"/>
                </a:solidFill>
                <a:latin typeface="Aptos"/>
                <a:ea typeface="DejaVu Sans"/>
              </a:rPr>
              <a:t>Main claim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9" name="TextBox 9"/>
          <p:cNvSpPr/>
          <p:nvPr/>
        </p:nvSpPr>
        <p:spPr>
          <a:xfrm>
            <a:off x="6428160" y="3630240"/>
            <a:ext cx="4928040" cy="7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9000"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14181f"/>
                </a:solidFill>
                <a:latin typeface="Aptos"/>
                <a:ea typeface="DejaVu Sans"/>
              </a:rPr>
              <a:t>Answer accuracy, evidence cost, and temporal grounding must be evaluated together.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0" name="TextBox 10"/>
          <p:cNvSpPr/>
          <p:nvPr/>
        </p:nvSpPr>
        <p:spPr>
          <a:xfrm>
            <a:off x="685800" y="5650920"/>
            <a:ext cx="10789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5b6370"/>
                </a:solidFill>
                <a:latin typeface="Aptos"/>
                <a:ea typeface="DejaVu Sans"/>
              </a:rPr>
              <a:t>Aniket Salunke, Ketan More, Nazish Baliyan, Ritesh Thawkar | MBZUAI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Three Questions We Answer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3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2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56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57" name="Rectangle 7"/>
          <p:cNvSpPr/>
          <p:nvPr/>
        </p:nvSpPr>
        <p:spPr>
          <a:xfrm>
            <a:off x="822960" y="960120"/>
            <a:ext cx="10560600" cy="93204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" name="TextBox 8"/>
          <p:cNvSpPr/>
          <p:nvPr/>
        </p:nvSpPr>
        <p:spPr>
          <a:xfrm>
            <a:off x="987480" y="1069920"/>
            <a:ext cx="10231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2a598f"/>
                </a:solidFill>
                <a:latin typeface="Aptos"/>
                <a:ea typeface="DejaVu Sans"/>
              </a:rPr>
              <a:t>Research Question 1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9" name="TextBox 9"/>
          <p:cNvSpPr/>
          <p:nvPr/>
        </p:nvSpPr>
        <p:spPr>
          <a:xfrm>
            <a:off x="987480" y="1435680"/>
            <a:ext cx="10231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4000"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14181f"/>
                </a:solidFill>
                <a:latin typeface="Aptos"/>
                <a:ea typeface="DejaVu Sans"/>
              </a:rPr>
              <a:t>Q1. Do all video questions need the same amount of visual evidence?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Rectangle 10"/>
          <p:cNvSpPr/>
          <p:nvPr/>
        </p:nvSpPr>
        <p:spPr>
          <a:xfrm>
            <a:off x="822960" y="2331720"/>
            <a:ext cx="10560600" cy="93204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" name="TextBox 11"/>
          <p:cNvSpPr/>
          <p:nvPr/>
        </p:nvSpPr>
        <p:spPr>
          <a:xfrm>
            <a:off x="987480" y="2441520"/>
            <a:ext cx="10231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3b8b74"/>
                </a:solidFill>
                <a:latin typeface="Aptos"/>
                <a:ea typeface="DejaVu Sans"/>
              </a:rPr>
              <a:t>Research Question 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2" name="TextBox 12"/>
          <p:cNvSpPr/>
          <p:nvPr/>
        </p:nvSpPr>
        <p:spPr>
          <a:xfrm>
            <a:off x="987480" y="2807280"/>
            <a:ext cx="10231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9000"/>
          </a:bodyPr>
          <a:p>
            <a:pPr>
              <a:lnSpc>
                <a:spcPct val="100000"/>
              </a:lnSpc>
              <a:buNone/>
            </a:pPr>
            <a:r>
              <a:rPr b="0" lang="en-US" sz="1520" spc="-1" strike="noStrike">
                <a:solidFill>
                  <a:srgbClr val="000000"/>
                </a:solidFill>
                <a:latin typeface="Calibri"/>
                <a:ea typeface="DejaVu Sans"/>
              </a:rPr>
              <a:t>Q2. Can compact question-conditioned evidence improve grounding without using the full fixed budget?</a:t>
            </a:r>
            <a:endParaRPr b="0" lang="en-US" sz="1520" spc="-1" strike="noStrike">
              <a:latin typeface="Arial"/>
            </a:endParaRPr>
          </a:p>
        </p:txBody>
      </p:sp>
      <p:sp>
        <p:nvSpPr>
          <p:cNvPr id="63" name="Rectangle 13"/>
          <p:cNvSpPr/>
          <p:nvPr/>
        </p:nvSpPr>
        <p:spPr>
          <a:xfrm>
            <a:off x="822960" y="3703320"/>
            <a:ext cx="10560600" cy="93204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" name="TextBox 14"/>
          <p:cNvSpPr/>
          <p:nvPr/>
        </p:nvSpPr>
        <p:spPr>
          <a:xfrm>
            <a:off x="987480" y="3813120"/>
            <a:ext cx="10231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b08400"/>
                </a:solidFill>
                <a:latin typeface="Aptos"/>
                <a:ea typeface="DejaVu Sans"/>
              </a:rPr>
              <a:t>Research Question 3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5" name="TextBox 15"/>
          <p:cNvSpPr/>
          <p:nvPr/>
        </p:nvSpPr>
        <p:spPr>
          <a:xfrm>
            <a:off x="987480" y="4178880"/>
            <a:ext cx="10231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520" spc="-1" strike="noStrike">
                <a:solidFill>
                  <a:srgbClr val="000000"/>
                </a:solidFill>
                <a:latin typeface="Calibri"/>
                <a:ea typeface="DejaVu Sans"/>
              </a:rPr>
              <a:t>Q3. Is the remaining gap caused by evidence routing, answerer strength, or candidate-pool quality?</a:t>
            </a:r>
            <a:endParaRPr b="0" lang="en-US" sz="1520" spc="-1" strike="noStrike">
              <a:latin typeface="Arial"/>
            </a:endParaRPr>
          </a:p>
        </p:txBody>
      </p:sp>
      <p:sp>
        <p:nvSpPr>
          <p:cNvPr id="66" name="TextBox 16"/>
          <p:cNvSpPr/>
          <p:nvPr/>
        </p:nvSpPr>
        <p:spPr>
          <a:xfrm>
            <a:off x="960120" y="5349240"/>
            <a:ext cx="102405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4000"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  <a:ea typeface="DejaVu Sans"/>
              </a:rPr>
              <a:t>We answer these through controlled evidence-budget experiments and an answerer swap from a frozen scorer to Qwen2.5-VL.</a:t>
            </a:r>
            <a:endParaRPr b="0" lang="en-US" sz="13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Motivation: Correct Answers Can Be Ungrounded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3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0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1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731520" y="914400"/>
            <a:ext cx="530280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85840">
              <a:lnSpc>
                <a:spcPct val="100000"/>
              </a:lnSpc>
              <a:spcAft>
                <a:spcPts val="700"/>
              </a:spcAft>
              <a:buNone/>
            </a:pPr>
            <a:r>
              <a:rPr b="0" lang="en-US" sz="2000" spc="-1" strike="noStrike">
                <a:solidFill>
                  <a:srgbClr val="14181f"/>
                </a:solidFill>
                <a:latin typeface="Aptos"/>
                <a:ea typeface="DejaVu Sans"/>
              </a:rPr>
              <a:t>VideoQA evidence is distributed over time.</a:t>
            </a:r>
            <a:endParaRPr b="0" lang="en-US" sz="2000" spc="-1" strike="noStrike">
              <a:latin typeface="Arial"/>
            </a:endParaRPr>
          </a:p>
          <a:p>
            <a:pPr marL="285840">
              <a:lnSpc>
                <a:spcPct val="100000"/>
              </a:lnSpc>
              <a:spcAft>
                <a:spcPts val="700"/>
              </a:spcAft>
              <a:buNone/>
            </a:pPr>
            <a:r>
              <a:rPr b="0" lang="en-US" sz="2000" spc="-1" strike="noStrike">
                <a:solidFill>
                  <a:srgbClr val="14181f"/>
                </a:solidFill>
                <a:latin typeface="Aptos"/>
                <a:ea typeface="DejaVu Sans"/>
              </a:rPr>
              <a:t>A correct option may be guessed from priors or broad scene context.</a:t>
            </a:r>
            <a:endParaRPr b="0" lang="en-US" sz="2000" spc="-1" strike="noStrike">
              <a:latin typeface="Arial"/>
            </a:endParaRPr>
          </a:p>
          <a:p>
            <a:pPr marL="285840">
              <a:lnSpc>
                <a:spcPct val="100000"/>
              </a:lnSpc>
              <a:spcAft>
                <a:spcPts val="700"/>
              </a:spcAft>
              <a:buNone/>
            </a:pPr>
            <a:r>
              <a:rPr b="0" lang="en-US" sz="2000" spc="-1" strike="noStrike">
                <a:solidFill>
                  <a:srgbClr val="14181f"/>
                </a:solidFill>
                <a:latin typeface="Aptos"/>
                <a:ea typeface="DejaVu Sans"/>
              </a:rPr>
              <a:t>Fixed frame/clip budgets can waste evidence or miss the support moment.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4" name="Rectangle 8"/>
          <p:cNvSpPr/>
          <p:nvPr/>
        </p:nvSpPr>
        <p:spPr>
          <a:xfrm>
            <a:off x="6400800" y="914400"/>
            <a:ext cx="4891320" cy="201096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" name="TextBox 9"/>
          <p:cNvSpPr/>
          <p:nvPr/>
        </p:nvSpPr>
        <p:spPr>
          <a:xfrm>
            <a:off x="6565320" y="1024200"/>
            <a:ext cx="45622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2a598f"/>
                </a:solidFill>
                <a:latin typeface="Aptos"/>
                <a:ea typeface="DejaVu Sans"/>
              </a:rPr>
              <a:t>Grounded VideoQA asks two things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6565320" y="1389960"/>
            <a:ext cx="4562280" cy="14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900" spc="-1" strike="noStrike">
                <a:solidFill>
                  <a:srgbClr val="14181f"/>
                </a:solidFill>
                <a:latin typeface="Aptos"/>
                <a:ea typeface="DejaVu Sans"/>
              </a:rPr>
              <a:t>1. Is the answer correct?</a:t>
            </a:r>
            <a:br>
              <a:rPr sz="1800"/>
            </a:br>
            <a:r>
              <a:rPr b="0" lang="en-US" sz="1900" spc="-1" strike="noStrike">
                <a:solidFill>
                  <a:srgbClr val="000000"/>
                </a:solidFill>
                <a:latin typeface="Calibri"/>
                <a:ea typeface="DejaVu Sans"/>
              </a:rPr>
              <a:t>2. Does the selected evidence overlap the annotated support moment?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77" name="Rectangle 11"/>
          <p:cNvSpPr/>
          <p:nvPr/>
        </p:nvSpPr>
        <p:spPr>
          <a:xfrm>
            <a:off x="6400800" y="3383280"/>
            <a:ext cx="4891320" cy="150804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8" name="TextBox 12"/>
          <p:cNvSpPr/>
          <p:nvPr/>
        </p:nvSpPr>
        <p:spPr>
          <a:xfrm>
            <a:off x="6565320" y="3493080"/>
            <a:ext cx="45622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3b8b74"/>
                </a:solidFill>
                <a:latin typeface="Aptos"/>
                <a:ea typeface="DejaVu Sans"/>
              </a:rPr>
              <a:t>Why it matters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9" name="TextBox 13"/>
          <p:cNvSpPr/>
          <p:nvPr/>
        </p:nvSpPr>
        <p:spPr>
          <a:xfrm>
            <a:off x="6565320" y="3858840"/>
            <a:ext cx="4562280" cy="9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6000"/>
          </a:bodyPr>
          <a:p>
            <a:pPr>
              <a:lnSpc>
                <a:spcPct val="100000"/>
              </a:lnSpc>
              <a:buNone/>
            </a:pPr>
            <a:r>
              <a:rPr b="0" lang="en-US" sz="1900" spc="-1" strike="noStrike">
                <a:solidFill>
                  <a:srgbClr val="14181f"/>
                </a:solidFill>
                <a:latin typeface="Aptos"/>
                <a:ea typeface="DejaVu Sans"/>
              </a:rPr>
              <a:t>Grounding turns VideoQA from answer classification into evidence-supported reasoning.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80" name="Rectangle 14"/>
          <p:cNvSpPr/>
          <p:nvPr/>
        </p:nvSpPr>
        <p:spPr>
          <a:xfrm>
            <a:off x="960120" y="5285160"/>
            <a:ext cx="5074200" cy="776520"/>
          </a:xfrm>
          <a:prstGeom prst="rect">
            <a:avLst/>
          </a:prstGeom>
          <a:solidFill>
            <a:srgbClr val="f8fafc"/>
          </a:solidFill>
          <a:ln w="1778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1" name="TextBox 15"/>
          <p:cNvSpPr/>
          <p:nvPr/>
        </p:nvSpPr>
        <p:spPr>
          <a:xfrm>
            <a:off x="1042560" y="5413320"/>
            <a:ext cx="4909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5b6370"/>
                </a:solidFill>
                <a:latin typeface="Aptos"/>
                <a:ea typeface="DejaVu Sans"/>
              </a:rPr>
              <a:t>Failure mode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1042560" y="5687640"/>
            <a:ext cx="49096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b08400"/>
                </a:solidFill>
                <a:latin typeface="Aptos"/>
                <a:ea typeface="DejaVu Sans"/>
              </a:rPr>
              <a:t>correct but weakly grounded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3" name="Rectangle 17"/>
          <p:cNvSpPr/>
          <p:nvPr/>
        </p:nvSpPr>
        <p:spPr>
          <a:xfrm>
            <a:off x="6126480" y="5285160"/>
            <a:ext cx="5074200" cy="776520"/>
          </a:xfrm>
          <a:prstGeom prst="rect">
            <a:avLst/>
          </a:prstGeom>
          <a:solidFill>
            <a:srgbClr val="f8fafc"/>
          </a:solidFill>
          <a:ln w="1778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4" name="TextBox 18"/>
          <p:cNvSpPr/>
          <p:nvPr/>
        </p:nvSpPr>
        <p:spPr>
          <a:xfrm>
            <a:off x="6208920" y="5413320"/>
            <a:ext cx="4909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5b6370"/>
                </a:solidFill>
                <a:latin typeface="Aptos"/>
                <a:ea typeface="DejaVu Sans"/>
              </a:rPr>
              <a:t>Desired behavior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85" name="TextBox 19"/>
          <p:cNvSpPr/>
          <p:nvPr/>
        </p:nvSpPr>
        <p:spPr>
          <a:xfrm>
            <a:off x="6208920" y="5687640"/>
            <a:ext cx="49096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3b8b74"/>
                </a:solidFill>
                <a:latin typeface="Aptos"/>
                <a:ea typeface="DejaVu Sans"/>
              </a:rPr>
              <a:t>correct and grounded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7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Related Work and Gap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4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9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91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92" name="Rectangle 8"/>
          <p:cNvSpPr/>
          <p:nvPr/>
        </p:nvSpPr>
        <p:spPr>
          <a:xfrm>
            <a:off x="822960" y="4617720"/>
            <a:ext cx="10560600" cy="95940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3" name="TextBox 9"/>
          <p:cNvSpPr/>
          <p:nvPr/>
        </p:nvSpPr>
        <p:spPr>
          <a:xfrm>
            <a:off x="987480" y="4727520"/>
            <a:ext cx="10231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2f5e8d"/>
                </a:solidFill>
                <a:latin typeface="Calibri"/>
                <a:ea typeface="DejaVu Sans"/>
              </a:rPr>
              <a:t>Gap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987480" y="5093280"/>
            <a:ext cx="102315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rgbClr val="000000"/>
                </a:solidFill>
                <a:latin typeface="Calibri"/>
                <a:ea typeface="DejaVu Sans"/>
              </a:rPr>
              <a:t>Prior work often reports answer quality without jointly charging evidence cost and verifying temporal support. We evaluate Acc@QA, cost, IoP/IoU, and Acc@GQA under one evidence-selection protocol.</a:t>
            </a:r>
            <a:endParaRPr b="0" lang="en-US" sz="1320" spc="-1" strike="noStrike">
              <a:latin typeface="Arial"/>
            </a:endParaRPr>
          </a:p>
        </p:txBody>
      </p:sp>
      <p:graphicFrame>
        <p:nvGraphicFramePr>
          <p:cNvPr id="95" name="Table 11"/>
          <p:cNvGraphicFramePr/>
          <p:nvPr/>
        </p:nvGraphicFramePr>
        <p:xfrm>
          <a:off x="594360" y="914400"/>
          <a:ext cx="11017800" cy="3336840"/>
        </p:xfrm>
        <a:graphic>
          <a:graphicData uri="http://schemas.openxmlformats.org/drawingml/2006/table">
            <a:tbl>
              <a:tblPr/>
              <a:tblGrid>
                <a:gridCol w="2586600"/>
                <a:gridCol w="4599000"/>
                <a:gridCol w="3832560"/>
              </a:tblGrid>
              <a:tr h="667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Examples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What they provide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</a:tr>
              <a:tr h="667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VideoQA benchmarks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MovieQA, TGIF-QA, TVQA, NExT-QA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Temporal and causal reasoning tasks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7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Grounded VideoQA / localization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TVQA+, NExT-GQA, Moment-DETR/QVHighlights, SeViLA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Answer support and temporal evidence annotations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667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Pretrained answerers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CLIP, FrozenBiLM, BLIP-2/InstructBLIP, Video-LLaVA, Qwen2.5-VL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Strong visual-language reasoning backbones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7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Retrieval-augmented video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R2A, VideoRAG/VRAG, UniversalRAG, ModaRoute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Selective context construction for long videos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7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Task Formulation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5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0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01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102" name="Rectangle 7"/>
          <p:cNvSpPr/>
          <p:nvPr/>
        </p:nvSpPr>
        <p:spPr>
          <a:xfrm>
            <a:off x="685800" y="868680"/>
            <a:ext cx="5257080" cy="132516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3" name="TextBox 8"/>
          <p:cNvSpPr/>
          <p:nvPr/>
        </p:nvSpPr>
        <p:spPr>
          <a:xfrm>
            <a:off x="850320" y="978480"/>
            <a:ext cx="4928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2a598f"/>
                </a:solidFill>
                <a:latin typeface="Aptos"/>
                <a:ea typeface="DejaVu Sans"/>
              </a:rPr>
              <a:t>Grounded VideoQA example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4" name="TextBox 9"/>
          <p:cNvSpPr/>
          <p:nvPr/>
        </p:nvSpPr>
        <p:spPr>
          <a:xfrm>
            <a:off x="850320" y="1344240"/>
            <a:ext cx="4928040" cy="7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9000"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14181f"/>
                </a:solidFill>
                <a:latin typeface="Aptos"/>
                <a:ea typeface="DejaVu Sans"/>
              </a:rPr>
              <a:t>x = (v, q, A, y, T)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video, question, answer options, label, support span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5" name="Rectangle 10"/>
          <p:cNvSpPr/>
          <p:nvPr/>
        </p:nvSpPr>
        <p:spPr>
          <a:xfrm>
            <a:off x="6263640" y="868680"/>
            <a:ext cx="5257080" cy="132516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6" name="TextBox 11"/>
          <p:cNvSpPr/>
          <p:nvPr/>
        </p:nvSpPr>
        <p:spPr>
          <a:xfrm>
            <a:off x="6428160" y="978480"/>
            <a:ext cx="4928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3b8b74"/>
                </a:solidFill>
                <a:latin typeface="Aptos"/>
                <a:ea typeface="DejaVu Sans"/>
              </a:rPr>
              <a:t>Evidence pool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7" name="TextBox 12"/>
          <p:cNvSpPr/>
          <p:nvPr/>
        </p:nvSpPr>
        <p:spPr>
          <a:xfrm>
            <a:off x="6428160" y="1344240"/>
            <a:ext cx="4928040" cy="7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9000"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14181f"/>
                </a:solidFill>
                <a:latin typeface="Aptos"/>
                <a:ea typeface="DejaVu Sans"/>
              </a:rPr>
              <a:t>E(x) = {e1, ..., eN}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frames and short temporal segments with cost and interval metadata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Rectangle 13"/>
          <p:cNvSpPr/>
          <p:nvPr/>
        </p:nvSpPr>
        <p:spPr>
          <a:xfrm>
            <a:off x="685800" y="2606040"/>
            <a:ext cx="5257080" cy="132516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TextBox 14"/>
          <p:cNvSpPr/>
          <p:nvPr/>
        </p:nvSpPr>
        <p:spPr>
          <a:xfrm>
            <a:off x="850320" y="2715840"/>
            <a:ext cx="4928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b08400"/>
                </a:solidFill>
                <a:latin typeface="Aptos"/>
                <a:ea typeface="DejaVu Sans"/>
              </a:rPr>
              <a:t>Policy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0" name="TextBox 15"/>
          <p:cNvSpPr/>
          <p:nvPr/>
        </p:nvSpPr>
        <p:spPr>
          <a:xfrm>
            <a:off x="850320" y="3081600"/>
            <a:ext cx="4928040" cy="7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900" spc="-1" strike="noStrike">
                <a:solidFill>
                  <a:srgbClr val="14181f"/>
                </a:solidFill>
                <a:latin typeface="Aptos"/>
                <a:ea typeface="DejaVu Sans"/>
              </a:rPr>
              <a:t>Selects S subset E(x)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C(S) = sum_i c_i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Rectangle 16"/>
          <p:cNvSpPr/>
          <p:nvPr/>
        </p:nvSpPr>
        <p:spPr>
          <a:xfrm>
            <a:off x="6263640" y="2606040"/>
            <a:ext cx="5257080" cy="132516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2" name="TextBox 17"/>
          <p:cNvSpPr/>
          <p:nvPr/>
        </p:nvSpPr>
        <p:spPr>
          <a:xfrm>
            <a:off x="6428160" y="2715840"/>
            <a:ext cx="4928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2a598f"/>
                </a:solidFill>
                <a:latin typeface="Aptos"/>
                <a:ea typeface="DejaVu Sans"/>
              </a:rPr>
              <a:t>Answerer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3" name="TextBox 18"/>
          <p:cNvSpPr/>
          <p:nvPr/>
        </p:nvSpPr>
        <p:spPr>
          <a:xfrm>
            <a:off x="6428160" y="3081600"/>
            <a:ext cx="4928040" cy="7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14181f"/>
                </a:solidFill>
                <a:latin typeface="Aptos"/>
                <a:ea typeface="DejaVu Sans"/>
              </a:rPr>
              <a:t>Predicts answer from question, options, and selected evidence only.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TextBox 19"/>
          <p:cNvSpPr/>
          <p:nvPr/>
        </p:nvSpPr>
        <p:spPr>
          <a:xfrm>
            <a:off x="914400" y="4983480"/>
            <a:ext cx="103320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 algn="ctr">
              <a:lnSpc>
                <a:spcPct val="100000"/>
              </a:lnSpc>
              <a:buNone/>
            </a:pPr>
            <a:r>
              <a:rPr b="1" lang="en-US" sz="1900" spc="-1" strike="noStrike">
                <a:solidFill>
                  <a:srgbClr val="19375c"/>
                </a:solidFill>
                <a:latin typeface="Aptos"/>
                <a:ea typeface="DejaVu Sans"/>
              </a:rPr>
              <a:t>Optimization intuition: maximize answer accuracy and grounding while minimizing acquired evidence cost.</a:t>
            </a:r>
            <a:endParaRPr b="0" lang="en-US" sz="1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6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Method: Adaptive Evidence Acquisition Pipeline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17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6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8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9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pic>
        <p:nvPicPr>
          <p:cNvPr id="121" name="Picture 7" descr="figure_1.png"/>
          <p:cNvPicPr/>
          <p:nvPr/>
        </p:nvPicPr>
        <p:blipFill>
          <a:blip r:embed="rId1"/>
          <a:stretch/>
        </p:blipFill>
        <p:spPr>
          <a:xfrm>
            <a:off x="1170360" y="658440"/>
            <a:ext cx="9874800" cy="4213800"/>
          </a:xfrm>
          <a:prstGeom prst="rect">
            <a:avLst/>
          </a:prstGeom>
          <a:ln w="0">
            <a:noFill/>
          </a:ln>
        </p:spPr>
      </p:pic>
      <p:sp>
        <p:nvSpPr>
          <p:cNvPr id="122" name="Rectangle 8"/>
          <p:cNvSpPr/>
          <p:nvPr/>
        </p:nvSpPr>
        <p:spPr>
          <a:xfrm>
            <a:off x="777240" y="5102280"/>
            <a:ext cx="5257080" cy="93204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3" name="TextBox 9"/>
          <p:cNvSpPr/>
          <p:nvPr/>
        </p:nvSpPr>
        <p:spPr>
          <a:xfrm>
            <a:off x="941760" y="5212080"/>
            <a:ext cx="4928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1" lang="en-US" sz="1550" spc="-1" strike="noStrike">
                <a:solidFill>
                  <a:srgbClr val="2f5e8d"/>
                </a:solidFill>
                <a:latin typeface="Calibri"/>
                <a:ea typeface="DejaVu Sans"/>
              </a:rPr>
              <a:t>Candidate pool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941760" y="5577840"/>
            <a:ext cx="4928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4000"/>
          </a:bodyPr>
          <a:p>
            <a:pPr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rgbClr val="000000"/>
                </a:solidFill>
                <a:latin typeface="Calibri"/>
                <a:ea typeface="DejaVu Sans"/>
              </a:rPr>
              <a:t>Sample frames and short temporal segments; store interval, modality, retrieval score, and cost for each candidate.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25" name="Rectangle 11"/>
          <p:cNvSpPr/>
          <p:nvPr/>
        </p:nvSpPr>
        <p:spPr>
          <a:xfrm>
            <a:off x="6172200" y="5102280"/>
            <a:ext cx="5257080" cy="93204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6" name="TextBox 12"/>
          <p:cNvSpPr/>
          <p:nvPr/>
        </p:nvSpPr>
        <p:spPr>
          <a:xfrm>
            <a:off x="6336720" y="5212080"/>
            <a:ext cx="4928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1" lang="en-US" sz="1550" spc="-1" strike="noStrike">
                <a:solidFill>
                  <a:srgbClr val="2f5e8d"/>
                </a:solidFill>
                <a:latin typeface="Calibri"/>
                <a:ea typeface="DejaVu Sans"/>
              </a:rPr>
              <a:t>Controlled answerer swap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127" name="TextBox 13"/>
          <p:cNvSpPr/>
          <p:nvPr/>
        </p:nvSpPr>
        <p:spPr>
          <a:xfrm>
            <a:off x="6336720" y="5577840"/>
            <a:ext cx="4928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4000"/>
          </a:bodyPr>
          <a:p>
            <a:pPr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rgbClr val="000000"/>
                </a:solidFill>
                <a:latin typeface="Calibri"/>
                <a:ea typeface="DejaVu Sans"/>
              </a:rPr>
              <a:t>Keep the selected evidence fixed, then swap only the answerer. This separates routing quality from visual reasoning quality.</a:t>
            </a:r>
            <a:endParaRPr b="0" lang="en-US" sz="13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9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Evidence Policies and Cost Ladder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7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1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2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134" name="Rectangle 8"/>
          <p:cNvSpPr/>
          <p:nvPr/>
        </p:nvSpPr>
        <p:spPr>
          <a:xfrm>
            <a:off x="914400" y="4160520"/>
            <a:ext cx="4799880" cy="123372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TextBox 9"/>
          <p:cNvSpPr/>
          <p:nvPr/>
        </p:nvSpPr>
        <p:spPr>
          <a:xfrm>
            <a:off x="1078920" y="4270320"/>
            <a:ext cx="4470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1" lang="en-US" sz="1550" spc="-1" strike="noStrike">
                <a:solidFill>
                  <a:srgbClr val="2f5e8d"/>
                </a:solidFill>
                <a:latin typeface="Calibri"/>
                <a:ea typeface="DejaVu Sans"/>
              </a:rPr>
              <a:t>Training and roles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1078920" y="4636080"/>
            <a:ext cx="4470840" cy="6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1000"/>
          </a:bodyPr>
          <a:p>
            <a:pPr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rgbClr val="000000"/>
                </a:solidFill>
                <a:latin typeface="Calibri"/>
                <a:ea typeface="DejaVu Sans"/>
              </a:rPr>
              <a:t>Linear policy uses oracle-trace imitation. MLP+NMS is the final learned router; temporal NMS discourages redundant intervals. Qwen is only the answerer.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37" name="Rectangle 11"/>
          <p:cNvSpPr/>
          <p:nvPr/>
        </p:nvSpPr>
        <p:spPr>
          <a:xfrm>
            <a:off x="6400800" y="4160520"/>
            <a:ext cx="4799880" cy="123372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TextBox 12"/>
          <p:cNvSpPr/>
          <p:nvPr/>
        </p:nvSpPr>
        <p:spPr>
          <a:xfrm>
            <a:off x="6565320" y="4270320"/>
            <a:ext cx="4470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1" lang="en-US" sz="1550" spc="-1" strike="noStrike">
                <a:solidFill>
                  <a:srgbClr val="bc8600"/>
                </a:solidFill>
                <a:latin typeface="Calibri"/>
                <a:ea typeface="DejaVu Sans"/>
              </a:rPr>
              <a:t>References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139" name="TextBox 13"/>
          <p:cNvSpPr/>
          <p:nvPr/>
        </p:nvSpPr>
        <p:spPr>
          <a:xfrm>
            <a:off x="6565320" y="4636080"/>
            <a:ext cx="4470840" cy="6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4000"/>
          </a:bodyPr>
          <a:p>
            <a:pPr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rgbClr val="000000"/>
                </a:solidFill>
                <a:latin typeface="Calibri"/>
                <a:ea typeface="DejaVu Sans"/>
              </a:rPr>
              <a:t>Temporal-supervised, oracle, and fixed 3+3 rows are diagnostic/reference rows, not the proposed method.</a:t>
            </a:r>
            <a:endParaRPr b="0" lang="en-US" sz="1320" spc="-1" strike="noStrike">
              <a:latin typeface="Arial"/>
            </a:endParaRPr>
          </a:p>
        </p:txBody>
      </p:sp>
      <p:graphicFrame>
        <p:nvGraphicFramePr>
          <p:cNvPr id="140" name="Table 14"/>
          <p:cNvGraphicFramePr/>
          <p:nvPr/>
        </p:nvGraphicFramePr>
        <p:xfrm>
          <a:off x="548640" y="704160"/>
          <a:ext cx="11017800" cy="3428280"/>
        </p:xfrm>
        <a:graphic>
          <a:graphicData uri="http://schemas.openxmlformats.org/drawingml/2006/table">
            <a:tbl>
              <a:tblPr/>
              <a:tblGrid>
                <a:gridCol w="2383560"/>
                <a:gridCol w="3531240"/>
                <a:gridCol w="1094760"/>
                <a:gridCol w="1271160"/>
                <a:gridCol w="2737440"/>
              </a:tblGrid>
              <a:tr h="42840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Policy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Selection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  <a:endParaRPr b="0" lang="en-US" sz="10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</a:tr>
              <a:tr h="42840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One segment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top segment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1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1.500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low-cost control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40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Linear policy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oracle-trace imitation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2.795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compact baseline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42840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 top-2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candidate MLP scores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3.000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router ablation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40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MLP+NMS (Our)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 + temporal diversity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2.935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proposed selector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</a:tr>
              <a:tr h="42840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Temporal-supervised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overlap-label MLP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2.273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diagnostic router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40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Oracle top-2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ground-truth IoP from pool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2.493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headroom reference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4298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Fixed 3+3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3 frames + 3 segments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6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7.500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7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coverage reference</a:t>
                      </a:r>
                      <a:endParaRPr b="0" lang="en-US" sz="97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2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Experimental Setup and Metrics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43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8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4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5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46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147" name="Rectangle 7"/>
          <p:cNvSpPr/>
          <p:nvPr/>
        </p:nvSpPr>
        <p:spPr>
          <a:xfrm>
            <a:off x="685800" y="868680"/>
            <a:ext cx="3428280" cy="141660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8" name="TextBox 8"/>
          <p:cNvSpPr/>
          <p:nvPr/>
        </p:nvSpPr>
        <p:spPr>
          <a:xfrm>
            <a:off x="850320" y="978480"/>
            <a:ext cx="3099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2a598f"/>
                </a:solidFill>
                <a:latin typeface="Aptos"/>
                <a:ea typeface="DejaVu Sans"/>
              </a:rPr>
              <a:t>Dataset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9" name="TextBox 9"/>
          <p:cNvSpPr/>
          <p:nvPr/>
        </p:nvSpPr>
        <p:spPr>
          <a:xfrm>
            <a:off x="850320" y="1344240"/>
            <a:ext cx="3099240" cy="8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2000"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14181f"/>
                </a:solidFill>
                <a:latin typeface="Aptos"/>
                <a:ea typeface="DejaVu Sans"/>
              </a:rPr>
              <a:t>NExT-GQA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Validation: 3,358 examples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Test: 5,553 examples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0" name="Rectangle 10"/>
          <p:cNvSpPr/>
          <p:nvPr/>
        </p:nvSpPr>
        <p:spPr>
          <a:xfrm>
            <a:off x="4389120" y="868680"/>
            <a:ext cx="3428280" cy="141660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1" name="TextBox 11"/>
          <p:cNvSpPr/>
          <p:nvPr/>
        </p:nvSpPr>
        <p:spPr>
          <a:xfrm>
            <a:off x="4553640" y="978480"/>
            <a:ext cx="3099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3b8b74"/>
                </a:solidFill>
                <a:latin typeface="Aptos"/>
                <a:ea typeface="DejaVu Sans"/>
              </a:rPr>
              <a:t>Answerers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2" name="TextBox 12"/>
          <p:cNvSpPr/>
          <p:nvPr/>
        </p:nvSpPr>
        <p:spPr>
          <a:xfrm>
            <a:off x="4553640" y="1344240"/>
            <a:ext cx="3099240" cy="8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14181f"/>
                </a:solidFill>
                <a:latin typeface="Aptos"/>
                <a:ea typeface="DejaVu Sans"/>
              </a:rPr>
              <a:t>Frozen CLIP-style scorer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Qwen2.5-VL-3B-Instruct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3" name="Rectangle 13"/>
          <p:cNvSpPr/>
          <p:nvPr/>
        </p:nvSpPr>
        <p:spPr>
          <a:xfrm>
            <a:off x="8092440" y="868680"/>
            <a:ext cx="3428280" cy="141660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4" name="TextBox 14"/>
          <p:cNvSpPr/>
          <p:nvPr/>
        </p:nvSpPr>
        <p:spPr>
          <a:xfrm>
            <a:off x="8256960" y="978480"/>
            <a:ext cx="3099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b08400"/>
                </a:solidFill>
                <a:latin typeface="Aptos"/>
                <a:ea typeface="DejaVu Sans"/>
              </a:rPr>
              <a:t>Protocol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5" name="TextBox 15"/>
          <p:cNvSpPr/>
          <p:nvPr/>
        </p:nvSpPr>
        <p:spPr>
          <a:xfrm>
            <a:off x="8256960" y="1344240"/>
            <a:ext cx="3099240" cy="8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  <a:ea typeface="DejaVu Sans"/>
              </a:rPr>
              <a:t>Same selected evidence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  <a:ea typeface="DejaVu Sans"/>
              </a:rPr>
              <a:t>Swap only final answerer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  <a:ea typeface="DejaVu Sans"/>
              </a:rPr>
              <a:t>Deterministic Qwen decoding</a:t>
            </a:r>
            <a:endParaRPr b="0" lang="en-US" sz="1350" spc="-1" strike="noStrike">
              <a:latin typeface="Arial"/>
            </a:endParaRPr>
          </a:p>
        </p:txBody>
      </p:sp>
      <p:graphicFrame>
        <p:nvGraphicFramePr>
          <p:cNvPr id="156" name="Table 16"/>
          <p:cNvGraphicFramePr/>
          <p:nvPr/>
        </p:nvGraphicFramePr>
        <p:xfrm>
          <a:off x="777240" y="2788920"/>
          <a:ext cx="10652040" cy="2239560"/>
        </p:xfrm>
        <a:graphic>
          <a:graphicData uri="http://schemas.openxmlformats.org/drawingml/2006/table">
            <a:tbl>
              <a:tblPr/>
              <a:tblGrid>
                <a:gridCol w="5326200"/>
                <a:gridCol w="5326200"/>
              </a:tblGrid>
              <a:tr h="37332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  <a:endParaRPr b="0" lang="en-US" sz="115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</a:tr>
              <a:tr h="37332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Acc@QA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Whether the answer letter is correct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332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Cost / Count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Amount of visual evidence acquired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37332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mIoP, IoP@0.5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Selected evidence is inside the support span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332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mIoU, IoU@0.5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Stricter temporal overlap with support span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37332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Acc@GQA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Correct answer and IoP@0.5 grounding success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8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Main Comparison: Answer Accuracy Is Not Grounding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59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9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0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1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62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163" name="Rectangle 8"/>
          <p:cNvSpPr/>
          <p:nvPr/>
        </p:nvSpPr>
        <p:spPr>
          <a:xfrm>
            <a:off x="822960" y="5010840"/>
            <a:ext cx="3428280" cy="105084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4" name="TextBox 9"/>
          <p:cNvSpPr/>
          <p:nvPr/>
        </p:nvSpPr>
        <p:spPr>
          <a:xfrm>
            <a:off x="987480" y="5120640"/>
            <a:ext cx="3099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1" lang="en-US" sz="1550" spc="-1" strike="noStrike">
                <a:solidFill>
                  <a:srgbClr val="2f5e8d"/>
                </a:solidFill>
                <a:latin typeface="Calibri"/>
                <a:ea typeface="DejaVu Sans"/>
              </a:rPr>
              <a:t>Protocol context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165" name="TextBox 10"/>
          <p:cNvSpPr/>
          <p:nvPr/>
        </p:nvSpPr>
        <p:spPr>
          <a:xfrm>
            <a:off x="987480" y="5486400"/>
            <a:ext cx="309924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rgbClr val="000000"/>
                </a:solidFill>
                <a:latin typeface="Calibri"/>
                <a:ea typeface="DejaVu Sans"/>
              </a:rPr>
              <a:t>Prior rows use official NExT-GQA metrics; our grounding uses selected-evidence best overlap.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66" name="Rectangle 11"/>
          <p:cNvSpPr/>
          <p:nvPr/>
        </p:nvSpPr>
        <p:spPr>
          <a:xfrm>
            <a:off x="4389120" y="5010840"/>
            <a:ext cx="3428280" cy="105084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7" name="TextBox 12"/>
          <p:cNvSpPr/>
          <p:nvPr/>
        </p:nvSpPr>
        <p:spPr>
          <a:xfrm>
            <a:off x="4553640" y="5120640"/>
            <a:ext cx="3099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1" lang="en-US" sz="1550" spc="-1" strike="noStrike">
                <a:solidFill>
                  <a:srgbClr val="3f927d"/>
                </a:solidFill>
                <a:latin typeface="Calibri"/>
                <a:ea typeface="DejaVu Sans"/>
              </a:rPr>
              <a:t>Proposed point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168" name="TextBox 13"/>
          <p:cNvSpPr/>
          <p:nvPr/>
        </p:nvSpPr>
        <p:spPr>
          <a:xfrm>
            <a:off x="4553640" y="5486400"/>
            <a:ext cx="309924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0000"/>
          </a:bodyPr>
          <a:p>
            <a:pPr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rgbClr val="000000"/>
                </a:solidFill>
                <a:latin typeface="Calibri"/>
                <a:ea typeface="DejaVu Sans"/>
              </a:rPr>
              <a:t>Qwen MLP+NMS (Our): 0.689 Acc@QA, 0.321 Acc@GQA, cost 2.935.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69" name="Rectangle 14"/>
          <p:cNvSpPr/>
          <p:nvPr/>
        </p:nvSpPr>
        <p:spPr>
          <a:xfrm>
            <a:off x="7955280" y="5010840"/>
            <a:ext cx="3428280" cy="105084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0" name="TextBox 15"/>
          <p:cNvSpPr/>
          <p:nvPr/>
        </p:nvSpPr>
        <p:spPr>
          <a:xfrm>
            <a:off x="8119800" y="5120640"/>
            <a:ext cx="3099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1" lang="en-US" sz="1550" spc="-1" strike="noStrike">
                <a:solidFill>
                  <a:srgbClr val="bc8600"/>
                </a:solidFill>
                <a:latin typeface="Calibri"/>
                <a:ea typeface="DejaVu Sans"/>
              </a:rPr>
              <a:t>References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171" name="TextBox 16"/>
          <p:cNvSpPr/>
          <p:nvPr/>
        </p:nvSpPr>
        <p:spPr>
          <a:xfrm>
            <a:off x="8119800" y="5486400"/>
            <a:ext cx="309924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rgbClr val="000000"/>
                </a:solidFill>
                <a:latin typeface="Calibri"/>
                <a:ea typeface="DejaVu Sans"/>
              </a:rPr>
              <a:t>Oracle top-2 reaches 0.442 Acc@GQA at cost 2.493; fixed 3+3 reaches 0.454 at cost 7.500.</a:t>
            </a:r>
            <a:endParaRPr b="0" lang="en-US" sz="1320" spc="-1" strike="noStrike">
              <a:latin typeface="Arial"/>
            </a:endParaRPr>
          </a:p>
        </p:txBody>
      </p:sp>
      <p:pic>
        <p:nvPicPr>
          <p:cNvPr id="172" name="Picture 17" descr="main_comparison.png"/>
          <p:cNvPicPr/>
          <p:nvPr/>
        </p:nvPicPr>
        <p:blipFill>
          <a:blip r:embed="rId1"/>
          <a:stretch/>
        </p:blipFill>
        <p:spPr>
          <a:xfrm>
            <a:off x="685800" y="777240"/>
            <a:ext cx="10834920" cy="3897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4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Result 1: Frozen Answerer Is the Bottleneck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75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10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76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7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78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graphicFrame>
        <p:nvGraphicFramePr>
          <p:cNvPr id="179" name="Table 7"/>
          <p:cNvGraphicFramePr/>
          <p:nvPr/>
        </p:nvGraphicFramePr>
        <p:xfrm>
          <a:off x="685800" y="914400"/>
          <a:ext cx="10834920" cy="2422440"/>
        </p:xfrm>
        <a:graphic>
          <a:graphicData uri="http://schemas.openxmlformats.org/drawingml/2006/table">
            <a:tbl>
              <a:tblPr/>
              <a:tblGrid>
                <a:gridCol w="2166840"/>
                <a:gridCol w="2166840"/>
                <a:gridCol w="2166840"/>
                <a:gridCol w="2166840"/>
                <a:gridCol w="2167920"/>
              </a:tblGrid>
              <a:tr h="48456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8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Method</a:t>
                      </a:r>
                      <a:endParaRPr b="0" lang="en-US" sz="11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8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Acc@QA</a:t>
                      </a:r>
                      <a:endParaRPr b="0" lang="en-US" sz="11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8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Cost</a:t>
                      </a:r>
                      <a:endParaRPr b="0" lang="en-US" sz="11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8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IoP@0.5</a:t>
                      </a:r>
                      <a:endParaRPr b="0" lang="en-US" sz="11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8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Acc@GQA</a:t>
                      </a:r>
                      <a:endParaRPr b="0" lang="en-US" sz="11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</a:tr>
              <a:tr h="48456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One segment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0.378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1.500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0.311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0.124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Linear policy, two items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0.381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2.795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0.410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0.164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48456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Fixed 3 frames + 3 segments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0.388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7.500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0.615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0.245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Fixed 6 frames + 6 segments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0.394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14.908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0.787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0.316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180" name="Rectangle 8"/>
          <p:cNvSpPr/>
          <p:nvPr/>
        </p:nvSpPr>
        <p:spPr>
          <a:xfrm>
            <a:off x="822960" y="3886200"/>
            <a:ext cx="4982760" cy="137088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1" name="TextBox 9"/>
          <p:cNvSpPr/>
          <p:nvPr/>
        </p:nvSpPr>
        <p:spPr>
          <a:xfrm>
            <a:off x="987480" y="3996000"/>
            <a:ext cx="46537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1" lang="en-US" sz="1550" spc="-1" strike="noStrike">
                <a:solidFill>
                  <a:srgbClr val="2a598f"/>
                </a:solidFill>
                <a:latin typeface="Aptos"/>
                <a:ea typeface="DejaVu Sans"/>
              </a:rPr>
              <a:t>Observation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182" name="TextBox 10"/>
          <p:cNvSpPr/>
          <p:nvPr/>
        </p:nvSpPr>
        <p:spPr>
          <a:xfrm>
            <a:off x="987480" y="4361760"/>
            <a:ext cx="4653720" cy="7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rgbClr val="000000"/>
                </a:solidFill>
                <a:latin typeface="Calibri"/>
                <a:ea typeface="DejaVu Sans"/>
              </a:rPr>
              <a:t>Temporal coverage improves as evidence budget increases, but answer accuracy remains near 0.38-0.39.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83" name="Rectangle 11"/>
          <p:cNvSpPr/>
          <p:nvPr/>
        </p:nvSpPr>
        <p:spPr>
          <a:xfrm>
            <a:off x="6355080" y="3886200"/>
            <a:ext cx="4982760" cy="137088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4" name="TextBox 12"/>
          <p:cNvSpPr/>
          <p:nvPr/>
        </p:nvSpPr>
        <p:spPr>
          <a:xfrm>
            <a:off x="6519600" y="3996000"/>
            <a:ext cx="46537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1" lang="en-US" sz="1550" spc="-1" strike="noStrike">
                <a:solidFill>
                  <a:srgbClr val="b08400"/>
                </a:solidFill>
                <a:latin typeface="Aptos"/>
                <a:ea typeface="DejaVu Sans"/>
              </a:rPr>
              <a:t>Conclusion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185" name="TextBox 13"/>
          <p:cNvSpPr/>
          <p:nvPr/>
        </p:nvSpPr>
        <p:spPr>
          <a:xfrm>
            <a:off x="6519600" y="4361760"/>
            <a:ext cx="4653720" cy="7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rgbClr val="000000"/>
                </a:solidFill>
                <a:latin typeface="Calibri"/>
                <a:ea typeface="DejaVu Sans"/>
              </a:rPr>
              <a:t>A weak answerer can hide evidence-selection improvements in the answer metric.</a:t>
            </a:r>
            <a:endParaRPr b="0" lang="en-US" sz="13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7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Result 2: Stronger VLM Reveals the Tradeoff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88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11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89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0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91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192" name="Rectangle 8"/>
          <p:cNvSpPr/>
          <p:nvPr/>
        </p:nvSpPr>
        <p:spPr>
          <a:xfrm>
            <a:off x="914400" y="3657600"/>
            <a:ext cx="3382560" cy="867960"/>
          </a:xfrm>
          <a:prstGeom prst="rect">
            <a:avLst/>
          </a:prstGeom>
          <a:solidFill>
            <a:srgbClr val="f8fafc"/>
          </a:solidFill>
          <a:ln w="1778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3" name="TextBox 9"/>
          <p:cNvSpPr/>
          <p:nvPr/>
        </p:nvSpPr>
        <p:spPr>
          <a:xfrm>
            <a:off x="996840" y="3785760"/>
            <a:ext cx="3218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2000"/>
          </a:bodyPr>
          <a:p>
            <a:pPr algn="ctr">
              <a:lnSpc>
                <a:spcPct val="100000"/>
              </a:lnSpc>
              <a:buNone/>
            </a:pPr>
            <a:r>
              <a:rPr b="1" lang="en-US" sz="1320" spc="-1" strike="noStrike">
                <a:solidFill>
                  <a:srgbClr val="2f5e8d"/>
                </a:solidFill>
                <a:latin typeface="Calibri"/>
                <a:ea typeface="DejaVu Sans"/>
              </a:rPr>
              <a:t>Answer retained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94" name="TextBox 10"/>
          <p:cNvSpPr/>
          <p:nvPr/>
        </p:nvSpPr>
        <p:spPr>
          <a:xfrm>
            <a:off x="996840" y="4060080"/>
            <a:ext cx="32180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3f927d"/>
                </a:solidFill>
                <a:latin typeface="Calibri"/>
                <a:ea typeface="DejaVu Sans"/>
              </a:rPr>
              <a:t>95%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95" name="Rectangle 11"/>
          <p:cNvSpPr/>
          <p:nvPr/>
        </p:nvSpPr>
        <p:spPr>
          <a:xfrm>
            <a:off x="4389120" y="3657600"/>
            <a:ext cx="3382560" cy="867960"/>
          </a:xfrm>
          <a:prstGeom prst="rect">
            <a:avLst/>
          </a:prstGeom>
          <a:solidFill>
            <a:srgbClr val="f8fafc"/>
          </a:solidFill>
          <a:ln w="1778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6" name="TextBox 12"/>
          <p:cNvSpPr/>
          <p:nvPr/>
        </p:nvSpPr>
        <p:spPr>
          <a:xfrm>
            <a:off x="4471560" y="3785760"/>
            <a:ext cx="3218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2000"/>
          </a:bodyPr>
          <a:p>
            <a:pPr algn="ctr">
              <a:lnSpc>
                <a:spcPct val="100000"/>
              </a:lnSpc>
              <a:buNone/>
            </a:pPr>
            <a:r>
              <a:rPr b="1" lang="en-US" sz="1320" spc="-1" strike="noStrike">
                <a:solidFill>
                  <a:srgbClr val="2f5e8d"/>
                </a:solidFill>
                <a:latin typeface="Calibri"/>
                <a:ea typeface="DejaVu Sans"/>
              </a:rPr>
              <a:t>Cost used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97" name="TextBox 13"/>
          <p:cNvSpPr/>
          <p:nvPr/>
        </p:nvSpPr>
        <p:spPr>
          <a:xfrm>
            <a:off x="4471560" y="4060080"/>
            <a:ext cx="32180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3f927d"/>
                </a:solidFill>
                <a:latin typeface="Calibri"/>
                <a:ea typeface="DejaVu Sans"/>
              </a:rPr>
              <a:t>39%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98" name="Rectangle 14"/>
          <p:cNvSpPr/>
          <p:nvPr/>
        </p:nvSpPr>
        <p:spPr>
          <a:xfrm>
            <a:off x="7863840" y="3657600"/>
            <a:ext cx="3382560" cy="867960"/>
          </a:xfrm>
          <a:prstGeom prst="rect">
            <a:avLst/>
          </a:prstGeom>
          <a:solidFill>
            <a:srgbClr val="f8fafc"/>
          </a:solidFill>
          <a:ln w="1778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9" name="TextBox 15"/>
          <p:cNvSpPr/>
          <p:nvPr/>
        </p:nvSpPr>
        <p:spPr>
          <a:xfrm>
            <a:off x="7946280" y="3785760"/>
            <a:ext cx="3218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2000"/>
          </a:bodyPr>
          <a:p>
            <a:pPr algn="ctr">
              <a:lnSpc>
                <a:spcPct val="100000"/>
              </a:lnSpc>
              <a:buNone/>
            </a:pPr>
            <a:r>
              <a:rPr b="1" lang="en-US" sz="1320" spc="-1" strike="noStrike">
                <a:solidFill>
                  <a:srgbClr val="2f5e8d"/>
                </a:solidFill>
                <a:latin typeface="Calibri"/>
                <a:ea typeface="DejaVu Sans"/>
              </a:rPr>
              <a:t>Acc@GQA retained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200" name="TextBox 16"/>
          <p:cNvSpPr/>
          <p:nvPr/>
        </p:nvSpPr>
        <p:spPr>
          <a:xfrm>
            <a:off x="7946280" y="4060080"/>
            <a:ext cx="32180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3f927d"/>
                </a:solidFill>
                <a:latin typeface="Calibri"/>
                <a:ea typeface="DejaVu Sans"/>
              </a:rPr>
              <a:t>71%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201" name="TextBox 17"/>
          <p:cNvSpPr/>
          <p:nvPr/>
        </p:nvSpPr>
        <p:spPr>
          <a:xfrm>
            <a:off x="1005840" y="5074920"/>
            <a:ext cx="101491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50" spc="-1" strike="noStrike">
                <a:solidFill>
                  <a:srgbClr val="111827"/>
                </a:solidFill>
                <a:latin typeface="Calibri"/>
                <a:ea typeface="DejaVu Sans"/>
              </a:rPr>
              <a:t>MLP+NMS is the strongest learned grounded selector; temporal supervision is cheaper but under-covers by IoU, and oracle top-2 shows routing headroom.</a:t>
            </a:r>
            <a:endParaRPr b="0" lang="en-US" sz="1450" spc="-1" strike="noStrike">
              <a:latin typeface="Arial"/>
            </a:endParaRPr>
          </a:p>
        </p:txBody>
      </p:sp>
      <p:graphicFrame>
        <p:nvGraphicFramePr>
          <p:cNvPr id="202" name="Table 18"/>
          <p:cNvGraphicFramePr/>
          <p:nvPr/>
        </p:nvGraphicFramePr>
        <p:xfrm>
          <a:off x="502920" y="685800"/>
          <a:ext cx="11200680" cy="3108240"/>
        </p:xfrm>
        <a:graphic>
          <a:graphicData uri="http://schemas.openxmlformats.org/drawingml/2006/table">
            <a:tbl>
              <a:tblPr/>
              <a:tblGrid>
                <a:gridCol w="3920400"/>
                <a:gridCol w="1400040"/>
                <a:gridCol w="1306800"/>
                <a:gridCol w="1586520"/>
                <a:gridCol w="1306800"/>
                <a:gridCol w="1680480"/>
              </a:tblGrid>
              <a:tr h="388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6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  <a:endParaRPr b="0" lang="en-US" sz="106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6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Acc@QA</a:t>
                      </a:r>
                      <a:endParaRPr b="0" lang="en-US" sz="106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6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  <a:endParaRPr b="0" lang="en-US" sz="106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6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IoP@0.5</a:t>
                      </a:r>
                      <a:endParaRPr b="0" lang="en-US" sz="106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6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mIoU</a:t>
                      </a:r>
                      <a:endParaRPr b="0" lang="en-US" sz="106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6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Acc@GQA</a:t>
                      </a:r>
                      <a:endParaRPr b="0" lang="en-US" sz="106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</a:tr>
              <a:tr h="388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One segment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0.668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1.500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0.311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0.165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0.221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8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Linear policy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0.696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2.795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0.410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0.206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0.297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388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 top-2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0.687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3.000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0.423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0.238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0.301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8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MLP+NMS (Our)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0.689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2.935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0.453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0.246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0.321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</a:tr>
              <a:tr h="388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Temporal-supervised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0.696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2.273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0.432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0.088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0.312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8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Oracle top-2 ref.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0.701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2.493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0.615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0.224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0.442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38952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Fixed 3+3 ref.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0.724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7.500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0.615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0.296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0.454</a:t>
                      </a:r>
                      <a:endParaRPr b="0" lang="en-US" sz="9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4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Accuracy-Cost-Grounding Tradeoff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205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12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06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7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08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209" name="Rectangle 8"/>
          <p:cNvSpPr/>
          <p:nvPr/>
        </p:nvSpPr>
        <p:spPr>
          <a:xfrm>
            <a:off x="1005840" y="5074920"/>
            <a:ext cx="10149120" cy="102348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0" name="TextBox 9"/>
          <p:cNvSpPr/>
          <p:nvPr/>
        </p:nvSpPr>
        <p:spPr>
          <a:xfrm>
            <a:off x="1170360" y="5184720"/>
            <a:ext cx="9820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1" lang="en-US" sz="1550" spc="-1" strike="noStrike">
                <a:solidFill>
                  <a:srgbClr val="2f5e8d"/>
                </a:solidFill>
                <a:latin typeface="Calibri"/>
                <a:ea typeface="DejaVu Sans"/>
              </a:rPr>
              <a:t>Interpretation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211" name="TextBox 10"/>
          <p:cNvSpPr/>
          <p:nvPr/>
        </p:nvSpPr>
        <p:spPr>
          <a:xfrm>
            <a:off x="1170360" y="5550480"/>
            <a:ext cx="98200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6000"/>
          </a:bodyPr>
          <a:p>
            <a:pPr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rgbClr val="000000"/>
                </a:solidFill>
                <a:latin typeface="Calibri"/>
                <a:ea typeface="DejaVu Sans"/>
              </a:rPr>
              <a:t>Answer accuracy is relatively flat among compact selectors, but Acc@GQA separates evidence quality. MLP+NMS is the strongest learned grounded point; oracle top-2 shows compact support exists in the pool.</a:t>
            </a:r>
            <a:endParaRPr b="0" lang="en-US" sz="1320" spc="-1" strike="noStrike">
              <a:latin typeface="Arial"/>
            </a:endParaRPr>
          </a:p>
        </p:txBody>
      </p:sp>
      <p:pic>
        <p:nvPicPr>
          <p:cNvPr id="212" name="Picture 11" descr="qwen_tradeoff.png"/>
          <p:cNvPicPr/>
          <p:nvPr/>
        </p:nvPicPr>
        <p:blipFill>
          <a:blip r:embed="rId1"/>
          <a:stretch/>
        </p:blipFill>
        <p:spPr>
          <a:xfrm>
            <a:off x="502920" y="777240"/>
            <a:ext cx="11154960" cy="4091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4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Qualitative Lessons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215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13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6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18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219" name="Rectangle 8"/>
          <p:cNvSpPr/>
          <p:nvPr/>
        </p:nvSpPr>
        <p:spPr>
          <a:xfrm>
            <a:off x="914400" y="4572000"/>
            <a:ext cx="10377720" cy="95940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0" name="TextBox 9"/>
          <p:cNvSpPr/>
          <p:nvPr/>
        </p:nvSpPr>
        <p:spPr>
          <a:xfrm>
            <a:off x="1078920" y="4681800"/>
            <a:ext cx="10048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1" lang="en-US" sz="1550" spc="-1" strike="noStrike">
                <a:solidFill>
                  <a:srgbClr val="3b8b74"/>
                </a:solidFill>
                <a:latin typeface="Aptos"/>
                <a:ea typeface="DejaVu Sans"/>
              </a:rPr>
              <a:t>Takeaway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221" name="TextBox 10"/>
          <p:cNvSpPr/>
          <p:nvPr/>
        </p:nvSpPr>
        <p:spPr>
          <a:xfrm>
            <a:off x="1078920" y="5047560"/>
            <a:ext cx="1004868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/>
          </a:bodyPr>
          <a:p>
            <a:pPr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rgbClr val="000000"/>
                </a:solidFill>
                <a:latin typeface="Calibri"/>
                <a:ea typeface="DejaVu Sans"/>
              </a:rPr>
              <a:t>The qualitative examples support the same conclusion as the tables: the remaining bottleneck is ranking and diversifying support evidence, not simply adding a stronger answerer.</a:t>
            </a:r>
            <a:endParaRPr b="0" lang="en-US" sz="1320" spc="-1" strike="noStrike">
              <a:latin typeface="Arial"/>
            </a:endParaRPr>
          </a:p>
        </p:txBody>
      </p:sp>
      <p:graphicFrame>
        <p:nvGraphicFramePr>
          <p:cNvPr id="222" name="Table 11"/>
          <p:cNvGraphicFramePr/>
          <p:nvPr/>
        </p:nvGraphicFramePr>
        <p:xfrm>
          <a:off x="502920" y="822960"/>
          <a:ext cx="11200680" cy="3245400"/>
        </p:xfrm>
        <a:graphic>
          <a:graphicData uri="http://schemas.openxmlformats.org/drawingml/2006/table">
            <a:tbl>
              <a:tblPr/>
              <a:tblGrid>
                <a:gridCol w="2426760"/>
                <a:gridCol w="5040360"/>
                <a:gridCol w="3733920"/>
              </a:tblGrid>
              <a:tr h="811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8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Case from report</a:t>
                      </a:r>
                      <a:endParaRPr b="0" lang="en-US" sz="11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8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What happens</a:t>
                      </a:r>
                      <a:endParaRPr b="0" lang="en-US" sz="11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18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  <a:endParaRPr b="0" lang="en-US" sz="11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</a:tr>
              <a:tr h="811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Temporal NMS helps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 top-2 selects redundant late evidence; MLP+NMS recovers support overlap while preserving the answer.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Diversity filtering improves compact grounding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1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Router misses support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MLP+NMS can miss the annotated moment; oracle top-2 and fixed 3+3 recover it from the same pool.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Candidate pool has headroom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811440">
                <a:tc>
                  <a:txBody>
                    <a:bodyPr lIns="37800" rIns="37800" tIns="25200" bIns="252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Grounding and answering separate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High temporal overlap can still produce a wrong answer, and correct answers can be weakly grounded.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rIns="37800" tIns="25200" bIns="252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8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Report Acc@QA, cost, IoP/IoU, and Acc@GQA together</a:t>
                      </a:r>
                      <a:endParaRPr b="0" lang="en-US" sz="1080" spc="-1" strike="noStrike">
                        <a:latin typeface="Arial"/>
                      </a:endParaRPr>
                    </a:p>
                  </a:txBody>
                  <a:tcPr anchor="ctr" marL="37800" marR="3780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4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Answers to the Opening Questions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225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14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26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7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28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229" name="Rectangle 7"/>
          <p:cNvSpPr/>
          <p:nvPr/>
        </p:nvSpPr>
        <p:spPr>
          <a:xfrm>
            <a:off x="777240" y="822960"/>
            <a:ext cx="10652040" cy="107820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0" name="TextBox 8"/>
          <p:cNvSpPr/>
          <p:nvPr/>
        </p:nvSpPr>
        <p:spPr>
          <a:xfrm>
            <a:off x="941760" y="932760"/>
            <a:ext cx="10323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2a598f"/>
                </a:solidFill>
                <a:latin typeface="Aptos"/>
                <a:ea typeface="DejaVu Sans"/>
              </a:rPr>
              <a:t>Q1. Same evidence budget for every question?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31" name="TextBox 9"/>
          <p:cNvSpPr/>
          <p:nvPr/>
        </p:nvSpPr>
        <p:spPr>
          <a:xfrm>
            <a:off x="941760" y="1298520"/>
            <a:ext cx="103230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1000"/>
          </a:bodyPr>
          <a:p>
            <a:pPr>
              <a:lnSpc>
                <a:spcPct val="100000"/>
              </a:lnSpc>
              <a:buNone/>
            </a:pPr>
            <a:r>
              <a:rPr b="0" lang="en-US" sz="1450" spc="-1" strike="noStrike">
                <a:solidFill>
                  <a:srgbClr val="000000"/>
                </a:solidFill>
                <a:latin typeface="Calibri"/>
                <a:ea typeface="DejaVu Sans"/>
              </a:rPr>
              <a:t>No. Some questions need one short segment; others need broader temporal coverage. Fixed context can be wasteful or weakly grounded.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232" name="Rectangle 10"/>
          <p:cNvSpPr/>
          <p:nvPr/>
        </p:nvSpPr>
        <p:spPr>
          <a:xfrm>
            <a:off x="777240" y="2331720"/>
            <a:ext cx="10652040" cy="107820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3" name="TextBox 11"/>
          <p:cNvSpPr/>
          <p:nvPr/>
        </p:nvSpPr>
        <p:spPr>
          <a:xfrm>
            <a:off x="941760" y="2441520"/>
            <a:ext cx="10323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3b8b74"/>
                </a:solidFill>
                <a:latin typeface="Aptos"/>
                <a:ea typeface="DejaVu Sans"/>
              </a:rPr>
              <a:t>Q2. Can compact learned evidence preserve accuracy?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34" name="TextBox 12"/>
          <p:cNvSpPr/>
          <p:nvPr/>
        </p:nvSpPr>
        <p:spPr>
          <a:xfrm>
            <a:off x="941760" y="2807280"/>
            <a:ext cx="103230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1000"/>
          </a:bodyPr>
          <a:p>
            <a:pPr>
              <a:lnSpc>
                <a:spcPct val="100000"/>
              </a:lnSpc>
              <a:buNone/>
            </a:pPr>
            <a:r>
              <a:rPr b="0" lang="en-US" sz="1450" spc="-1" strike="noStrike">
                <a:solidFill>
                  <a:srgbClr val="000000"/>
                </a:solidFill>
                <a:latin typeface="Calibri"/>
                <a:ea typeface="DejaVu Sans"/>
              </a:rPr>
              <a:t>Yes. MLP+NMS improves Acc@GQA by 10.0 points over one segment, keeps about 95% of fixed 3+3 answer accuracy, and uses 39% of its evidence cost.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235" name="Rectangle 13"/>
          <p:cNvSpPr/>
          <p:nvPr/>
        </p:nvSpPr>
        <p:spPr>
          <a:xfrm>
            <a:off x="777240" y="3840480"/>
            <a:ext cx="10652040" cy="107820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6" name="TextBox 14"/>
          <p:cNvSpPr/>
          <p:nvPr/>
        </p:nvSpPr>
        <p:spPr>
          <a:xfrm>
            <a:off x="941760" y="3950280"/>
            <a:ext cx="10323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b08400"/>
                </a:solidFill>
                <a:latin typeface="Aptos"/>
                <a:ea typeface="DejaVu Sans"/>
              </a:rPr>
              <a:t>Q3. Evidence problem or answerer problem?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37" name="TextBox 15"/>
          <p:cNvSpPr/>
          <p:nvPr/>
        </p:nvSpPr>
        <p:spPr>
          <a:xfrm>
            <a:off x="941760" y="4316040"/>
            <a:ext cx="103230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1000"/>
          </a:bodyPr>
          <a:p>
            <a:pPr>
              <a:lnSpc>
                <a:spcPct val="100000"/>
              </a:lnSpc>
              <a:buNone/>
            </a:pPr>
            <a:r>
              <a:rPr b="0" lang="en-US" sz="1450" spc="-1" strike="noStrike">
                <a:solidFill>
                  <a:srgbClr val="000000"/>
                </a:solidFill>
                <a:latin typeface="Calibri"/>
                <a:ea typeface="DejaVu Sans"/>
              </a:rPr>
              <a:t>Both, but the final gap is mainly routing. The frozen answerer hides evidence gains; Qwen exposes them; oracle top-2 shows compact support exists in the pool.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238" name="TextBox 16"/>
          <p:cNvSpPr/>
          <p:nvPr/>
        </p:nvSpPr>
        <p:spPr>
          <a:xfrm>
            <a:off x="914400" y="562356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0000"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2f5e8d"/>
                </a:solidFill>
                <a:latin typeface="Calibri"/>
                <a:ea typeface="DejaVu Sans"/>
              </a:rPr>
              <a:t>The final claim is a Pareto view: answer accuracy, temporal grounding, and evidence cost must be reported together.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Rectangle 1"/>
          <p:cNvSpPr/>
          <p:nvPr/>
        </p:nvSpPr>
        <p:spPr>
          <a:xfrm>
            <a:off x="0" y="0"/>
            <a:ext cx="12191040" cy="47484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0" name="TextBox 2"/>
          <p:cNvSpPr/>
          <p:nvPr/>
        </p:nvSpPr>
        <p:spPr>
          <a:xfrm>
            <a:off x="320040" y="68760"/>
            <a:ext cx="96919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1000"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ptos"/>
                <a:ea typeface="DejaVu Sans"/>
              </a:rPr>
              <a:t>Final Takeaway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241" name="TextBox 3"/>
          <p:cNvSpPr/>
          <p:nvPr/>
        </p:nvSpPr>
        <p:spPr>
          <a:xfrm>
            <a:off x="10561320" y="86760"/>
            <a:ext cx="1233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  <a:ea typeface="DejaVu Sans"/>
              </a:rPr>
              <a:t>15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42" name="Rectangle 4"/>
          <p:cNvSpPr/>
          <p:nvPr/>
        </p:nvSpPr>
        <p:spPr>
          <a:xfrm>
            <a:off x="0" y="6574680"/>
            <a:ext cx="12191040" cy="28260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3" name="TextBox 5"/>
          <p:cNvSpPr/>
          <p:nvPr/>
        </p:nvSpPr>
        <p:spPr>
          <a:xfrm>
            <a:off x="320040" y="6629400"/>
            <a:ext cx="7771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  <a:ea typeface="DejaVu San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44" name="TextBox 6"/>
          <p:cNvSpPr/>
          <p:nvPr/>
        </p:nvSpPr>
        <p:spPr>
          <a:xfrm>
            <a:off x="9372600" y="6629400"/>
            <a:ext cx="2468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4160" bIns="164160" anchor="t">
            <a:normAutofit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  <a:ea typeface="DejaVu Sans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245" name="TextBox 7"/>
          <p:cNvSpPr/>
          <p:nvPr/>
        </p:nvSpPr>
        <p:spPr>
          <a:xfrm>
            <a:off x="822960" y="914400"/>
            <a:ext cx="105606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111827"/>
                </a:solidFill>
                <a:latin typeface="Calibri"/>
                <a:ea typeface="DejaVu Sans"/>
              </a:rPr>
              <a:t>Grounded VideoQA should be evaluated as evidence acquisition followed by answer generation.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246" name="TextBox 8"/>
          <p:cNvSpPr/>
          <p:nvPr/>
        </p:nvSpPr>
        <p:spPr>
          <a:xfrm>
            <a:off x="1143000" y="2148840"/>
            <a:ext cx="996624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  <a:ea typeface="DejaVu Sans"/>
              </a:rPr>
              <a:t>MLP+NMS is the best learned selector: 0.321 Acc@GQA at cost 2.935.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  <a:ea typeface="DejaVu Sans"/>
              </a:rPr>
              <a:t>Fixed 3+3 is strongest but expensive: 0.454 Acc@GQA at cost 7.500.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  <a:ea typeface="DejaVu Sans"/>
              </a:rPr>
              <a:t>Oracle top-2 reaches 0.442 Acc@GQA at cost 2.493, so compact support exists in the pool.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  <a:ea typeface="DejaVu Sans"/>
              </a:rPr>
              <a:t>The remaining bottleneck is ranking and diversifying the support evidence.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247" name="Rectangle 9"/>
          <p:cNvSpPr/>
          <p:nvPr/>
        </p:nvSpPr>
        <p:spPr>
          <a:xfrm>
            <a:off x="1463040" y="4892040"/>
            <a:ext cx="9234720" cy="86796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8" name="TextBox 10"/>
          <p:cNvSpPr/>
          <p:nvPr/>
        </p:nvSpPr>
        <p:spPr>
          <a:xfrm>
            <a:off x="1627560" y="5001840"/>
            <a:ext cx="890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5000"/>
          </a:bodyPr>
          <a:p>
            <a:pPr>
              <a:lnSpc>
                <a:spcPct val="100000"/>
              </a:lnSpc>
              <a:buNone/>
            </a:pPr>
            <a:r>
              <a:rPr b="1" lang="en-US" sz="1450" spc="-1" strike="noStrike">
                <a:solidFill>
                  <a:srgbClr val="2f5e8d"/>
                </a:solidFill>
                <a:latin typeface="Calibri"/>
                <a:ea typeface="DejaVu Sans"/>
              </a:rPr>
              <a:t>One-line closing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249" name="TextBox 11"/>
          <p:cNvSpPr/>
          <p:nvPr/>
        </p:nvSpPr>
        <p:spPr>
          <a:xfrm>
            <a:off x="1627560" y="5367600"/>
            <a:ext cx="890568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450" spc="-1" strike="noStrike">
                <a:solidFill>
                  <a:srgbClr val="111827"/>
                </a:solidFill>
                <a:latin typeface="Calibri"/>
                <a:ea typeface="DejaVu Sans"/>
              </a:rPr>
              <a:t>Report answer accuracy, evidence cost, and temporal grounding together.</a:t>
            </a:r>
            <a:endParaRPr b="0" lang="en-US" sz="14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