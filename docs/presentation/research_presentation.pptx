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2A59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987552"/>
            <a:ext cx="10881360" cy="9601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200" b="1">
                <a:solidFill>
                  <a:srgbClr val="19375C"/>
                </a:solidFill>
                <a:latin typeface="Aptos"/>
              </a:rPr>
              <a:t>Adaptive Evidence Acquisition for</a:t>
            </a:r>
            <a:br/>
            <a:r>
              <a:t>Grounded Video Question Answering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331720"/>
            <a:ext cx="10515600" cy="4754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000" b="0">
                <a:solidFill>
                  <a:srgbClr val="5B6370"/>
                </a:solidFill>
                <a:latin typeface="Aptos"/>
              </a:rPr>
              <a:t>A cost-aware evidence selection view of grounded VideoQA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3154680"/>
            <a:ext cx="5257800" cy="1325880"/>
          </a:xfrm>
          <a:prstGeom prst="rect">
            <a:avLst/>
          </a:prstGeom>
          <a:solidFill>
            <a:srgbClr val="E8F0FA"/>
          </a:solidFill>
          <a:ln w="15240">
            <a:solidFill>
              <a:srgbClr val="3B8B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3264408"/>
            <a:ext cx="492861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500" b="1">
                <a:solidFill>
                  <a:srgbClr val="3B8B74"/>
                </a:solidFill>
                <a:latin typeface="Aptos"/>
              </a:rPr>
              <a:t>Opening 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3630168"/>
            <a:ext cx="4928616" cy="74066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800" b="0">
                <a:solidFill>
                  <a:srgbClr val="14181F"/>
                </a:solidFill>
                <a:latin typeface="Aptos"/>
              </a:rPr>
              <a:t>How much visual evidence is enough to answer a video question while staying temporally grounded?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3154680"/>
            <a:ext cx="5257800" cy="1325880"/>
          </a:xfrm>
          <a:prstGeom prst="rect">
            <a:avLst/>
          </a:prstGeom>
          <a:solidFill>
            <a:srgbClr val="E8F0FA"/>
          </a:solidFill>
          <a:ln w="15240">
            <a:solidFill>
              <a:srgbClr val="B08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28231" y="3264408"/>
            <a:ext cx="492861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500" b="1">
                <a:solidFill>
                  <a:srgbClr val="B08400"/>
                </a:solidFill>
                <a:latin typeface="Aptos"/>
              </a:rPr>
              <a:t>Main claim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28231" y="3630168"/>
            <a:ext cx="4928616" cy="74066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800" b="0">
                <a:solidFill>
                  <a:srgbClr val="14181F"/>
                </a:solidFill>
                <a:latin typeface="Aptos"/>
              </a:rPr>
              <a:t>Answer accuracy, evidence cost, and temporal grounding must be evaluated together.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650992"/>
            <a:ext cx="107899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300" b="0">
                <a:solidFill>
                  <a:srgbClr val="5B6370"/>
                </a:solidFill>
                <a:latin typeface="Aptos"/>
              </a:rPr>
              <a:t>Aniket Salunke, Ketan More, Nazish Baliyan, Ritesh Thawkar | MBZUAI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2A59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68580"/>
            <a:ext cx="969264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800" b="1">
                <a:solidFill>
                  <a:srgbClr val="FFFFFF"/>
                </a:solidFill>
                <a:latin typeface="Aptos"/>
              </a:rPr>
              <a:t>Three Questions We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61320" y="86868"/>
            <a:ext cx="123444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800" b="0">
                <a:solidFill>
                  <a:srgbClr val="FFFFFF"/>
                </a:solidFill>
                <a:latin typeface="Aptos"/>
              </a:rPr>
              <a:t>2 / 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74536"/>
            <a:ext cx="12191695" cy="283464"/>
          </a:xfrm>
          <a:prstGeom prst="rect">
            <a:avLst/>
          </a:prstGeom>
          <a:solidFill>
            <a:srgbClr val="E8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629400"/>
            <a:ext cx="777240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850" b="0">
                <a:solidFill>
                  <a:srgbClr val="19375C"/>
                </a:solidFill>
                <a:latin typeface="Aptos"/>
              </a:rPr>
              <a:t>Adaptive Evidence Acquisition for Grounded VideoQA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72600" y="6629400"/>
            <a:ext cx="246888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50" b="0">
                <a:solidFill>
                  <a:srgbClr val="19375C"/>
                </a:solidFill>
                <a:latin typeface="Aptos"/>
              </a:rPr>
              <a:t>Final Presentation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960120"/>
            <a:ext cx="10561320" cy="932688"/>
          </a:xfrm>
          <a:prstGeom prst="rect">
            <a:avLst/>
          </a:prstGeom>
          <a:solidFill>
            <a:srgbClr val="E8F0FA"/>
          </a:solidFill>
          <a:ln w="15240">
            <a:solidFill>
              <a:srgbClr val="2A59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1069848"/>
            <a:ext cx="1023213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500" b="1">
                <a:solidFill>
                  <a:srgbClr val="2A598F"/>
                </a:solidFill>
                <a:latin typeface="Aptos"/>
              </a:rPr>
              <a:t>Research Question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1435608"/>
            <a:ext cx="10232136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000" b="0">
                <a:solidFill>
                  <a:srgbClr val="14181F"/>
                </a:solidFill>
                <a:latin typeface="Aptos"/>
              </a:rPr>
              <a:t>Q1. Do all video questions need the same amount of visual evidence?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331720"/>
            <a:ext cx="10561320" cy="932688"/>
          </a:xfrm>
          <a:prstGeom prst="rect">
            <a:avLst/>
          </a:prstGeom>
          <a:solidFill>
            <a:srgbClr val="E8F0FA"/>
          </a:solidFill>
          <a:ln w="15240">
            <a:solidFill>
              <a:srgbClr val="3B8B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2441448"/>
            <a:ext cx="1023213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500" b="1">
                <a:solidFill>
                  <a:srgbClr val="3B8B74"/>
                </a:solidFill>
                <a:latin typeface="Aptos"/>
              </a:rPr>
              <a:t>Research Question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2807208"/>
            <a:ext cx="10232136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000" b="0">
                <a:solidFill>
                  <a:srgbClr val="14181F"/>
                </a:solidFill>
                <a:latin typeface="Aptos"/>
              </a:rPr>
              <a:t>Q2. Can a compact learned policy preserve answer accuracy at lower cost?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703320"/>
            <a:ext cx="10561320" cy="932688"/>
          </a:xfrm>
          <a:prstGeom prst="rect">
            <a:avLst/>
          </a:prstGeom>
          <a:solidFill>
            <a:srgbClr val="E8F0FA"/>
          </a:solidFill>
          <a:ln w="15240">
            <a:solidFill>
              <a:srgbClr val="B08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2" y="3813048"/>
            <a:ext cx="1023213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500" b="1">
                <a:solidFill>
                  <a:srgbClr val="B08400"/>
                </a:solidFill>
                <a:latin typeface="Aptos"/>
              </a:rPr>
              <a:t>Research Question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4178808"/>
            <a:ext cx="10232136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000" b="0">
                <a:solidFill>
                  <a:srgbClr val="14181F"/>
                </a:solidFill>
                <a:latin typeface="Aptos"/>
              </a:rPr>
              <a:t>Q3. Is poor performance caused by weak evidence selection or by a weak answerer?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5349240"/>
            <a:ext cx="10241280" cy="4754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800" b="0">
                <a:solidFill>
                  <a:srgbClr val="5B6370"/>
                </a:solidFill>
                <a:latin typeface="Aptos"/>
              </a:rPr>
              <a:t>We answer these after defining the task, method, and evidence-budget experiments.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2A59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68580"/>
            <a:ext cx="969264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800" b="1">
                <a:solidFill>
                  <a:srgbClr val="FFFFFF"/>
                </a:solidFill>
                <a:latin typeface="Aptos"/>
              </a:rPr>
              <a:t>Motivation: Correct Answers Can Be Ungrounded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61320" y="86868"/>
            <a:ext cx="123444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800" b="0">
                <a:solidFill>
                  <a:srgbClr val="FFFFFF"/>
                </a:solidFill>
                <a:latin typeface="Aptos"/>
              </a:rPr>
              <a:t>3 / 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74536"/>
            <a:ext cx="12191695" cy="283464"/>
          </a:xfrm>
          <a:prstGeom prst="rect">
            <a:avLst/>
          </a:prstGeom>
          <a:solidFill>
            <a:srgbClr val="E8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629400"/>
            <a:ext cx="777240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850" b="0">
                <a:solidFill>
                  <a:srgbClr val="19375C"/>
                </a:solidFill>
                <a:latin typeface="Aptos"/>
              </a:rPr>
              <a:t>Adaptive Evidence Acquisition for Grounded VideoQA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72600" y="6629400"/>
            <a:ext cx="246888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50" b="0">
                <a:solidFill>
                  <a:srgbClr val="19375C"/>
                </a:solidFill>
                <a:latin typeface="Aptos"/>
              </a:rPr>
              <a:t>Final Presentation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14400"/>
            <a:ext cx="5303520" cy="2743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marL="285750">
              <a:spcAft>
                <a:spcPts val="700"/>
              </a:spcAft>
              <a:defRPr sz="2000">
                <a:solidFill>
                  <a:srgbClr val="14181F"/>
                </a:solidFill>
                <a:latin typeface="Aptos"/>
              </a:defRPr>
            </a:pPr>
            <a:r>
              <a:t>VideoQA evidence is distributed over time.</a:t>
            </a:r>
          </a:p>
          <a:p>
            <a:pPr marL="285750">
              <a:spcAft>
                <a:spcPts val="700"/>
              </a:spcAft>
              <a:defRPr sz="2000">
                <a:solidFill>
                  <a:srgbClr val="14181F"/>
                </a:solidFill>
                <a:latin typeface="Aptos"/>
              </a:defRPr>
            </a:pPr>
            <a:r>
              <a:t>A correct option may be guessed from priors or broad scene context.</a:t>
            </a:r>
          </a:p>
          <a:p>
            <a:pPr marL="285750">
              <a:spcAft>
                <a:spcPts val="700"/>
              </a:spcAft>
              <a:defRPr sz="2000">
                <a:solidFill>
                  <a:srgbClr val="14181F"/>
                </a:solidFill>
                <a:latin typeface="Aptos"/>
              </a:defRPr>
            </a:pPr>
            <a:r>
              <a:t>Fixed frame/clip budgets can waste evidence or miss the support moment.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914400"/>
            <a:ext cx="4892040" cy="2011680"/>
          </a:xfrm>
          <a:prstGeom prst="rect">
            <a:avLst/>
          </a:prstGeom>
          <a:solidFill>
            <a:srgbClr val="E8F0FA"/>
          </a:solidFill>
          <a:ln w="15240">
            <a:solidFill>
              <a:srgbClr val="2A59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65392" y="1024128"/>
            <a:ext cx="4562855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500" b="1">
                <a:solidFill>
                  <a:srgbClr val="2A598F"/>
                </a:solidFill>
                <a:latin typeface="Aptos"/>
              </a:rPr>
              <a:t>Grounded VideoQA asks two things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65392" y="1389888"/>
            <a:ext cx="4562855" cy="142646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800" b="0">
                <a:solidFill>
                  <a:srgbClr val="14181F"/>
                </a:solidFill>
                <a:latin typeface="Aptos"/>
              </a:rPr>
              <a:t>1. Is the answer correct?</a:t>
            </a:r>
            <a:br/>
            <a:r>
              <a:t>2. Does the selected evidence overlap the annotated support moment?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3383280"/>
            <a:ext cx="4892040" cy="1508760"/>
          </a:xfrm>
          <a:prstGeom prst="rect">
            <a:avLst/>
          </a:prstGeom>
          <a:solidFill>
            <a:srgbClr val="E8F0FA"/>
          </a:solidFill>
          <a:ln w="15240">
            <a:solidFill>
              <a:srgbClr val="3B8B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65392" y="3493008"/>
            <a:ext cx="4562855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500" b="1">
                <a:solidFill>
                  <a:srgbClr val="3B8B74"/>
                </a:solidFill>
                <a:latin typeface="Aptos"/>
              </a:rPr>
              <a:t>Why it matters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65392" y="3858768"/>
            <a:ext cx="4562855" cy="923543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800" b="0">
                <a:solidFill>
                  <a:srgbClr val="14181F"/>
                </a:solidFill>
                <a:latin typeface="Aptos"/>
              </a:rPr>
              <a:t>Grounding turns VideoQA from answer classification into evidence-supported reasoning.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60120" y="5285232"/>
            <a:ext cx="5074920" cy="777240"/>
          </a:xfrm>
          <a:prstGeom prst="rect">
            <a:avLst/>
          </a:prstGeom>
          <a:solidFill>
            <a:srgbClr val="F8FAFC"/>
          </a:solidFill>
          <a:ln w="17780">
            <a:solidFill>
              <a:srgbClr val="B08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2416" y="5413248"/>
            <a:ext cx="4910328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50" b="1">
                <a:solidFill>
                  <a:srgbClr val="5B6370"/>
                </a:solidFill>
                <a:latin typeface="Aptos"/>
              </a:rPr>
              <a:t>Failure mode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" y="5687568"/>
            <a:ext cx="4910328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800" b="1">
                <a:solidFill>
                  <a:srgbClr val="B08400"/>
                </a:solidFill>
                <a:latin typeface="Aptos"/>
              </a:rPr>
              <a:t>correct but weakly grounded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5285232"/>
            <a:ext cx="5074920" cy="777240"/>
          </a:xfrm>
          <a:prstGeom prst="rect">
            <a:avLst/>
          </a:prstGeom>
          <a:solidFill>
            <a:srgbClr val="F8FAFC"/>
          </a:solidFill>
          <a:ln w="17780">
            <a:solidFill>
              <a:srgbClr val="3B8B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08776" y="5413248"/>
            <a:ext cx="4910328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50" b="1">
                <a:solidFill>
                  <a:srgbClr val="5B6370"/>
                </a:solidFill>
                <a:latin typeface="Aptos"/>
              </a:rPr>
              <a:t>Desired behavior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08776" y="5687568"/>
            <a:ext cx="4910328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800" b="1">
                <a:solidFill>
                  <a:srgbClr val="3B8B74"/>
                </a:solidFill>
                <a:latin typeface="Aptos"/>
              </a:rPr>
              <a:t>correct and grounded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2A59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68580"/>
            <a:ext cx="969264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800" b="1">
                <a:solidFill>
                  <a:srgbClr val="FFFFFF"/>
                </a:solidFill>
                <a:latin typeface="Aptos"/>
              </a:rPr>
              <a:t>Related Work and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61320" y="86868"/>
            <a:ext cx="123444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800" b="0">
                <a:solidFill>
                  <a:srgbClr val="FFFFFF"/>
                </a:solidFill>
                <a:latin typeface="Aptos"/>
              </a:rPr>
              <a:t>4 / 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74536"/>
            <a:ext cx="12191695" cy="283464"/>
          </a:xfrm>
          <a:prstGeom prst="rect">
            <a:avLst/>
          </a:prstGeom>
          <a:solidFill>
            <a:srgbClr val="E8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629400"/>
            <a:ext cx="777240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850" b="0">
                <a:solidFill>
                  <a:srgbClr val="19375C"/>
                </a:solidFill>
                <a:latin typeface="Aptos"/>
              </a:rPr>
              <a:t>Adaptive Evidence Acquisition for Grounded VideoQA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72600" y="6629400"/>
            <a:ext cx="246888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50" b="0">
                <a:solidFill>
                  <a:srgbClr val="19375C"/>
                </a:solidFill>
                <a:latin typeface="Aptos"/>
              </a:rPr>
              <a:t>Final Presentation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" y="914400"/>
          <a:ext cx="11018520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72840"/>
                <a:gridCol w="3672840"/>
                <a:gridCol w="3672840"/>
              </a:tblGrid>
              <a:tr h="667512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Area</a:t>
                      </a:r>
                    </a:p>
                  </a:txBody>
                  <a:tcPr>
                    <a:solidFill>
                      <a:srgbClr val="2A598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Examples</a:t>
                      </a:r>
                    </a:p>
                  </a:txBody>
                  <a:tcPr>
                    <a:solidFill>
                      <a:srgbClr val="2A598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What they provide</a:t>
                      </a:r>
                    </a:p>
                  </a:txBody>
                  <a:tcPr>
                    <a:solidFill>
                      <a:srgbClr val="2A598F"/>
                    </a:solidFill>
                  </a:tcPr>
                </a:tc>
              </a:tr>
              <a:tr h="66751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81F"/>
                          </a:solidFill>
                          <a:latin typeface="Aptos"/>
                        </a:rPr>
                        <a:t>VideoQA benchmarks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181F"/>
                          </a:solidFill>
                          <a:latin typeface="Aptos"/>
                        </a:rPr>
                        <a:t>MovieQA, TGIF-QA, TVQA, NExT-QA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181F"/>
                          </a:solidFill>
                          <a:latin typeface="Aptos"/>
                        </a:rPr>
                        <a:t>Temporal and causal reasoning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6751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81F"/>
                          </a:solidFill>
                          <a:latin typeface="Aptos"/>
                        </a:rPr>
                        <a:t>Grounded VideoQA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181F"/>
                          </a:solidFill>
                          <a:latin typeface="Aptos"/>
                        </a:rPr>
                        <a:t>TVQA+, NExT-GQA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181F"/>
                          </a:solidFill>
                          <a:latin typeface="Aptos"/>
                        </a:rPr>
                        <a:t>Answer must be supported by temporal evidence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66751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81F"/>
                          </a:solidFill>
                          <a:latin typeface="Aptos"/>
                        </a:rPr>
                        <a:t>Pretrained VLMs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181F"/>
                          </a:solidFill>
                          <a:latin typeface="Aptos"/>
                        </a:rPr>
                        <a:t>CLIP, FrozenBiLM, SeViLA, Qwen2.5-VL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181F"/>
                          </a:solidFill>
                          <a:latin typeface="Aptos"/>
                        </a:rPr>
                        <a:t>Strong visual-language reasoning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6751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81F"/>
                          </a:solidFill>
                          <a:latin typeface="Aptos"/>
                        </a:rPr>
                        <a:t>Retrieval-augmented video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181F"/>
                          </a:solidFill>
                          <a:latin typeface="Aptos"/>
                        </a:rPr>
                        <a:t>VideoRAG-style selective context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181F"/>
                          </a:solidFill>
                          <a:latin typeface="Aptos"/>
                        </a:rPr>
                        <a:t>Long-video evidence construction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822960" y="4617720"/>
            <a:ext cx="10561320" cy="960120"/>
          </a:xfrm>
          <a:prstGeom prst="rect">
            <a:avLst/>
          </a:prstGeom>
          <a:solidFill>
            <a:srgbClr val="E8F0FA"/>
          </a:solidFill>
          <a:ln w="15240">
            <a:solidFill>
              <a:srgbClr val="B08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4727448"/>
            <a:ext cx="1023213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500" b="1">
                <a:solidFill>
                  <a:srgbClr val="B08400"/>
                </a:solidFill>
                <a:latin typeface="Aptos"/>
              </a:rPr>
              <a:t>Gap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5093208"/>
            <a:ext cx="10232136" cy="37490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800" b="0">
                <a:solidFill>
                  <a:srgbClr val="14181F"/>
                </a:solidFill>
                <a:latin typeface="Aptos"/>
              </a:rPr>
              <a:t>Prior work often fixes the amount of context or reports answer quality without jointly charging evidence cost and measuring temporal support.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2A59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68580"/>
            <a:ext cx="969264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800" b="1">
                <a:solidFill>
                  <a:srgbClr val="FFFFFF"/>
                </a:solidFill>
                <a:latin typeface="Aptos"/>
              </a:rPr>
              <a:t>Task Formulation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61320" y="86868"/>
            <a:ext cx="123444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800" b="0">
                <a:solidFill>
                  <a:srgbClr val="FFFFFF"/>
                </a:solidFill>
                <a:latin typeface="Aptos"/>
              </a:rPr>
              <a:t>5 / 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74536"/>
            <a:ext cx="12191695" cy="283464"/>
          </a:xfrm>
          <a:prstGeom prst="rect">
            <a:avLst/>
          </a:prstGeom>
          <a:solidFill>
            <a:srgbClr val="E8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629400"/>
            <a:ext cx="777240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850" b="0">
                <a:solidFill>
                  <a:srgbClr val="19375C"/>
                </a:solidFill>
                <a:latin typeface="Aptos"/>
              </a:rPr>
              <a:t>Adaptive Evidence Acquisition for Grounded VideoQA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72600" y="6629400"/>
            <a:ext cx="246888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50" b="0">
                <a:solidFill>
                  <a:srgbClr val="19375C"/>
                </a:solidFill>
                <a:latin typeface="Aptos"/>
              </a:rPr>
              <a:t>Final Presentation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868680"/>
            <a:ext cx="5257800" cy="1325880"/>
          </a:xfrm>
          <a:prstGeom prst="rect">
            <a:avLst/>
          </a:prstGeom>
          <a:solidFill>
            <a:srgbClr val="E8F0FA"/>
          </a:solidFill>
          <a:ln w="15240">
            <a:solidFill>
              <a:srgbClr val="2A59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978407"/>
            <a:ext cx="492861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500" b="1">
                <a:solidFill>
                  <a:srgbClr val="2A598F"/>
                </a:solidFill>
                <a:latin typeface="Aptos"/>
              </a:rPr>
              <a:t>Grounded VideoQA example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344168"/>
            <a:ext cx="4928616" cy="74066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700" b="0">
                <a:solidFill>
                  <a:srgbClr val="14181F"/>
                </a:solidFill>
                <a:latin typeface="Aptos"/>
              </a:rPr>
              <a:t>x = (v, q, A, y, T)</a:t>
            </a:r>
            <a:br/>
            <a:r>
              <a:t>video, question, answer options, label, support span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868680"/>
            <a:ext cx="5257800" cy="1325880"/>
          </a:xfrm>
          <a:prstGeom prst="rect">
            <a:avLst/>
          </a:prstGeom>
          <a:solidFill>
            <a:srgbClr val="E8F0FA"/>
          </a:solidFill>
          <a:ln w="15240">
            <a:solidFill>
              <a:srgbClr val="3B8B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1" y="978407"/>
            <a:ext cx="492861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500" b="1">
                <a:solidFill>
                  <a:srgbClr val="3B8B74"/>
                </a:solidFill>
                <a:latin typeface="Aptos"/>
              </a:rPr>
              <a:t>Evidence pool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8231" y="1344168"/>
            <a:ext cx="4928616" cy="74066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700" b="0">
                <a:solidFill>
                  <a:srgbClr val="14181F"/>
                </a:solidFill>
                <a:latin typeface="Aptos"/>
              </a:rPr>
              <a:t>E(x) = {e1, ..., eN}</a:t>
            </a:r>
            <a:br/>
            <a:r>
              <a:t>frames and short temporal segments with cost and interval metadata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2606040"/>
            <a:ext cx="5257800" cy="1325880"/>
          </a:xfrm>
          <a:prstGeom prst="rect">
            <a:avLst/>
          </a:prstGeom>
          <a:solidFill>
            <a:srgbClr val="E8F0FA"/>
          </a:solidFill>
          <a:ln w="15240">
            <a:solidFill>
              <a:srgbClr val="B08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2715768"/>
            <a:ext cx="492861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500" b="1">
                <a:solidFill>
                  <a:srgbClr val="B08400"/>
                </a:solidFill>
                <a:latin typeface="Aptos"/>
              </a:rPr>
              <a:t>Policy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3081528"/>
            <a:ext cx="4928616" cy="74066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900" b="0">
                <a:solidFill>
                  <a:srgbClr val="14181F"/>
                </a:solidFill>
                <a:latin typeface="Aptos"/>
              </a:rPr>
              <a:t>Selects S subset E(x)</a:t>
            </a:r>
            <a:br/>
            <a:r>
              <a:t>C(S) = sum_i c_i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2606040"/>
            <a:ext cx="5257800" cy="1325880"/>
          </a:xfrm>
          <a:prstGeom prst="rect">
            <a:avLst/>
          </a:prstGeom>
          <a:solidFill>
            <a:srgbClr val="E8F0FA"/>
          </a:solidFill>
          <a:ln w="15240">
            <a:solidFill>
              <a:srgbClr val="2A59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28231" y="2715768"/>
            <a:ext cx="492861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500" b="1">
                <a:solidFill>
                  <a:srgbClr val="2A598F"/>
                </a:solidFill>
                <a:latin typeface="Aptos"/>
              </a:rPr>
              <a:t>Answerer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8231" y="3081528"/>
            <a:ext cx="4928616" cy="74066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800" b="0">
                <a:solidFill>
                  <a:srgbClr val="14181F"/>
                </a:solidFill>
                <a:latin typeface="Aptos"/>
              </a:rPr>
              <a:t>Predicts answer from question, options, and selected evidence only.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983480"/>
            <a:ext cx="10332720" cy="4389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900" b="1">
                <a:solidFill>
                  <a:srgbClr val="19375C"/>
                </a:solidFill>
                <a:latin typeface="Aptos"/>
              </a:rPr>
              <a:t>Optimization intuition: maximize answer accuracy and grounding while minimizing acquired evidence cost.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2A59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68580"/>
            <a:ext cx="969264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800" b="1">
                <a:solidFill>
                  <a:srgbClr val="FFFFFF"/>
                </a:solidFill>
                <a:latin typeface="Aptos"/>
              </a:rPr>
              <a:t>Method: Adaptive Evidence Acquisition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61320" y="86868"/>
            <a:ext cx="123444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800" b="0">
                <a:solidFill>
                  <a:srgbClr val="FFFFFF"/>
                </a:solidFill>
                <a:latin typeface="Aptos"/>
              </a:rPr>
              <a:t>6 / 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74536"/>
            <a:ext cx="12191695" cy="283464"/>
          </a:xfrm>
          <a:prstGeom prst="rect">
            <a:avLst/>
          </a:prstGeom>
          <a:solidFill>
            <a:srgbClr val="E8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629400"/>
            <a:ext cx="777240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850" b="0">
                <a:solidFill>
                  <a:srgbClr val="19375C"/>
                </a:solidFill>
                <a:latin typeface="Aptos"/>
              </a:rPr>
              <a:t>Adaptive Evidence Acquisition for Grounded VideoQA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72600" y="6629400"/>
            <a:ext cx="246888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50" b="0">
                <a:solidFill>
                  <a:srgbClr val="19375C"/>
                </a:solidFill>
                <a:latin typeface="Aptos"/>
              </a:rPr>
              <a:t>Final Presentation</a:t>
            </a:r>
          </a:p>
        </p:txBody>
      </p:sp>
      <p:pic>
        <p:nvPicPr>
          <p:cNvPr id="8" name="Picture 7" descr="figur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0432" y="658368"/>
            <a:ext cx="9875520" cy="421445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7240" y="5102352"/>
            <a:ext cx="5257800" cy="932688"/>
          </a:xfrm>
          <a:prstGeom prst="rect">
            <a:avLst/>
          </a:prstGeom>
          <a:solidFill>
            <a:srgbClr val="E8F0FA"/>
          </a:solidFill>
          <a:ln w="15240">
            <a:solidFill>
              <a:srgbClr val="2A59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5212080"/>
            <a:ext cx="492861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100" b="1">
                <a:solidFill>
                  <a:srgbClr val="2A598F"/>
                </a:solidFill>
                <a:latin typeface="Aptos"/>
              </a:rPr>
              <a:t>Candidate pool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5577840"/>
            <a:ext cx="4928616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00" b="0">
                <a:solidFill>
                  <a:srgbClr val="14181F"/>
                </a:solidFill>
                <a:latin typeface="Aptos"/>
              </a:rPr>
              <a:t>Sample frames and 4s sliding segments; rank top candidates with CLIP question-option similarity.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5102352"/>
            <a:ext cx="5257800" cy="932688"/>
          </a:xfrm>
          <a:prstGeom prst="rect">
            <a:avLst/>
          </a:prstGeom>
          <a:solidFill>
            <a:srgbClr val="E8F0FA"/>
          </a:solidFill>
          <a:ln w="15240">
            <a:solidFill>
              <a:srgbClr val="3B8B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36792" y="5212080"/>
            <a:ext cx="492861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100" b="1">
                <a:solidFill>
                  <a:srgbClr val="3B8B74"/>
                </a:solidFill>
                <a:latin typeface="Aptos"/>
              </a:rPr>
              <a:t>Controlled answerer swap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36792" y="5577840"/>
            <a:ext cx="4928616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00" b="0">
                <a:solidFill>
                  <a:srgbClr val="14181F"/>
                </a:solidFill>
                <a:latin typeface="Aptos"/>
              </a:rPr>
              <a:t>Keep selected evidence fixed, then swap only the answerer to separate evidence quality from reasoning quality.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2A59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68580"/>
            <a:ext cx="969264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800" b="1">
                <a:solidFill>
                  <a:srgbClr val="FFFFFF"/>
                </a:solidFill>
                <a:latin typeface="Aptos"/>
              </a:rPr>
              <a:t>Evidence Policies and Cost Ladder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61320" y="86868"/>
            <a:ext cx="123444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800" b="0">
                <a:solidFill>
                  <a:srgbClr val="FFFFFF"/>
                </a:solidFill>
                <a:latin typeface="Aptos"/>
              </a:rPr>
              <a:t>7 / 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74536"/>
            <a:ext cx="12191695" cy="283464"/>
          </a:xfrm>
          <a:prstGeom prst="rect">
            <a:avLst/>
          </a:prstGeom>
          <a:solidFill>
            <a:srgbClr val="E8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629400"/>
            <a:ext cx="777240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850" b="0">
                <a:solidFill>
                  <a:srgbClr val="19375C"/>
                </a:solidFill>
                <a:latin typeface="Aptos"/>
              </a:rPr>
              <a:t>Adaptive Evidence Acquisition for Grounded VideoQA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72600" y="6629400"/>
            <a:ext cx="246888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50" b="0">
                <a:solidFill>
                  <a:srgbClr val="19375C"/>
                </a:solidFill>
                <a:latin typeface="Aptos"/>
              </a:rPr>
              <a:t>Final Presentation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868680"/>
          <a:ext cx="109270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5416"/>
                <a:gridCol w="2185416"/>
                <a:gridCol w="2185416"/>
                <a:gridCol w="2185416"/>
                <a:gridCol w="2185416"/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ptos"/>
                        </a:rPr>
                        <a:t>Policy</a:t>
                      </a:r>
                    </a:p>
                  </a:txBody>
                  <a:tcPr>
                    <a:solidFill>
                      <a:srgbClr val="2A598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ptos"/>
                        </a:rPr>
                        <a:t>Selection</a:t>
                      </a:r>
                    </a:p>
                  </a:txBody>
                  <a:tcPr>
                    <a:solidFill>
                      <a:srgbClr val="2A598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ptos"/>
                        </a:rPr>
                        <a:t>Count</a:t>
                      </a:r>
                    </a:p>
                  </a:txBody>
                  <a:tcPr>
                    <a:solidFill>
                      <a:srgbClr val="2A598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ptos"/>
                        </a:rPr>
                        <a:t>Cost</a:t>
                      </a:r>
                    </a:p>
                  </a:txBody>
                  <a:tcPr>
                    <a:solidFill>
                      <a:srgbClr val="2A598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ptos"/>
                        </a:rPr>
                        <a:t>Role</a:t>
                      </a:r>
                    </a:p>
                  </a:txBody>
                  <a:tcPr>
                    <a:solidFill>
                      <a:srgbClr val="2A598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4181F"/>
                          </a:solidFill>
                          <a:latin typeface="Aptos"/>
                        </a:rPr>
                        <a:t>One segment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4181F"/>
                          </a:solidFill>
                          <a:latin typeface="Aptos"/>
                        </a:rPr>
                        <a:t>highest-scoring segment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4181F"/>
                          </a:solidFill>
                          <a:latin typeface="Aptos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4181F"/>
                          </a:solidFill>
                          <a:latin typeface="Aptos"/>
                        </a:rPr>
                        <a:t>1.500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4181F"/>
                          </a:solidFill>
                          <a:latin typeface="Aptos"/>
                        </a:rPr>
                        <a:t>Low-cost 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4181F"/>
                          </a:solidFill>
                          <a:latin typeface="Aptos"/>
                        </a:rPr>
                        <a:t>Linear two-item</a:t>
                      </a:r>
                    </a:p>
                  </a:txBody>
                  <a:tcPr>
                    <a:solidFill>
                      <a:srgbClr val="EBF4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4181F"/>
                          </a:solidFill>
                          <a:latin typeface="Aptos"/>
                        </a:rPr>
                        <a:t>linear router: frame/segment/stop</a:t>
                      </a:r>
                    </a:p>
                  </a:txBody>
                  <a:tcPr>
                    <a:solidFill>
                      <a:srgbClr val="EBF4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4181F"/>
                          </a:solidFill>
                          <a:latin typeface="Aptos"/>
                        </a:rPr>
                        <a:t>2</a:t>
                      </a:r>
                    </a:p>
                  </a:txBody>
                  <a:tcPr>
                    <a:solidFill>
                      <a:srgbClr val="EBF4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4181F"/>
                          </a:solidFill>
                          <a:latin typeface="Aptos"/>
                        </a:rPr>
                        <a:t>2.795</a:t>
                      </a:r>
                    </a:p>
                  </a:txBody>
                  <a:tcPr>
                    <a:solidFill>
                      <a:srgbClr val="EBF4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4181F"/>
                          </a:solidFill>
                          <a:latin typeface="Aptos"/>
                        </a:rPr>
                        <a:t>Efficient middle point</a:t>
                      </a:r>
                    </a:p>
                  </a:txBody>
                  <a:tcPr>
                    <a:solidFill>
                      <a:srgbClr val="EBF4F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4181F"/>
                          </a:solidFill>
                          <a:latin typeface="Aptos"/>
                        </a:rPr>
                        <a:t>Fixed 3+3</a:t>
                      </a:r>
                    </a:p>
                  </a:txBody>
                  <a:tcPr>
                    <a:solidFill>
                      <a:srgbClr val="EBF4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4181F"/>
                          </a:solidFill>
                          <a:latin typeface="Aptos"/>
                        </a:rPr>
                        <a:t>3 frames + 3 segments</a:t>
                      </a:r>
                    </a:p>
                  </a:txBody>
                  <a:tcPr>
                    <a:solidFill>
                      <a:srgbClr val="EBF4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4181F"/>
                          </a:solidFill>
                          <a:latin typeface="Aptos"/>
                        </a:rPr>
                        <a:t>6</a:t>
                      </a:r>
                    </a:p>
                  </a:txBody>
                  <a:tcPr>
                    <a:solidFill>
                      <a:srgbClr val="EBF4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4181F"/>
                          </a:solidFill>
                          <a:latin typeface="Aptos"/>
                        </a:rPr>
                        <a:t>7.500</a:t>
                      </a:r>
                    </a:p>
                  </a:txBody>
                  <a:tcPr>
                    <a:solidFill>
                      <a:srgbClr val="EBF4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4181F"/>
                          </a:solidFill>
                          <a:latin typeface="Aptos"/>
                        </a:rPr>
                        <a:t>High-coverage control</a:t>
                      </a:r>
                    </a:p>
                  </a:txBody>
                  <a:tcPr>
                    <a:solidFill>
                      <a:srgbClr val="EBF4F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4181F"/>
                          </a:solidFill>
                          <a:latin typeface="Aptos"/>
                        </a:rPr>
                        <a:t>Fixed 6+6</a:t>
                      </a:r>
                    </a:p>
                  </a:txBody>
                  <a:tcPr>
                    <a:solidFill>
                      <a:srgbClr val="EBF4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4181F"/>
                          </a:solidFill>
                          <a:latin typeface="Aptos"/>
                        </a:rPr>
                        <a:t>6 frames + 6 segments</a:t>
                      </a:r>
                    </a:p>
                  </a:txBody>
                  <a:tcPr>
                    <a:solidFill>
                      <a:srgbClr val="EBF4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4181F"/>
                          </a:solidFill>
                          <a:latin typeface="Aptos"/>
                        </a:rPr>
                        <a:t>about 12</a:t>
                      </a:r>
                    </a:p>
                  </a:txBody>
                  <a:tcPr>
                    <a:solidFill>
                      <a:srgbClr val="EBF4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4181F"/>
                          </a:solidFill>
                          <a:latin typeface="Aptos"/>
                        </a:rPr>
                        <a:t>14.908</a:t>
                      </a:r>
                    </a:p>
                  </a:txBody>
                  <a:tcPr>
                    <a:solidFill>
                      <a:srgbClr val="EBF4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4181F"/>
                          </a:solidFill>
                          <a:latin typeface="Aptos"/>
                        </a:rPr>
                        <a:t>Large frozen-answerer control</a:t>
                      </a:r>
                    </a:p>
                  </a:txBody>
                  <a:tcPr>
                    <a:solidFill>
                      <a:srgbClr val="EBF4F1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914400" y="4160520"/>
            <a:ext cx="4800600" cy="1234440"/>
          </a:xfrm>
          <a:prstGeom prst="rect">
            <a:avLst/>
          </a:prstGeom>
          <a:solidFill>
            <a:srgbClr val="E8F0FA"/>
          </a:solidFill>
          <a:ln w="15240">
            <a:solidFill>
              <a:srgbClr val="2A59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4270248"/>
            <a:ext cx="447141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500" b="1">
                <a:solidFill>
                  <a:srgbClr val="2A598F"/>
                </a:solidFill>
                <a:latin typeface="Aptos"/>
              </a:rPr>
              <a:t>Policy training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" y="4636008"/>
            <a:ext cx="4471416" cy="64922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600" b="0">
                <a:solidFill>
                  <a:srgbClr val="14181F"/>
                </a:solidFill>
                <a:latin typeface="Aptos"/>
              </a:rPr>
              <a:t>The MLP router is trained from oracle traces; Qwen is not trained or used for routing.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4160520"/>
            <a:ext cx="4800600" cy="1234440"/>
          </a:xfrm>
          <a:prstGeom prst="rect">
            <a:avLst/>
          </a:prstGeom>
          <a:solidFill>
            <a:srgbClr val="E8F0FA"/>
          </a:solidFill>
          <a:ln w="15240">
            <a:solidFill>
              <a:srgbClr val="3B8B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65392" y="4270248"/>
            <a:ext cx="447141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500" b="1">
                <a:solidFill>
                  <a:srgbClr val="3B8B74"/>
                </a:solidFill>
                <a:latin typeface="Aptos"/>
              </a:rPr>
              <a:t>Why fixed controls matter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65392" y="4636008"/>
            <a:ext cx="4471416" cy="64922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600" b="0">
                <a:solidFill>
                  <a:srgbClr val="14181F"/>
                </a:solidFill>
                <a:latin typeface="Aptos"/>
              </a:rPr>
              <a:t>They show what grounding improves when we spend much more visual context.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2A59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68580"/>
            <a:ext cx="969264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800" b="1">
                <a:solidFill>
                  <a:srgbClr val="FFFFFF"/>
                </a:solidFill>
                <a:latin typeface="Aptos"/>
              </a:rPr>
              <a:t>Experimental Setup and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61320" y="86868"/>
            <a:ext cx="123444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800" b="0">
                <a:solidFill>
                  <a:srgbClr val="FFFFFF"/>
                </a:solidFill>
                <a:latin typeface="Aptos"/>
              </a:rPr>
              <a:t>8 / 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74536"/>
            <a:ext cx="12191695" cy="283464"/>
          </a:xfrm>
          <a:prstGeom prst="rect">
            <a:avLst/>
          </a:prstGeom>
          <a:solidFill>
            <a:srgbClr val="E8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629400"/>
            <a:ext cx="777240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850" b="0">
                <a:solidFill>
                  <a:srgbClr val="19375C"/>
                </a:solidFill>
                <a:latin typeface="Aptos"/>
              </a:rPr>
              <a:t>Adaptive Evidence Acquisition for Grounded VideoQA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72600" y="6629400"/>
            <a:ext cx="246888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50" b="0">
                <a:solidFill>
                  <a:srgbClr val="19375C"/>
                </a:solidFill>
                <a:latin typeface="Aptos"/>
              </a:rPr>
              <a:t>Final Presentation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868680"/>
            <a:ext cx="3429000" cy="1417320"/>
          </a:xfrm>
          <a:prstGeom prst="rect">
            <a:avLst/>
          </a:prstGeom>
          <a:solidFill>
            <a:srgbClr val="E8F0FA"/>
          </a:solidFill>
          <a:ln w="15240">
            <a:solidFill>
              <a:srgbClr val="2A59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978407"/>
            <a:ext cx="309981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500" b="1">
                <a:solidFill>
                  <a:srgbClr val="2A598F"/>
                </a:solidFill>
                <a:latin typeface="Aptos"/>
              </a:rPr>
              <a:t>Dataset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344168"/>
            <a:ext cx="3099816" cy="83210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600" b="0">
                <a:solidFill>
                  <a:srgbClr val="14181F"/>
                </a:solidFill>
                <a:latin typeface="Aptos"/>
              </a:rPr>
              <a:t>NExT-GQA</a:t>
            </a:r>
            <a:br/>
            <a:r>
              <a:t>Validation: 3,358 examples</a:t>
            </a:r>
            <a:br/>
            <a:r>
              <a:t>Test: 5,553 examples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0" y="868680"/>
            <a:ext cx="3429000" cy="1417320"/>
          </a:xfrm>
          <a:prstGeom prst="rect">
            <a:avLst/>
          </a:prstGeom>
          <a:solidFill>
            <a:srgbClr val="E8F0FA"/>
          </a:solidFill>
          <a:ln w="15240">
            <a:solidFill>
              <a:srgbClr val="3B8B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3712" y="978407"/>
            <a:ext cx="309981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500" b="1">
                <a:solidFill>
                  <a:srgbClr val="3B8B74"/>
                </a:solidFill>
                <a:latin typeface="Aptos"/>
              </a:rPr>
              <a:t>Answerers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3712" y="1344168"/>
            <a:ext cx="3099816" cy="83210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600" b="0">
                <a:solidFill>
                  <a:srgbClr val="14181F"/>
                </a:solidFill>
                <a:latin typeface="Aptos"/>
              </a:rPr>
              <a:t>Frozen CLIP-style scorer</a:t>
            </a:r>
            <a:br/>
            <a:r>
              <a:t>Qwen2.5-VL-3B-Instruct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92440" y="868680"/>
            <a:ext cx="3429000" cy="1417320"/>
          </a:xfrm>
          <a:prstGeom prst="rect">
            <a:avLst/>
          </a:prstGeom>
          <a:solidFill>
            <a:srgbClr val="E8F0FA"/>
          </a:solidFill>
          <a:ln w="15240">
            <a:solidFill>
              <a:srgbClr val="B08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57031" y="978407"/>
            <a:ext cx="309981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500" b="1">
                <a:solidFill>
                  <a:srgbClr val="B08400"/>
                </a:solidFill>
                <a:latin typeface="Aptos"/>
              </a:rPr>
              <a:t>Protocol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57031" y="1344168"/>
            <a:ext cx="3099816" cy="83210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600" b="0">
                <a:solidFill>
                  <a:srgbClr val="14181F"/>
                </a:solidFill>
                <a:latin typeface="Aptos"/>
              </a:rPr>
              <a:t>Same selected evidence</a:t>
            </a:r>
            <a:br/>
            <a:r>
              <a:t>Swap only final answerer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777240" y="2788920"/>
          <a:ext cx="10652760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26380"/>
                <a:gridCol w="5326380"/>
              </a:tblGrid>
              <a:tr h="37338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ptos"/>
                        </a:rPr>
                        <a:t>Metric</a:t>
                      </a:r>
                    </a:p>
                  </a:txBody>
                  <a:tcPr>
                    <a:solidFill>
                      <a:srgbClr val="2A598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ptos"/>
                        </a:rPr>
                        <a:t>Meaning</a:t>
                      </a:r>
                    </a:p>
                  </a:txBody>
                  <a:tcPr>
                    <a:solidFill>
                      <a:srgbClr val="2A598F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4181F"/>
                          </a:solidFill>
                          <a:latin typeface="Aptos"/>
                        </a:rPr>
                        <a:t>Acc@QA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4181F"/>
                          </a:solidFill>
                          <a:latin typeface="Aptos"/>
                        </a:rPr>
                        <a:t>Whether the answer letter is correct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4181F"/>
                          </a:solidFill>
                          <a:latin typeface="Aptos"/>
                        </a:rPr>
                        <a:t>Cost / Count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4181F"/>
                          </a:solidFill>
                          <a:latin typeface="Aptos"/>
                        </a:rPr>
                        <a:t>Amount of visual evidence consumed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4181F"/>
                          </a:solidFill>
                          <a:latin typeface="Aptos"/>
                        </a:rPr>
                        <a:t>mIoP, IoP@0.5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4181F"/>
                          </a:solidFill>
                          <a:latin typeface="Aptos"/>
                        </a:rPr>
                        <a:t>How much selected evidence lies inside support span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4181F"/>
                          </a:solidFill>
                          <a:latin typeface="Aptos"/>
                        </a:rPr>
                        <a:t>mIoU, IoU@0.5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4181F"/>
                          </a:solidFill>
                          <a:latin typeface="Aptos"/>
                        </a:rPr>
                        <a:t>Stricter temporal overlap with support span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4181F"/>
                          </a:solidFill>
                          <a:latin typeface="Aptos"/>
                        </a:rPr>
                        <a:t>Acc@GQA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4181F"/>
                          </a:solidFill>
                          <a:latin typeface="Aptos"/>
                        </a:rPr>
                        <a:t>Correct answer plus IoP@0.5 grounding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2A59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68580"/>
            <a:ext cx="969264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800" b="1">
                <a:solidFill>
                  <a:srgbClr val="FFFFFF"/>
                </a:solidFill>
                <a:latin typeface="Aptos"/>
              </a:rPr>
              <a:t>Main Comparison: Answer Accuracy Is Not Grounding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61320" y="86868"/>
            <a:ext cx="123444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800" b="0">
                <a:solidFill>
                  <a:srgbClr val="FFFFFF"/>
                </a:solidFill>
                <a:latin typeface="Aptos"/>
              </a:rPr>
              <a:t>9 / 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74536"/>
            <a:ext cx="12191695" cy="283464"/>
          </a:xfrm>
          <a:prstGeom prst="rect">
            <a:avLst/>
          </a:prstGeom>
          <a:solidFill>
            <a:srgbClr val="E8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629400"/>
            <a:ext cx="777240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850" b="0">
                <a:solidFill>
                  <a:srgbClr val="19375C"/>
                </a:solidFill>
                <a:latin typeface="Aptos"/>
              </a:rPr>
              <a:t>Adaptive Evidence Acquisition for Grounded VideoQA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72600" y="6629400"/>
            <a:ext cx="246888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50" b="0">
                <a:solidFill>
                  <a:srgbClr val="19375C"/>
                </a:solidFill>
                <a:latin typeface="Aptos"/>
              </a:rPr>
              <a:t>Final Presentation</a:t>
            </a:r>
          </a:p>
        </p:txBody>
      </p:sp>
      <p:pic>
        <p:nvPicPr>
          <p:cNvPr id="8" name="Picture 7" descr="main_comparison_grounding_present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777240"/>
            <a:ext cx="10835640" cy="3898583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22960" y="5010912"/>
            <a:ext cx="3429000" cy="1051560"/>
          </a:xfrm>
          <a:prstGeom prst="rect">
            <a:avLst/>
          </a:prstGeom>
          <a:solidFill>
            <a:srgbClr val="E8F0FA"/>
          </a:solidFill>
          <a:ln w="15240">
            <a:solidFill>
              <a:srgbClr val="2A59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5120640"/>
            <a:ext cx="309981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00" b="1">
                <a:solidFill>
                  <a:srgbClr val="2A598F"/>
                </a:solidFill>
                <a:latin typeface="Aptos"/>
              </a:rPr>
              <a:t>Context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5486400"/>
            <a:ext cx="3099816" cy="466343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300" b="0">
                <a:solidFill>
                  <a:srgbClr val="14181F"/>
                </a:solidFill>
                <a:latin typeface="Aptos"/>
              </a:rPr>
              <a:t>Prior rows provide scale; our grounding uses selected-evidence best overlap.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120" y="5010912"/>
            <a:ext cx="3429000" cy="1051560"/>
          </a:xfrm>
          <a:prstGeom prst="rect">
            <a:avLst/>
          </a:prstGeom>
          <a:solidFill>
            <a:srgbClr val="E8F0FA"/>
          </a:solidFill>
          <a:ln w="15240">
            <a:solidFill>
              <a:srgbClr val="3B8B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53712" y="5120640"/>
            <a:ext cx="309981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00" b="1">
                <a:solidFill>
                  <a:srgbClr val="3B8B74"/>
                </a:solidFill>
                <a:latin typeface="Aptos"/>
              </a:rPr>
              <a:t>Our proposed point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5486400"/>
            <a:ext cx="3099816" cy="466343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300" b="0">
                <a:solidFill>
                  <a:srgbClr val="14181F"/>
                </a:solidFill>
                <a:latin typeface="Aptos"/>
              </a:rPr>
              <a:t>MLP+NMS gives the best learned cost-aware tradeoff.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79" y="5010912"/>
            <a:ext cx="3429000" cy="1051560"/>
          </a:xfrm>
          <a:prstGeom prst="rect">
            <a:avLst/>
          </a:prstGeom>
          <a:solidFill>
            <a:srgbClr val="E8F0FA"/>
          </a:solidFill>
          <a:ln w="15240">
            <a:solidFill>
              <a:srgbClr val="B08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19871" y="5120640"/>
            <a:ext cx="309981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00" b="1">
                <a:solidFill>
                  <a:srgbClr val="B08400"/>
                </a:solidFill>
                <a:latin typeface="Aptos"/>
              </a:rPr>
              <a:t>Our upper point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19871" y="5486400"/>
            <a:ext cx="3099816" cy="466343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300" b="0">
                <a:solidFill>
                  <a:srgbClr val="14181F"/>
                </a:solidFill>
                <a:latin typeface="Aptos"/>
              </a:rPr>
              <a:t>Fixed 3+3 gives the strongest grounding.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2A59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68580"/>
            <a:ext cx="969264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800" b="1">
                <a:solidFill>
                  <a:srgbClr val="FFFFFF"/>
                </a:solidFill>
                <a:latin typeface="Aptos"/>
              </a:rPr>
              <a:t>Result 1: Frozen Answerer Is the Bottleneck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61320" y="86868"/>
            <a:ext cx="123444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800" b="0">
                <a:solidFill>
                  <a:srgbClr val="FFFFFF"/>
                </a:solidFill>
                <a:latin typeface="Aptos"/>
              </a:rPr>
              <a:t>10 / 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74536"/>
            <a:ext cx="12191695" cy="283464"/>
          </a:xfrm>
          <a:prstGeom prst="rect">
            <a:avLst/>
          </a:prstGeom>
          <a:solidFill>
            <a:srgbClr val="E8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629400"/>
            <a:ext cx="777240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850" b="0">
                <a:solidFill>
                  <a:srgbClr val="19375C"/>
                </a:solidFill>
                <a:latin typeface="Aptos"/>
              </a:rPr>
              <a:t>Adaptive Evidence Acquisition for Grounded VideoQA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72600" y="6629400"/>
            <a:ext cx="246888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50" b="0">
                <a:solidFill>
                  <a:srgbClr val="19375C"/>
                </a:solidFill>
                <a:latin typeface="Aptos"/>
              </a:rPr>
              <a:t>Final Presentation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85800" y="914400"/>
          <a:ext cx="10835640" cy="2423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7128"/>
                <a:gridCol w="2167128"/>
                <a:gridCol w="2167128"/>
                <a:gridCol w="2167128"/>
                <a:gridCol w="2167128"/>
              </a:tblGrid>
              <a:tr h="484632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Method</a:t>
                      </a:r>
                    </a:p>
                  </a:txBody>
                  <a:tcPr>
                    <a:solidFill>
                      <a:srgbClr val="2A598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Acc@QA</a:t>
                      </a:r>
                    </a:p>
                  </a:txBody>
                  <a:tcPr>
                    <a:solidFill>
                      <a:srgbClr val="2A598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Cost</a:t>
                      </a:r>
                    </a:p>
                  </a:txBody>
                  <a:tcPr>
                    <a:solidFill>
                      <a:srgbClr val="2A598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IoP@0.5</a:t>
                      </a:r>
                    </a:p>
                  </a:txBody>
                  <a:tcPr>
                    <a:solidFill>
                      <a:srgbClr val="2A598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Acc@GQA</a:t>
                      </a:r>
                    </a:p>
                  </a:txBody>
                  <a:tcPr>
                    <a:solidFill>
                      <a:srgbClr val="2A598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81F"/>
                          </a:solidFill>
                          <a:latin typeface="Aptos"/>
                        </a:rPr>
                        <a:t>One segment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181F"/>
                          </a:solidFill>
                          <a:latin typeface="Aptos"/>
                        </a:rPr>
                        <a:t>0.378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181F"/>
                          </a:solidFill>
                          <a:latin typeface="Aptos"/>
                        </a:rPr>
                        <a:t>1.500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181F"/>
                          </a:solidFill>
                          <a:latin typeface="Aptos"/>
                        </a:rPr>
                        <a:t>0.311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181F"/>
                          </a:solidFill>
                          <a:latin typeface="Aptos"/>
                        </a:rPr>
                        <a:t>0.124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81F"/>
                          </a:solidFill>
                          <a:latin typeface="Aptos"/>
                        </a:rPr>
                        <a:t>Linear two-item</a:t>
                      </a:r>
                    </a:p>
                  </a:txBody>
                  <a:tcPr>
                    <a:solidFill>
                      <a:srgbClr val="EBF4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181F"/>
                          </a:solidFill>
                          <a:latin typeface="Aptos"/>
                        </a:rPr>
                        <a:t>0.381</a:t>
                      </a:r>
                    </a:p>
                  </a:txBody>
                  <a:tcPr>
                    <a:solidFill>
                      <a:srgbClr val="EBF4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181F"/>
                          </a:solidFill>
                          <a:latin typeface="Aptos"/>
                        </a:rPr>
                        <a:t>2.795</a:t>
                      </a:r>
                    </a:p>
                  </a:txBody>
                  <a:tcPr>
                    <a:solidFill>
                      <a:srgbClr val="EBF4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181F"/>
                          </a:solidFill>
                          <a:latin typeface="Aptos"/>
                        </a:rPr>
                        <a:t>0.410</a:t>
                      </a:r>
                    </a:p>
                  </a:txBody>
                  <a:tcPr>
                    <a:solidFill>
                      <a:srgbClr val="EBF4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181F"/>
                          </a:solidFill>
                          <a:latin typeface="Aptos"/>
                        </a:rPr>
                        <a:t>0.164</a:t>
                      </a:r>
                    </a:p>
                  </a:txBody>
                  <a:tcPr>
                    <a:solidFill>
                      <a:srgbClr val="EBF4F1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81F"/>
                          </a:solidFill>
                          <a:latin typeface="Aptos"/>
                        </a:rPr>
                        <a:t>Fixed 3+3</a:t>
                      </a:r>
                    </a:p>
                  </a:txBody>
                  <a:tcPr>
                    <a:solidFill>
                      <a:srgbClr val="EBF4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181F"/>
                          </a:solidFill>
                          <a:latin typeface="Aptos"/>
                        </a:rPr>
                        <a:t>0.388</a:t>
                      </a:r>
                    </a:p>
                  </a:txBody>
                  <a:tcPr>
                    <a:solidFill>
                      <a:srgbClr val="EBF4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181F"/>
                          </a:solidFill>
                          <a:latin typeface="Aptos"/>
                        </a:rPr>
                        <a:t>7.500</a:t>
                      </a:r>
                    </a:p>
                  </a:txBody>
                  <a:tcPr>
                    <a:solidFill>
                      <a:srgbClr val="EBF4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181F"/>
                          </a:solidFill>
                          <a:latin typeface="Aptos"/>
                        </a:rPr>
                        <a:t>0.615</a:t>
                      </a:r>
                    </a:p>
                  </a:txBody>
                  <a:tcPr>
                    <a:solidFill>
                      <a:srgbClr val="EBF4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181F"/>
                          </a:solidFill>
                          <a:latin typeface="Aptos"/>
                        </a:rPr>
                        <a:t>0.245</a:t>
                      </a:r>
                    </a:p>
                  </a:txBody>
                  <a:tcPr>
                    <a:solidFill>
                      <a:srgbClr val="EBF4F1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81F"/>
                          </a:solidFill>
                          <a:latin typeface="Aptos"/>
                        </a:rPr>
                        <a:t>Fixed 6+6</a:t>
                      </a:r>
                    </a:p>
                  </a:txBody>
                  <a:tcPr>
                    <a:solidFill>
                      <a:srgbClr val="EBF4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181F"/>
                          </a:solidFill>
                          <a:latin typeface="Aptos"/>
                        </a:rPr>
                        <a:t>0.394</a:t>
                      </a:r>
                    </a:p>
                  </a:txBody>
                  <a:tcPr>
                    <a:solidFill>
                      <a:srgbClr val="EBF4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181F"/>
                          </a:solidFill>
                          <a:latin typeface="Aptos"/>
                        </a:rPr>
                        <a:t>14.908</a:t>
                      </a:r>
                    </a:p>
                  </a:txBody>
                  <a:tcPr>
                    <a:solidFill>
                      <a:srgbClr val="EBF4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181F"/>
                          </a:solidFill>
                          <a:latin typeface="Aptos"/>
                        </a:rPr>
                        <a:t>0.787</a:t>
                      </a:r>
                    </a:p>
                  </a:txBody>
                  <a:tcPr>
                    <a:solidFill>
                      <a:srgbClr val="EBF4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181F"/>
                          </a:solidFill>
                          <a:latin typeface="Aptos"/>
                        </a:rPr>
                        <a:t>0.316</a:t>
                      </a:r>
                    </a:p>
                  </a:txBody>
                  <a:tcPr>
                    <a:solidFill>
                      <a:srgbClr val="EBF4F1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822960" y="3886200"/>
            <a:ext cx="4983480" cy="1371600"/>
          </a:xfrm>
          <a:prstGeom prst="rect">
            <a:avLst/>
          </a:prstGeom>
          <a:solidFill>
            <a:srgbClr val="E8F0FA"/>
          </a:solidFill>
          <a:ln w="15240">
            <a:solidFill>
              <a:srgbClr val="2A59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3995928"/>
            <a:ext cx="465429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500" b="1">
                <a:solidFill>
                  <a:srgbClr val="2A598F"/>
                </a:solidFill>
                <a:latin typeface="Aptos"/>
              </a:rPr>
              <a:t>Observation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4361688"/>
            <a:ext cx="4654296" cy="7863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800" b="0">
                <a:solidFill>
                  <a:srgbClr val="14181F"/>
                </a:solidFill>
                <a:latin typeface="Aptos"/>
              </a:rPr>
              <a:t>Grounding improves as evidence budget increases, but answer accuracy remains near 0.38.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55080" y="3886200"/>
            <a:ext cx="4983480" cy="1371600"/>
          </a:xfrm>
          <a:prstGeom prst="rect">
            <a:avLst/>
          </a:prstGeom>
          <a:solidFill>
            <a:srgbClr val="E8F0FA"/>
          </a:solidFill>
          <a:ln w="15240">
            <a:solidFill>
              <a:srgbClr val="B08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19672" y="3995928"/>
            <a:ext cx="465429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500" b="1">
                <a:solidFill>
                  <a:srgbClr val="B08400"/>
                </a:solidFill>
                <a:latin typeface="Aptos"/>
              </a:rPr>
              <a:t>Conclusion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9672" y="4361688"/>
            <a:ext cx="4654296" cy="7863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800" b="0">
                <a:solidFill>
                  <a:srgbClr val="14181F"/>
                </a:solidFill>
                <a:latin typeface="Aptos"/>
              </a:rPr>
              <a:t>A weak answerer hides evidence-policy improvements in the answer metric.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2A59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68580"/>
            <a:ext cx="969264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800" b="1">
                <a:solidFill>
                  <a:srgbClr val="FFFFFF"/>
                </a:solidFill>
                <a:latin typeface="Aptos"/>
              </a:rPr>
              <a:t>Result 2: Stronger VLM Reveals the Tradeoff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61320" y="86868"/>
            <a:ext cx="123444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800" b="0">
                <a:solidFill>
                  <a:srgbClr val="FFFFFF"/>
                </a:solidFill>
                <a:latin typeface="Aptos"/>
              </a:rPr>
              <a:t>11 / 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74536"/>
            <a:ext cx="12191695" cy="283464"/>
          </a:xfrm>
          <a:prstGeom prst="rect">
            <a:avLst/>
          </a:prstGeom>
          <a:solidFill>
            <a:srgbClr val="E8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629400"/>
            <a:ext cx="777240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850" b="0">
                <a:solidFill>
                  <a:srgbClr val="19375C"/>
                </a:solidFill>
                <a:latin typeface="Aptos"/>
              </a:rPr>
              <a:t>Adaptive Evidence Acquisition for Grounded VideoQA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72600" y="6629400"/>
            <a:ext cx="246888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50" b="0">
                <a:solidFill>
                  <a:srgbClr val="19375C"/>
                </a:solidFill>
                <a:latin typeface="Aptos"/>
              </a:rPr>
              <a:t>Final Presentation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85800" y="868680"/>
          <a:ext cx="1083564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7128"/>
                <a:gridCol w="2167128"/>
                <a:gridCol w="2167128"/>
                <a:gridCol w="2167128"/>
                <a:gridCol w="2167128"/>
              </a:tblGrid>
              <a:tr h="53721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Method</a:t>
                      </a:r>
                    </a:p>
                  </a:txBody>
                  <a:tcPr>
                    <a:solidFill>
                      <a:srgbClr val="2A598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Acc@QA</a:t>
                      </a:r>
                    </a:p>
                  </a:txBody>
                  <a:tcPr>
                    <a:solidFill>
                      <a:srgbClr val="2A598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Cost</a:t>
                      </a:r>
                    </a:p>
                  </a:txBody>
                  <a:tcPr>
                    <a:solidFill>
                      <a:srgbClr val="2A598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IoP@0.5</a:t>
                      </a:r>
                    </a:p>
                  </a:txBody>
                  <a:tcPr>
                    <a:solidFill>
                      <a:srgbClr val="2A598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Acc@GQA</a:t>
                      </a:r>
                    </a:p>
                  </a:txBody>
                  <a:tcPr>
                    <a:solidFill>
                      <a:srgbClr val="2A598F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81F"/>
                          </a:solidFill>
                          <a:latin typeface="Aptos"/>
                        </a:rPr>
                        <a:t>Qwen one segment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4181F"/>
                          </a:solidFill>
                          <a:latin typeface="Aptos"/>
                        </a:rPr>
                        <a:t>0.668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4181F"/>
                          </a:solidFill>
                          <a:latin typeface="Aptos"/>
                        </a:rPr>
                        <a:t>1.500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4181F"/>
                          </a:solidFill>
                          <a:latin typeface="Aptos"/>
                        </a:rPr>
                        <a:t>0.311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4181F"/>
                          </a:solidFill>
                          <a:latin typeface="Aptos"/>
                        </a:rPr>
                        <a:t>0.221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81F"/>
                          </a:solidFill>
                          <a:latin typeface="Aptos"/>
                        </a:rPr>
                        <a:t>Qwen learned two-item</a:t>
                      </a:r>
                    </a:p>
                  </a:txBody>
                  <a:tcPr>
                    <a:solidFill>
                      <a:srgbClr val="EBF4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4181F"/>
                          </a:solidFill>
                          <a:latin typeface="Aptos"/>
                        </a:rPr>
                        <a:t>0.696</a:t>
                      </a:r>
                    </a:p>
                  </a:txBody>
                  <a:tcPr>
                    <a:solidFill>
                      <a:srgbClr val="EBF4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4181F"/>
                          </a:solidFill>
                          <a:latin typeface="Aptos"/>
                        </a:rPr>
                        <a:t>2.795</a:t>
                      </a:r>
                    </a:p>
                  </a:txBody>
                  <a:tcPr>
                    <a:solidFill>
                      <a:srgbClr val="EBF4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4181F"/>
                          </a:solidFill>
                          <a:latin typeface="Aptos"/>
                        </a:rPr>
                        <a:t>0.410</a:t>
                      </a:r>
                    </a:p>
                  </a:txBody>
                  <a:tcPr>
                    <a:solidFill>
                      <a:srgbClr val="EBF4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4181F"/>
                          </a:solidFill>
                          <a:latin typeface="Aptos"/>
                        </a:rPr>
                        <a:t>0.297</a:t>
                      </a:r>
                    </a:p>
                  </a:txBody>
                  <a:tcPr>
                    <a:solidFill>
                      <a:srgbClr val="EBF4F1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81F"/>
                          </a:solidFill>
                          <a:latin typeface="Aptos"/>
                        </a:rPr>
                        <a:t>Qwen fixed 3+3 reference</a:t>
                      </a:r>
                    </a:p>
                  </a:txBody>
                  <a:tcPr>
                    <a:solidFill>
                      <a:srgbClr val="EBF4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4181F"/>
                          </a:solidFill>
                          <a:latin typeface="Aptos"/>
                        </a:rPr>
                        <a:t>0.724</a:t>
                      </a:r>
                    </a:p>
                  </a:txBody>
                  <a:tcPr>
                    <a:solidFill>
                      <a:srgbClr val="EBF4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4181F"/>
                          </a:solidFill>
                          <a:latin typeface="Aptos"/>
                        </a:rPr>
                        <a:t>7.500</a:t>
                      </a:r>
                    </a:p>
                  </a:txBody>
                  <a:tcPr>
                    <a:solidFill>
                      <a:srgbClr val="EBF4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4181F"/>
                          </a:solidFill>
                          <a:latin typeface="Aptos"/>
                        </a:rPr>
                        <a:t>0.615</a:t>
                      </a:r>
                    </a:p>
                  </a:txBody>
                  <a:tcPr>
                    <a:solidFill>
                      <a:srgbClr val="EBF4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4181F"/>
                          </a:solidFill>
                          <a:latin typeface="Aptos"/>
                        </a:rPr>
                        <a:t>0.454</a:t>
                      </a:r>
                    </a:p>
                  </a:txBody>
                  <a:tcPr>
                    <a:solidFill>
                      <a:srgbClr val="EBF4F1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914400" y="3657600"/>
            <a:ext cx="3383280" cy="868680"/>
          </a:xfrm>
          <a:prstGeom prst="rect">
            <a:avLst/>
          </a:prstGeom>
          <a:solidFill>
            <a:srgbClr val="F8FAFC"/>
          </a:solidFill>
          <a:ln w="17780">
            <a:solidFill>
              <a:srgbClr val="3B8B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5" y="3785615"/>
            <a:ext cx="3218688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50" b="1">
                <a:solidFill>
                  <a:srgbClr val="5B6370"/>
                </a:solidFill>
                <a:latin typeface="Aptos"/>
              </a:rPr>
              <a:t>Answer retained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5" y="4059936"/>
            <a:ext cx="3218688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800" b="1">
                <a:solidFill>
                  <a:srgbClr val="3B8B74"/>
                </a:solidFill>
                <a:latin typeface="Aptos"/>
              </a:rPr>
              <a:t>95%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120" y="3657600"/>
            <a:ext cx="3383280" cy="868680"/>
          </a:xfrm>
          <a:prstGeom prst="rect">
            <a:avLst/>
          </a:prstGeom>
          <a:solidFill>
            <a:srgbClr val="F8FAFC"/>
          </a:solidFill>
          <a:ln w="17780">
            <a:solidFill>
              <a:srgbClr val="2A59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71416" y="3785615"/>
            <a:ext cx="3218688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50" b="1">
                <a:solidFill>
                  <a:srgbClr val="5B6370"/>
                </a:solidFill>
                <a:latin typeface="Aptos"/>
              </a:rPr>
              <a:t>Cost used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71416" y="4059936"/>
            <a:ext cx="3218688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800" b="1">
                <a:solidFill>
                  <a:srgbClr val="2A598F"/>
                </a:solidFill>
                <a:latin typeface="Aptos"/>
              </a:rPr>
              <a:t>39%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63840" y="3657600"/>
            <a:ext cx="3383280" cy="868680"/>
          </a:xfrm>
          <a:prstGeom prst="rect">
            <a:avLst/>
          </a:prstGeom>
          <a:solidFill>
            <a:srgbClr val="F8FAFC"/>
          </a:solidFill>
          <a:ln w="17780">
            <a:solidFill>
              <a:srgbClr val="B08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46136" y="3785615"/>
            <a:ext cx="3218688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50" b="1">
                <a:solidFill>
                  <a:srgbClr val="5B6370"/>
                </a:solidFill>
                <a:latin typeface="Aptos"/>
              </a:rPr>
              <a:t>Grounding retained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46136" y="4059936"/>
            <a:ext cx="3218688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800" b="1">
                <a:solidFill>
                  <a:srgbClr val="B08400"/>
                </a:solidFill>
                <a:latin typeface="Aptos"/>
              </a:rPr>
              <a:t>71%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5074920"/>
            <a:ext cx="1014984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2000" b="1">
                <a:solidFill>
                  <a:srgbClr val="19375C"/>
                </a:solidFill>
                <a:latin typeface="Aptos"/>
              </a:rPr>
              <a:t>MLP+NMS evidence is the best learned budgeted method: near-fixed accuracy at much lower evidence cost.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2A59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68580"/>
            <a:ext cx="969264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800" b="1">
                <a:solidFill>
                  <a:srgbClr val="FFFFFF"/>
                </a:solidFill>
                <a:latin typeface="Aptos"/>
              </a:rPr>
              <a:t>Accuracy-Cost-Grounding Tradeoff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61320" y="86868"/>
            <a:ext cx="123444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800" b="0">
                <a:solidFill>
                  <a:srgbClr val="FFFFFF"/>
                </a:solidFill>
                <a:latin typeface="Aptos"/>
              </a:rPr>
              <a:t>12 / 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74536"/>
            <a:ext cx="12191695" cy="283464"/>
          </a:xfrm>
          <a:prstGeom prst="rect">
            <a:avLst/>
          </a:prstGeom>
          <a:solidFill>
            <a:srgbClr val="E8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629400"/>
            <a:ext cx="777240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850" b="0">
                <a:solidFill>
                  <a:srgbClr val="19375C"/>
                </a:solidFill>
                <a:latin typeface="Aptos"/>
              </a:rPr>
              <a:t>Adaptive Evidence Acquisition for Grounded VideoQA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72600" y="6629400"/>
            <a:ext cx="246888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50" b="0">
                <a:solidFill>
                  <a:srgbClr val="19375C"/>
                </a:solidFill>
                <a:latin typeface="Aptos"/>
              </a:rPr>
              <a:t>Final Presentation</a:t>
            </a:r>
          </a:p>
        </p:txBody>
      </p:sp>
      <p:pic>
        <p:nvPicPr>
          <p:cNvPr id="8" name="Picture 7" descr="qwen_test_tradeoff_present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777240"/>
            <a:ext cx="11155680" cy="409235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005840" y="5074920"/>
            <a:ext cx="10149840" cy="1024128"/>
          </a:xfrm>
          <a:prstGeom prst="rect">
            <a:avLst/>
          </a:prstGeom>
          <a:solidFill>
            <a:srgbClr val="E8F0FA"/>
          </a:solidFill>
          <a:ln w="15240">
            <a:solidFill>
              <a:srgbClr val="2A59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5184648"/>
            <a:ext cx="982065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500" b="1">
                <a:solidFill>
                  <a:srgbClr val="2A598F"/>
                </a:solidFill>
                <a:latin typeface="Aptos"/>
              </a:rPr>
              <a:t>Interpretation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" y="5550408"/>
            <a:ext cx="9820656" cy="4389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500" b="0">
                <a:solidFill>
                  <a:srgbClr val="14181F"/>
                </a:solidFill>
                <a:latin typeface="Aptos"/>
              </a:rPr>
              <a:t>MLP+NMS gives the best learned budgeted tradeoff: most of the high-cost answer accuracy, much lower evidence cost, and better grounding than one segment.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2A59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68580"/>
            <a:ext cx="969264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800" b="1">
                <a:solidFill>
                  <a:srgbClr val="FFFFFF"/>
                </a:solidFill>
                <a:latin typeface="Aptos"/>
              </a:rPr>
              <a:t>Qualitative Lessons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61320" y="86868"/>
            <a:ext cx="123444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800" b="0">
                <a:solidFill>
                  <a:srgbClr val="FFFFFF"/>
                </a:solidFill>
                <a:latin typeface="Aptos"/>
              </a:rPr>
              <a:t>13 / 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74536"/>
            <a:ext cx="12191695" cy="283464"/>
          </a:xfrm>
          <a:prstGeom prst="rect">
            <a:avLst/>
          </a:prstGeom>
          <a:solidFill>
            <a:srgbClr val="E8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629400"/>
            <a:ext cx="777240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850" b="0">
                <a:solidFill>
                  <a:srgbClr val="19375C"/>
                </a:solidFill>
                <a:latin typeface="Aptos"/>
              </a:rPr>
              <a:t>Adaptive Evidence Acquisition for Grounded VideoQA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72600" y="6629400"/>
            <a:ext cx="246888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50" b="0">
                <a:solidFill>
                  <a:srgbClr val="19375C"/>
                </a:solidFill>
                <a:latin typeface="Aptos"/>
              </a:rPr>
              <a:t>Final Presentation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822960"/>
          <a:ext cx="11201400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33800"/>
                <a:gridCol w="3733800"/>
                <a:gridCol w="3733800"/>
              </a:tblGrid>
              <a:tr h="81153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ptos"/>
                        </a:rPr>
                        <a:t>Case</a:t>
                      </a:r>
                    </a:p>
                  </a:txBody>
                  <a:tcPr>
                    <a:solidFill>
                      <a:srgbClr val="2A598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ptos"/>
                        </a:rPr>
                        <a:t>What happens</a:t>
                      </a:r>
                    </a:p>
                  </a:txBody>
                  <a:tcPr>
                    <a:solidFill>
                      <a:srgbClr val="2A598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ptos"/>
                        </a:rPr>
                        <a:t>Lesson</a:t>
                      </a:r>
                    </a:p>
                  </a:txBody>
                  <a:tcPr>
                    <a:solidFill>
                      <a:srgbClr val="2A598F"/>
                    </a:solidFill>
                  </a:tcPr>
                </a:tc>
              </a:tr>
              <a:tr h="81153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4181F"/>
                          </a:solidFill>
                          <a:latin typeface="Aptos"/>
                        </a:rPr>
                        <a:t>Correct and grounded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4181F"/>
                          </a:solidFill>
                          <a:latin typeface="Aptos"/>
                        </a:rPr>
                        <a:t>Evidence overlaps the support moment and Qwen predicts the gold answer.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4181F"/>
                          </a:solidFill>
                          <a:latin typeface="Aptos"/>
                        </a:rPr>
                        <a:t>Desired behavior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1153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4181F"/>
                          </a:solidFill>
                          <a:latin typeface="Aptos"/>
                        </a:rPr>
                        <a:t>Correct, weakly grounded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4181F"/>
                          </a:solidFill>
                          <a:latin typeface="Aptos"/>
                        </a:rPr>
                        <a:t>Qwen predicts correctly but selected evidence has low temporal overlap.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4181F"/>
                          </a:solidFill>
                          <a:latin typeface="Aptos"/>
                        </a:rPr>
                        <a:t>Answer accuracy alone misleads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81153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4181F"/>
                          </a:solidFill>
                          <a:latin typeface="Aptos"/>
                        </a:rPr>
                        <a:t>Grounded but wrong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4181F"/>
                          </a:solidFill>
                          <a:latin typeface="Aptos"/>
                        </a:rPr>
                        <a:t>Selected evidence overlaps support span, but answer reasoning fails.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4181F"/>
                          </a:solidFill>
                          <a:latin typeface="Aptos"/>
                        </a:rPr>
                        <a:t>Evidence and reasoning are separate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914400" y="4572000"/>
            <a:ext cx="10378440" cy="960120"/>
          </a:xfrm>
          <a:prstGeom prst="rect">
            <a:avLst/>
          </a:prstGeom>
          <a:solidFill>
            <a:srgbClr val="E8F0FA"/>
          </a:solidFill>
          <a:ln w="15240">
            <a:solidFill>
              <a:srgbClr val="3B8B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4681728"/>
            <a:ext cx="1004925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500" b="1">
                <a:solidFill>
                  <a:srgbClr val="3B8B74"/>
                </a:solidFill>
                <a:latin typeface="Aptos"/>
              </a:rPr>
              <a:t>Takeaway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" y="5047488"/>
            <a:ext cx="10049256" cy="37490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800" b="0">
                <a:solidFill>
                  <a:srgbClr val="14181F"/>
                </a:solidFill>
                <a:latin typeface="Aptos"/>
              </a:rPr>
              <a:t>Grounded VideoQA needs both components: evidence policy must find the right moment, and the answerer must reason from 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2A59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68580"/>
            <a:ext cx="969264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800" b="1">
                <a:solidFill>
                  <a:srgbClr val="FFFFFF"/>
                </a:solidFill>
                <a:latin typeface="Aptos"/>
              </a:rPr>
              <a:t>Answers to the Opening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61320" y="86868"/>
            <a:ext cx="123444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800" b="0">
                <a:solidFill>
                  <a:srgbClr val="FFFFFF"/>
                </a:solidFill>
                <a:latin typeface="Aptos"/>
              </a:rPr>
              <a:t>14 / 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74536"/>
            <a:ext cx="12191695" cy="283464"/>
          </a:xfrm>
          <a:prstGeom prst="rect">
            <a:avLst/>
          </a:prstGeom>
          <a:solidFill>
            <a:srgbClr val="E8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629400"/>
            <a:ext cx="777240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850" b="0">
                <a:solidFill>
                  <a:srgbClr val="19375C"/>
                </a:solidFill>
                <a:latin typeface="Aptos"/>
              </a:rPr>
              <a:t>Adaptive Evidence Acquisition for Grounded VideoQA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72600" y="6629400"/>
            <a:ext cx="246888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50" b="0">
                <a:solidFill>
                  <a:srgbClr val="19375C"/>
                </a:solidFill>
                <a:latin typeface="Aptos"/>
              </a:rPr>
              <a:t>Final Presentation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822960"/>
            <a:ext cx="10652760" cy="1078992"/>
          </a:xfrm>
          <a:prstGeom prst="rect">
            <a:avLst/>
          </a:prstGeom>
          <a:solidFill>
            <a:srgbClr val="E8F0FA"/>
          </a:solidFill>
          <a:ln w="15240">
            <a:solidFill>
              <a:srgbClr val="2A59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932688"/>
            <a:ext cx="1032357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500" b="1">
                <a:solidFill>
                  <a:srgbClr val="2A598F"/>
                </a:solidFill>
                <a:latin typeface="Aptos"/>
              </a:rPr>
              <a:t>Q1. Same evidence budget for every question?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1298448"/>
            <a:ext cx="10323576" cy="49377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700" b="0">
                <a:solidFill>
                  <a:srgbClr val="14181F"/>
                </a:solidFill>
                <a:latin typeface="Aptos"/>
              </a:rPr>
              <a:t>No. Evidence need varies; fixed context can be wasteful or weakly grounded.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331720"/>
            <a:ext cx="10652760" cy="1078992"/>
          </a:xfrm>
          <a:prstGeom prst="rect">
            <a:avLst/>
          </a:prstGeom>
          <a:solidFill>
            <a:srgbClr val="E8F0FA"/>
          </a:solidFill>
          <a:ln w="15240">
            <a:solidFill>
              <a:srgbClr val="3B8B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" y="2441448"/>
            <a:ext cx="1032357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500" b="1">
                <a:solidFill>
                  <a:srgbClr val="3B8B74"/>
                </a:solidFill>
                <a:latin typeface="Aptos"/>
              </a:rPr>
              <a:t>Q2. Can compact learned evidence preserve accuracy?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2807208"/>
            <a:ext cx="10323576" cy="49377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700" b="0">
                <a:solidFill>
                  <a:srgbClr val="14181F"/>
                </a:solidFill>
                <a:latin typeface="Aptos"/>
              </a:rPr>
              <a:t>Yes. MLP+NMS evidence keeps about 95% of fixed 3+3 answer accuracy at 39% of the cost.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840480"/>
            <a:ext cx="10652760" cy="1078992"/>
          </a:xfrm>
          <a:prstGeom prst="rect">
            <a:avLst/>
          </a:prstGeom>
          <a:solidFill>
            <a:srgbClr val="E8F0FA"/>
          </a:solidFill>
          <a:ln w="15240">
            <a:solidFill>
              <a:srgbClr val="B08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3950208"/>
            <a:ext cx="1032357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500" b="1">
                <a:solidFill>
                  <a:srgbClr val="B08400"/>
                </a:solidFill>
                <a:latin typeface="Aptos"/>
              </a:rPr>
              <a:t>Q3. Evidence problem or answerer problem?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4315968"/>
            <a:ext cx="10323576" cy="49377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700" b="0">
                <a:solidFill>
                  <a:srgbClr val="14181F"/>
                </a:solidFill>
                <a:latin typeface="Aptos"/>
              </a:rPr>
              <a:t>Both. The frozen answerer hides evidence gains; Qwen exposes the accuracy-cost-grounding frontier.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623560"/>
            <a:ext cx="1033272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600" b="0">
                <a:solidFill>
                  <a:srgbClr val="5B6370"/>
                </a:solidFill>
                <a:latin typeface="Aptos"/>
              </a:rPr>
              <a:t>This answers the initial questions after the method and evidence-budget experiments.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2A59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68580"/>
            <a:ext cx="969264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800" b="1">
                <a:solidFill>
                  <a:srgbClr val="FFFFFF"/>
                </a:solidFill>
                <a:latin typeface="Aptos"/>
              </a:rPr>
              <a:t>Final Takeaway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61320" y="86868"/>
            <a:ext cx="123444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800" b="0">
                <a:solidFill>
                  <a:srgbClr val="FFFFFF"/>
                </a:solidFill>
                <a:latin typeface="Aptos"/>
              </a:rPr>
              <a:t>15 / 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74536"/>
            <a:ext cx="12191695" cy="283464"/>
          </a:xfrm>
          <a:prstGeom prst="rect">
            <a:avLst/>
          </a:prstGeom>
          <a:solidFill>
            <a:srgbClr val="E8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629400"/>
            <a:ext cx="777240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850" b="0">
                <a:solidFill>
                  <a:srgbClr val="19375C"/>
                </a:solidFill>
                <a:latin typeface="Aptos"/>
              </a:rPr>
              <a:t>Adaptive Evidence Acquisition for Grounded VideoQA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72600" y="6629400"/>
            <a:ext cx="246888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50" b="0">
                <a:solidFill>
                  <a:srgbClr val="19375C"/>
                </a:solidFill>
                <a:latin typeface="Aptos"/>
              </a:rPr>
              <a:t>Final Presentation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914400"/>
            <a:ext cx="10561320" cy="777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2500" b="1">
                <a:solidFill>
                  <a:srgbClr val="19375C"/>
                </a:solidFill>
                <a:latin typeface="Aptos"/>
              </a:rPr>
              <a:t>Grounded VideoQA should be evaluated as evidence selection plus answer generation.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148840"/>
            <a:ext cx="9966960" cy="20116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marL="285750">
              <a:spcAft>
                <a:spcPts val="700"/>
              </a:spcAft>
              <a:defRPr sz="2100">
                <a:solidFill>
                  <a:srgbClr val="14181F"/>
                </a:solidFill>
                <a:latin typeface="Aptos"/>
              </a:defRPr>
            </a:pPr>
            <a:r>
              <a:t>A weak answerer can hide better evidence selection.</a:t>
            </a:r>
          </a:p>
          <a:p>
            <a:pPr marL="285750">
              <a:spcAft>
                <a:spcPts val="700"/>
              </a:spcAft>
              <a:defRPr sz="2100">
                <a:solidFill>
                  <a:srgbClr val="14181F"/>
                </a:solidFill>
                <a:latin typeface="Aptos"/>
              </a:defRPr>
            </a:pPr>
            <a:r>
              <a:t>A strong VLM makes compact evidence useful for answering.</a:t>
            </a:r>
          </a:p>
          <a:p>
            <a:pPr marL="285750">
              <a:spcAft>
                <a:spcPts val="700"/>
              </a:spcAft>
              <a:defRPr sz="2100">
                <a:solidFill>
                  <a:srgbClr val="14181F"/>
                </a:solidFill>
                <a:latin typeface="Aptos"/>
              </a:defRPr>
            </a:pPr>
            <a:r>
              <a:t>Faithful temporal grounding still benefits from broader evidence coverage.</a:t>
            </a:r>
          </a:p>
          <a:p>
            <a:pPr marL="285750">
              <a:spcAft>
                <a:spcPts val="700"/>
              </a:spcAft>
              <a:defRPr sz="2100">
                <a:solidFill>
                  <a:srgbClr val="14181F"/>
                </a:solidFill>
                <a:latin typeface="Aptos"/>
              </a:defRPr>
            </a:pPr>
            <a:r>
              <a:t>The result is a Pareto tradeoff, not a single winner.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463040" y="4892040"/>
            <a:ext cx="9235440" cy="868680"/>
          </a:xfrm>
          <a:prstGeom prst="rect">
            <a:avLst/>
          </a:prstGeom>
          <a:solidFill>
            <a:srgbClr val="E8F0FA"/>
          </a:solidFill>
          <a:ln w="15240">
            <a:solidFill>
              <a:srgbClr val="3B8B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27632" y="5001768"/>
            <a:ext cx="890625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500" b="1">
                <a:solidFill>
                  <a:srgbClr val="3B8B74"/>
                </a:solidFill>
                <a:latin typeface="Aptos"/>
              </a:rPr>
              <a:t>One-line closing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27632" y="5367527"/>
            <a:ext cx="8906256" cy="283463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800" b="0">
                <a:solidFill>
                  <a:srgbClr val="14181F"/>
                </a:solidFill>
                <a:latin typeface="Aptos"/>
              </a:rPr>
              <a:t>Select enough evidence, not too much evidence, and verify that the answer is supported by the right moment.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