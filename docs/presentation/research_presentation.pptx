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8136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 b="1">
                <a:solidFill>
                  <a:srgbClr val="19375C"/>
                </a:solidFill>
                <a:latin typeface="Aptos"/>
              </a:rPr>
              <a:t>Adaptive Evidence Acquisition for</a:t>
            </a:r>
            <a:br/>
            <a:r>
              <a:t>Grounded Video Question Answering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1051560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5B6370"/>
                </a:solidFill>
                <a:latin typeface="Aptos"/>
              </a:rPr>
              <a:t>A cost-aware evidence selection view of grounded VideoQA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154680"/>
            <a:ext cx="5257800" cy="1325880"/>
          </a:xfrm>
          <a:prstGeom prst="rect">
            <a:avLst/>
          </a:prstGeom>
          <a:solidFill>
            <a:srgbClr val="E8F0FA"/>
          </a:solidFill>
          <a:ln w="1524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3264408"/>
            <a:ext cx="4928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3B8B74"/>
                </a:solidFill>
                <a:latin typeface="Aptos"/>
              </a:rPr>
              <a:t>Opening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3630168"/>
            <a:ext cx="4928616" cy="7406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14181F"/>
                </a:solidFill>
                <a:latin typeface="Aptos"/>
              </a:rPr>
              <a:t>How much visual evidence is enough to answer a video question while staying temporally grounded?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154680"/>
            <a:ext cx="5257800" cy="1325880"/>
          </a:xfrm>
          <a:prstGeom prst="rect">
            <a:avLst/>
          </a:prstGeom>
          <a:solidFill>
            <a:srgbClr val="E8F0FA"/>
          </a:solidFill>
          <a:ln w="15240">
            <a:solidFill>
              <a:srgbClr val="B0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3264408"/>
            <a:ext cx="4928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B08400"/>
                </a:solidFill>
                <a:latin typeface="Aptos"/>
              </a:rPr>
              <a:t>Main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3630168"/>
            <a:ext cx="4928616" cy="7406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14181F"/>
                </a:solidFill>
                <a:latin typeface="Aptos"/>
              </a:rPr>
              <a:t>Answer accuracy, evidence cost, and temporal grounding must be evaluated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650992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5B6370"/>
                </a:solidFill>
                <a:latin typeface="Aptos"/>
              </a:rPr>
              <a:t>Aniket Salunke, Ketan More, Nazish Baliyan, Ritesh Thawkar | MBZUAI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Three Questions We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960120"/>
            <a:ext cx="10561320" cy="932688"/>
          </a:xfrm>
          <a:prstGeom prst="rect">
            <a:avLst/>
          </a:prstGeom>
          <a:solidFill>
            <a:srgbClr val="E8F0FA"/>
          </a:solidFill>
          <a:ln w="1524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069848"/>
            <a:ext cx="102321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A598F"/>
                </a:solidFill>
                <a:latin typeface="Aptos"/>
              </a:rPr>
              <a:t>Research Question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435608"/>
            <a:ext cx="10232136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14181F"/>
                </a:solidFill>
                <a:latin typeface="Aptos"/>
              </a:rPr>
              <a:t>Q1. Do all video questions need the same amount of visual evidence?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31720"/>
            <a:ext cx="10561320" cy="932688"/>
          </a:xfrm>
          <a:prstGeom prst="rect">
            <a:avLst/>
          </a:prstGeom>
          <a:solidFill>
            <a:srgbClr val="E8F0FA"/>
          </a:solidFill>
          <a:ln w="1524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441448"/>
            <a:ext cx="102321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3B8B74"/>
                </a:solidFill>
                <a:latin typeface="Aptos"/>
              </a:rPr>
              <a:t>Research Question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807208"/>
            <a:ext cx="10232136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14181F"/>
                </a:solidFill>
                <a:latin typeface="Aptos"/>
              </a:rPr>
              <a:t>Q2. Can a compact learned policy preserve answer accuracy at lower cost?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03320"/>
            <a:ext cx="10561320" cy="932688"/>
          </a:xfrm>
          <a:prstGeom prst="rect">
            <a:avLst/>
          </a:prstGeom>
          <a:solidFill>
            <a:srgbClr val="E8F0FA"/>
          </a:solidFill>
          <a:ln w="15240">
            <a:solidFill>
              <a:srgbClr val="B0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813048"/>
            <a:ext cx="102321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B08400"/>
                </a:solidFill>
                <a:latin typeface="Aptos"/>
              </a:rPr>
              <a:t>Research Question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178808"/>
            <a:ext cx="10232136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14181F"/>
                </a:solidFill>
                <a:latin typeface="Aptos"/>
              </a:rPr>
              <a:t>Q3. Is poor performance caused by weak evidence selection or by a weak answerer?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49240"/>
            <a:ext cx="10241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0">
                <a:solidFill>
                  <a:srgbClr val="5B6370"/>
                </a:solidFill>
                <a:latin typeface="Aptos"/>
              </a:rPr>
              <a:t>We answer these after defining the task, method, and evidence-budget experiments.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Motivation: Correct Answers Can Be Ungrounded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530352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>
              <a:spcAft>
                <a:spcPts val="700"/>
              </a:spcAft>
              <a:defRPr sz="2000">
                <a:solidFill>
                  <a:srgbClr val="14181F"/>
                </a:solidFill>
                <a:latin typeface="Aptos"/>
              </a:defRPr>
            </a:pPr>
            <a:r>
              <a:t>VideoQA evidence is distributed over time.</a:t>
            </a:r>
          </a:p>
          <a:p>
            <a:pPr marL="285750">
              <a:spcAft>
                <a:spcPts val="700"/>
              </a:spcAft>
              <a:defRPr sz="2000">
                <a:solidFill>
                  <a:srgbClr val="14181F"/>
                </a:solidFill>
                <a:latin typeface="Aptos"/>
              </a:defRPr>
            </a:pPr>
            <a:r>
              <a:t>A correct option may be guessed from priors or broad scene context.</a:t>
            </a:r>
          </a:p>
          <a:p>
            <a:pPr marL="285750">
              <a:spcAft>
                <a:spcPts val="700"/>
              </a:spcAft>
              <a:defRPr sz="2000">
                <a:solidFill>
                  <a:srgbClr val="14181F"/>
                </a:solidFill>
                <a:latin typeface="Aptos"/>
              </a:defRPr>
            </a:pPr>
            <a:r>
              <a:t>Fixed frame/clip budgets can waste evidence or miss the support moment.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914400"/>
            <a:ext cx="4892040" cy="2011680"/>
          </a:xfrm>
          <a:prstGeom prst="rect">
            <a:avLst/>
          </a:prstGeom>
          <a:solidFill>
            <a:srgbClr val="E8F0FA"/>
          </a:solidFill>
          <a:ln w="1524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024128"/>
            <a:ext cx="45628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A598F"/>
                </a:solidFill>
                <a:latin typeface="Aptos"/>
              </a:rPr>
              <a:t>Grounded VideoQA asks two things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1389888"/>
            <a:ext cx="4562855" cy="14264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14181F"/>
                </a:solidFill>
                <a:latin typeface="Aptos"/>
              </a:rPr>
              <a:t>1. Is the answer correct?</a:t>
            </a:r>
            <a:br/>
            <a:r>
              <a:t>2. Does the selected evidence overlap the annotated support moment?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383280"/>
            <a:ext cx="4892040" cy="1508760"/>
          </a:xfrm>
          <a:prstGeom prst="rect">
            <a:avLst/>
          </a:prstGeom>
          <a:solidFill>
            <a:srgbClr val="E8F0FA"/>
          </a:solidFill>
          <a:ln w="1524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3493008"/>
            <a:ext cx="456285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3B8B74"/>
                </a:solidFill>
                <a:latin typeface="Aptos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858768"/>
            <a:ext cx="4562855" cy="92354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14181F"/>
                </a:solidFill>
                <a:latin typeface="Aptos"/>
              </a:rPr>
              <a:t>Grounding turns VideoQA from answer classification into evidence-supported reasoning.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5285232"/>
            <a:ext cx="5074920" cy="777240"/>
          </a:xfrm>
          <a:prstGeom prst="rect">
            <a:avLst/>
          </a:prstGeom>
          <a:solidFill>
            <a:srgbClr val="F8FAFC"/>
          </a:solidFill>
          <a:ln w="17780">
            <a:solidFill>
              <a:srgbClr val="B0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5413248"/>
            <a:ext cx="491032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5B6370"/>
                </a:solidFill>
                <a:latin typeface="Aptos"/>
              </a:rPr>
              <a:t>Failure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5687568"/>
            <a:ext cx="491032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B08400"/>
                </a:solidFill>
                <a:latin typeface="Aptos"/>
              </a:rPr>
              <a:t>correct but weakly grounded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5285232"/>
            <a:ext cx="5074920" cy="777240"/>
          </a:xfrm>
          <a:prstGeom prst="rect">
            <a:avLst/>
          </a:prstGeom>
          <a:solidFill>
            <a:srgbClr val="F8FAFC"/>
          </a:solidFill>
          <a:ln w="1778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5413248"/>
            <a:ext cx="491032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5B6370"/>
                </a:solidFill>
                <a:latin typeface="Aptos"/>
              </a:rPr>
              <a:t>Desired 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5687568"/>
            <a:ext cx="491032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3B8B74"/>
                </a:solidFill>
                <a:latin typeface="Aptos"/>
              </a:rPr>
              <a:t>correct and grounded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Related Work and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4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914400"/>
          <a:ext cx="110185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/>
                <a:gridCol w="3672840"/>
                <a:gridCol w="3672840"/>
              </a:tblGrid>
              <a:tr h="66751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Examples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What they provide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VideoQA benchmarks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MovieQA, TGIF-QA, TVQA, NExT-QA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Temporal and causal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Grounded VideoQA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TVQA+, NExT-GQA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Answer must be supported by temporal evidence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Pretrained VLMs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CLIP, FrozenBiLM, SeViLA, Qwen2.5-VL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Strong visual-language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Retrieval-augmented video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VideoRAG-style selective context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Long-video evidence construction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4617720"/>
            <a:ext cx="10561320" cy="960120"/>
          </a:xfrm>
          <a:prstGeom prst="rect">
            <a:avLst/>
          </a:prstGeom>
          <a:solidFill>
            <a:srgbClr val="E8F0FA"/>
          </a:solidFill>
          <a:ln w="15240">
            <a:solidFill>
              <a:srgbClr val="B0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727448"/>
            <a:ext cx="102321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B08400"/>
                </a:solidFill>
                <a:latin typeface="Aptos"/>
              </a:rPr>
              <a:t>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093208"/>
            <a:ext cx="10232136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14181F"/>
                </a:solidFill>
                <a:latin typeface="Aptos"/>
              </a:rPr>
              <a:t>Prior work often fixes the amount of context or reports answer quality without jointly charging evidence cost and measuring temporal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Task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5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868680"/>
            <a:ext cx="5257800" cy="1325880"/>
          </a:xfrm>
          <a:prstGeom prst="rect">
            <a:avLst/>
          </a:prstGeom>
          <a:solidFill>
            <a:srgbClr val="E8F0FA"/>
          </a:solidFill>
          <a:ln w="1524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978407"/>
            <a:ext cx="4928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A598F"/>
                </a:solidFill>
                <a:latin typeface="Aptos"/>
              </a:rPr>
              <a:t>Grounded VideoQA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344168"/>
            <a:ext cx="4928616" cy="7406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4181F"/>
                </a:solidFill>
                <a:latin typeface="Aptos"/>
              </a:rPr>
              <a:t>x = (v, q, A, y, T)</a:t>
            </a:r>
            <a:br/>
            <a:r>
              <a:t>video, question, answer options, label, support span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868680"/>
            <a:ext cx="5257800" cy="1325880"/>
          </a:xfrm>
          <a:prstGeom prst="rect">
            <a:avLst/>
          </a:prstGeom>
          <a:solidFill>
            <a:srgbClr val="E8F0FA"/>
          </a:solidFill>
          <a:ln w="1524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978407"/>
            <a:ext cx="4928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3B8B74"/>
                </a:solidFill>
                <a:latin typeface="Aptos"/>
              </a:rPr>
              <a:t>Evidence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344168"/>
            <a:ext cx="4928616" cy="7406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4181F"/>
                </a:solidFill>
                <a:latin typeface="Aptos"/>
              </a:rPr>
              <a:t>E(x) = {e1, ..., eN}</a:t>
            </a:r>
            <a:br/>
            <a:r>
              <a:t>frames and short temporal segments with cost and interval metadata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06040"/>
            <a:ext cx="5257800" cy="1325880"/>
          </a:xfrm>
          <a:prstGeom prst="rect">
            <a:avLst/>
          </a:prstGeom>
          <a:solidFill>
            <a:srgbClr val="E8F0FA"/>
          </a:solidFill>
          <a:ln w="15240">
            <a:solidFill>
              <a:srgbClr val="B0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715768"/>
            <a:ext cx="4928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B08400"/>
                </a:solidFill>
                <a:latin typeface="Aptos"/>
              </a:rP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081528"/>
            <a:ext cx="4928616" cy="7406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0">
                <a:solidFill>
                  <a:srgbClr val="14181F"/>
                </a:solidFill>
                <a:latin typeface="Aptos"/>
              </a:rPr>
              <a:t>Selects S subset E(x)</a:t>
            </a:r>
            <a:br/>
            <a:r>
              <a:t>C(S) = sum_i c_i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606040"/>
            <a:ext cx="5257800" cy="1325880"/>
          </a:xfrm>
          <a:prstGeom prst="rect">
            <a:avLst/>
          </a:prstGeom>
          <a:solidFill>
            <a:srgbClr val="E8F0FA"/>
          </a:solidFill>
          <a:ln w="1524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2715768"/>
            <a:ext cx="4928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A598F"/>
                </a:solidFill>
                <a:latin typeface="Aptos"/>
              </a:rPr>
              <a:t>Answerer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081528"/>
            <a:ext cx="4928616" cy="7406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14181F"/>
                </a:solidFill>
                <a:latin typeface="Aptos"/>
              </a:rPr>
              <a:t>Predicts answer from question, options, and selected evidence only.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3327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19375C"/>
                </a:solidFill>
                <a:latin typeface="Aptos"/>
              </a:rPr>
              <a:t>Optimization intuition: maximize answer accuracy and grounding while minimizing acquired evidence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Method: Adaptive Evidence Acquisition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6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pic>
        <p:nvPicPr>
          <p:cNvPr id="8" name="Picture 7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658368"/>
            <a:ext cx="9875520" cy="421445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" y="5102352"/>
            <a:ext cx="5257800" cy="932688"/>
          </a:xfrm>
          <a:prstGeom prst="rect">
            <a:avLst/>
          </a:prstGeom>
          <a:solidFill>
            <a:srgbClr val="E8F0FA"/>
          </a:solidFill>
          <a:ln w="1524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5212080"/>
            <a:ext cx="4928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2A598F"/>
                </a:solidFill>
                <a:latin typeface="Aptos"/>
              </a:rPr>
              <a:t>Candidate 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5577840"/>
            <a:ext cx="4928616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14181F"/>
                </a:solidFill>
                <a:latin typeface="Aptos"/>
              </a:rPr>
              <a:t>Sample frames and 4s sliding segments; rank top candidates with CLIP question-option similarity.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5102352"/>
            <a:ext cx="5257800" cy="932688"/>
          </a:xfrm>
          <a:prstGeom prst="rect">
            <a:avLst/>
          </a:prstGeom>
          <a:solidFill>
            <a:srgbClr val="E8F0FA"/>
          </a:solidFill>
          <a:ln w="1524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5212080"/>
            <a:ext cx="49286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3B8B74"/>
                </a:solidFill>
                <a:latin typeface="Aptos"/>
              </a:rPr>
              <a:t>Controlled answerer swap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5577840"/>
            <a:ext cx="4928616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14181F"/>
                </a:solidFill>
                <a:latin typeface="Aptos"/>
              </a:rPr>
              <a:t>Keep selected evidence fixed, then swap only the answerer to separate evidence quality from reasoning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Evidence Policies and Cost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7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868680"/>
          <a:ext cx="10927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Policy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Selection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Cost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One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highest-scoring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Low-cost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Learned two-item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linear router: frame/segment/stop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2.795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Efficient middle point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Fixed 3+3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3 frames + 3 segments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7.500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High-coverage control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Fixed 6+6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6 frames + 6 segments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about 12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14.908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Large frozen-answerer control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4400" y="4160520"/>
            <a:ext cx="4800600" cy="1234440"/>
          </a:xfrm>
          <a:prstGeom prst="rect">
            <a:avLst/>
          </a:prstGeom>
          <a:solidFill>
            <a:srgbClr val="E8F0FA"/>
          </a:solidFill>
          <a:ln w="1524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270248"/>
            <a:ext cx="44714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A598F"/>
                </a:solidFill>
                <a:latin typeface="Aptos"/>
              </a:rPr>
              <a:t>Policy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636008"/>
            <a:ext cx="4471416" cy="6492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4181F"/>
                </a:solidFill>
                <a:latin typeface="Aptos"/>
              </a:rPr>
              <a:t>The learned linear router is trained from oracle traces; Qwen is not trained or used for routing.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160520"/>
            <a:ext cx="4800600" cy="1234440"/>
          </a:xfrm>
          <a:prstGeom prst="rect">
            <a:avLst/>
          </a:prstGeom>
          <a:solidFill>
            <a:srgbClr val="E8F0FA"/>
          </a:solidFill>
          <a:ln w="1524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4270248"/>
            <a:ext cx="44714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3B8B74"/>
                </a:solidFill>
                <a:latin typeface="Aptos"/>
              </a:rPr>
              <a:t>Why fixed controls matter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4636008"/>
            <a:ext cx="4471416" cy="6492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4181F"/>
                </a:solidFill>
                <a:latin typeface="Aptos"/>
              </a:rPr>
              <a:t>They show what grounding improves when we spend much more visual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Experimental Setup and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8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868680"/>
            <a:ext cx="3429000" cy="1417320"/>
          </a:xfrm>
          <a:prstGeom prst="rect">
            <a:avLst/>
          </a:prstGeom>
          <a:solidFill>
            <a:srgbClr val="E8F0FA"/>
          </a:solidFill>
          <a:ln w="1524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978407"/>
            <a:ext cx="3099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A598F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344168"/>
            <a:ext cx="3099816" cy="8321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4181F"/>
                </a:solidFill>
                <a:latin typeface="Aptos"/>
              </a:rPr>
              <a:t>NExT-GQA</a:t>
            </a:r>
            <a:br/>
            <a:r>
              <a:t>Validation: 3,358 examples</a:t>
            </a:r>
            <a:br/>
            <a:r>
              <a:t>Test: 5,553 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868680"/>
            <a:ext cx="3429000" cy="1417320"/>
          </a:xfrm>
          <a:prstGeom prst="rect">
            <a:avLst/>
          </a:prstGeom>
          <a:solidFill>
            <a:srgbClr val="E8F0FA"/>
          </a:solidFill>
          <a:ln w="1524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978407"/>
            <a:ext cx="3099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3B8B74"/>
                </a:solidFill>
                <a:latin typeface="Aptos"/>
              </a:rPr>
              <a:t>Answerers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344168"/>
            <a:ext cx="3099816" cy="8321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4181F"/>
                </a:solidFill>
                <a:latin typeface="Aptos"/>
              </a:rPr>
              <a:t>Frozen CLIP-style scorer</a:t>
            </a:r>
            <a:br/>
            <a:r>
              <a:t>Qwen2.5-VL-3B-Instruct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868680"/>
            <a:ext cx="3429000" cy="1417320"/>
          </a:xfrm>
          <a:prstGeom prst="rect">
            <a:avLst/>
          </a:prstGeom>
          <a:solidFill>
            <a:srgbClr val="E8F0FA"/>
          </a:solidFill>
          <a:ln w="15240">
            <a:solidFill>
              <a:srgbClr val="B0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978407"/>
            <a:ext cx="3099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B08400"/>
                </a:solidFill>
                <a:latin typeface="Aptos"/>
              </a:rPr>
              <a:t>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344168"/>
            <a:ext cx="3099816" cy="8321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4181F"/>
                </a:solidFill>
                <a:latin typeface="Aptos"/>
              </a:rPr>
              <a:t>Same selected evidence</a:t>
            </a:r>
            <a:br/>
            <a:r>
              <a:t>Swap only final answerer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788920"/>
          <a:ext cx="106527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380"/>
                <a:gridCol w="5326380"/>
              </a:tblGrid>
              <a:tr h="37338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4181F"/>
                          </a:solidFill>
                          <a:latin typeface="Aptos"/>
                        </a:rPr>
                        <a:t>Acc@QA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4181F"/>
                          </a:solidFill>
                          <a:latin typeface="Aptos"/>
                        </a:rPr>
                        <a:t>Whether the answer letter is 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4181F"/>
                          </a:solidFill>
                          <a:latin typeface="Aptos"/>
                        </a:rPr>
                        <a:t>Cost / Count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4181F"/>
                          </a:solidFill>
                          <a:latin typeface="Aptos"/>
                        </a:rPr>
                        <a:t>Amount of visual evidence consumed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4181F"/>
                          </a:solidFill>
                          <a:latin typeface="Aptos"/>
                        </a:rPr>
                        <a:t>mIoP, IoP@0.5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4181F"/>
                          </a:solidFill>
                          <a:latin typeface="Aptos"/>
                        </a:rPr>
                        <a:t>How much selected evidence lies inside support span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4181F"/>
                          </a:solidFill>
                          <a:latin typeface="Aptos"/>
                        </a:rPr>
                        <a:t>mIoU, IoU@0.5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4181F"/>
                          </a:solidFill>
                          <a:latin typeface="Aptos"/>
                        </a:rPr>
                        <a:t>Stricter temporal overlap with support span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4181F"/>
                          </a:solidFill>
                          <a:latin typeface="Aptos"/>
                        </a:rPr>
                        <a:t>Acc@GQA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4181F"/>
                          </a:solidFill>
                          <a:latin typeface="Aptos"/>
                        </a:rPr>
                        <a:t>Correct answer plus IoP@0.5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Main Comparison: Answer Accuracy Is Not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9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pic>
        <p:nvPicPr>
          <p:cNvPr id="8" name="Picture 7" descr="main_comparison_grounding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77240"/>
            <a:ext cx="10835640" cy="389858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5010912"/>
            <a:ext cx="3429000" cy="1051560"/>
          </a:xfrm>
          <a:prstGeom prst="rect">
            <a:avLst/>
          </a:prstGeom>
          <a:solidFill>
            <a:srgbClr val="E8F0FA"/>
          </a:solidFill>
          <a:ln w="1524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5120640"/>
            <a:ext cx="3099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2A598F"/>
                </a:solidFill>
                <a:latin typeface="Aptos"/>
              </a:rPr>
              <a:t>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486400"/>
            <a:ext cx="3099816" cy="46634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14181F"/>
                </a:solidFill>
                <a:latin typeface="Aptos"/>
              </a:rPr>
              <a:t>Prior rows provide scale; our grounding uses selected-evidence best overlap.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5010912"/>
            <a:ext cx="3429000" cy="1051560"/>
          </a:xfrm>
          <a:prstGeom prst="rect">
            <a:avLst/>
          </a:prstGeom>
          <a:solidFill>
            <a:srgbClr val="E8F0FA"/>
          </a:solidFill>
          <a:ln w="1524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5120640"/>
            <a:ext cx="3099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3B8B74"/>
                </a:solidFill>
                <a:latin typeface="Aptos"/>
              </a:rPr>
              <a:t>Our proposed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5486400"/>
            <a:ext cx="3099816" cy="46634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14181F"/>
                </a:solidFill>
                <a:latin typeface="Aptos"/>
              </a:rPr>
              <a:t>Learned evidence gives the best cost-aware tradeoff.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5010912"/>
            <a:ext cx="3429000" cy="1051560"/>
          </a:xfrm>
          <a:prstGeom prst="rect">
            <a:avLst/>
          </a:prstGeom>
          <a:solidFill>
            <a:srgbClr val="E8F0FA"/>
          </a:solidFill>
          <a:ln w="15240">
            <a:solidFill>
              <a:srgbClr val="B0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1" y="5120640"/>
            <a:ext cx="3099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B08400"/>
                </a:solidFill>
                <a:latin typeface="Aptos"/>
              </a:rPr>
              <a:t>Our upper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1" y="5486400"/>
            <a:ext cx="3099816" cy="46634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14181F"/>
                </a:solidFill>
                <a:latin typeface="Aptos"/>
              </a:rPr>
              <a:t>Fixed 3+3 gives the strongest grounding.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Result 1: Frozen Answerer Is the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10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914400"/>
          <a:ext cx="108356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128"/>
                <a:gridCol w="2167128"/>
                <a:gridCol w="2167128"/>
                <a:gridCol w="2167128"/>
                <a:gridCol w="2167128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Acc@QA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Cost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IoP@0.5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Acc@GQA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One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0.378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Learned two-item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0.381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2.795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0.410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0.164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Fixed 3+3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0.388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7.500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0.615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0.245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Fixed 6+6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0.394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14.908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0.787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4181F"/>
                          </a:solidFill>
                          <a:latin typeface="Aptos"/>
                        </a:rPr>
                        <a:t>0.316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3886200"/>
            <a:ext cx="4983480" cy="1371600"/>
          </a:xfrm>
          <a:prstGeom prst="rect">
            <a:avLst/>
          </a:prstGeom>
          <a:solidFill>
            <a:srgbClr val="E8F0FA"/>
          </a:solidFill>
          <a:ln w="1524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995928"/>
            <a:ext cx="46542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A598F"/>
                </a:solidFill>
                <a:latin typeface="Aptos"/>
              </a:rPr>
              <a:t>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361688"/>
            <a:ext cx="4654296" cy="786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14181F"/>
                </a:solidFill>
                <a:latin typeface="Aptos"/>
              </a:rPr>
              <a:t>Grounding improves as evidence budget increases, but answer accuracy remains near 0.38.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3886200"/>
            <a:ext cx="4983480" cy="1371600"/>
          </a:xfrm>
          <a:prstGeom prst="rect">
            <a:avLst/>
          </a:prstGeom>
          <a:solidFill>
            <a:srgbClr val="E8F0FA"/>
          </a:solidFill>
          <a:ln w="15240">
            <a:solidFill>
              <a:srgbClr val="B0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3995928"/>
            <a:ext cx="46542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B08400"/>
                </a:solidFill>
                <a:latin typeface="Aptos"/>
              </a:rP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4361688"/>
            <a:ext cx="4654296" cy="7863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14181F"/>
                </a:solidFill>
                <a:latin typeface="Aptos"/>
              </a:rPr>
              <a:t>A weak answerer hides evidence-policy improvements in the answer metric.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Result 2: Stronger VLM Reveals the Tradeoff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11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868680"/>
          <a:ext cx="108356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128"/>
                <a:gridCol w="2167128"/>
                <a:gridCol w="2167128"/>
                <a:gridCol w="2167128"/>
                <a:gridCol w="2167128"/>
              </a:tblGrid>
              <a:tr h="53721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Acc@QA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Cost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IoP@0.5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Acc@GQA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Qwen one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0.668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0.311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0.221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Qwen learned two-item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0.696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2.795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0.410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0.297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Qwen fixed 3+3 reference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0.724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7.500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0.615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181F"/>
                          </a:solidFill>
                          <a:latin typeface="Aptos"/>
                        </a:rPr>
                        <a:t>0.454</a:t>
                      </a:r>
                    </a:p>
                  </a:txBody>
                  <a:tcPr>
                    <a:solidFill>
                      <a:srgbClr val="EBF4F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4400" y="3657600"/>
            <a:ext cx="3383280" cy="868680"/>
          </a:xfrm>
          <a:prstGeom prst="rect">
            <a:avLst/>
          </a:prstGeom>
          <a:solidFill>
            <a:srgbClr val="F8FAFC"/>
          </a:solidFill>
          <a:ln w="1778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3785615"/>
            <a:ext cx="32186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5B6370"/>
                </a:solidFill>
                <a:latin typeface="Aptos"/>
              </a:rPr>
              <a:t>Answer retained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4059936"/>
            <a:ext cx="32186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3B8B74"/>
                </a:solidFill>
                <a:latin typeface="Aptos"/>
              </a:rPr>
              <a:t>96%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3657600"/>
            <a:ext cx="3383280" cy="868680"/>
          </a:xfrm>
          <a:prstGeom prst="rect">
            <a:avLst/>
          </a:prstGeom>
          <a:solidFill>
            <a:srgbClr val="F8FAFC"/>
          </a:solidFill>
          <a:ln w="1778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3785615"/>
            <a:ext cx="32186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5B6370"/>
                </a:solidFill>
                <a:latin typeface="Aptos"/>
              </a:rPr>
              <a:t>Cost 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4059936"/>
            <a:ext cx="32186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2A598F"/>
                </a:solidFill>
                <a:latin typeface="Aptos"/>
              </a:rPr>
              <a:t>37%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657600"/>
            <a:ext cx="3383280" cy="868680"/>
          </a:xfrm>
          <a:prstGeom prst="rect">
            <a:avLst/>
          </a:prstGeom>
          <a:solidFill>
            <a:srgbClr val="F8FAFC"/>
          </a:solidFill>
          <a:ln w="17780">
            <a:solidFill>
              <a:srgbClr val="B0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46136" y="3785615"/>
            <a:ext cx="32186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5B6370"/>
                </a:solidFill>
                <a:latin typeface="Aptos"/>
              </a:rPr>
              <a:t>Grounding retained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6136" y="4059936"/>
            <a:ext cx="32186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B08400"/>
                </a:solidFill>
                <a:latin typeface="Aptos"/>
              </a:rPr>
              <a:t>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101498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9375C"/>
                </a:solidFill>
                <a:latin typeface="Aptos"/>
              </a:rPr>
              <a:t>Learned two-item evidence is the better budgeted method: near-fixed accuracy at much lower evidence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Accuracy-Cost-Grounding Tradeoff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12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pic>
        <p:nvPicPr>
          <p:cNvPr id="8" name="Picture 7" descr="qwen_test_tradeoff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11155680" cy="40923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05840" y="5074920"/>
            <a:ext cx="10149840" cy="1024128"/>
          </a:xfrm>
          <a:prstGeom prst="rect">
            <a:avLst/>
          </a:prstGeom>
          <a:solidFill>
            <a:srgbClr val="E8F0FA"/>
          </a:solidFill>
          <a:ln w="1524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5184648"/>
            <a:ext cx="98206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A598F"/>
                </a:solidFill>
                <a:latin typeface="Aptos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5550408"/>
            <a:ext cx="9820656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14181F"/>
                </a:solidFill>
                <a:latin typeface="Aptos"/>
              </a:rPr>
              <a:t>The learned policy gives the best budgeted tradeoff: most of the high-cost answer accuracy, much lower evidence cost, and better grounding than one segment.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Qualitative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13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822960"/>
          <a:ext cx="112014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3733800"/>
                <a:gridCol w="3733800"/>
              </a:tblGrid>
              <a:tr h="81153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Case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What happens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ptos"/>
                        </a:rPr>
                        <a:t>Lesson</a:t>
                      </a:r>
                    </a:p>
                  </a:txBody>
                  <a:tcPr>
                    <a:solidFill>
                      <a:srgbClr val="2A598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Correct and grounded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Evidence overlaps the support moment and Qwen predicts the gold answer.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Desired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Correct, weakly grounded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Qwen predicts correctly but selected evidence has low temporal overlap.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Answer accuracy alone misleads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Grounded but wrong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Selected evidence overlaps support span, but answer reasoning fails.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4181F"/>
                          </a:solidFill>
                          <a:latin typeface="Aptos"/>
                        </a:rPr>
                        <a:t>Evidence and reasoning are separate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914400" y="4572000"/>
            <a:ext cx="10378440" cy="960120"/>
          </a:xfrm>
          <a:prstGeom prst="rect">
            <a:avLst/>
          </a:prstGeom>
          <a:solidFill>
            <a:srgbClr val="E8F0FA"/>
          </a:solidFill>
          <a:ln w="1524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681728"/>
            <a:ext cx="100492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3B8B74"/>
                </a:solidFill>
                <a:latin typeface="Aptos"/>
              </a:rPr>
              <a:t>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047488"/>
            <a:ext cx="10049256" cy="374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14181F"/>
                </a:solidFill>
                <a:latin typeface="Aptos"/>
              </a:rPr>
              <a:t>Grounded VideoQA needs both components: evidence policy must find the right moment, and the answerer must reason from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Answers to the Opening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14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822960"/>
            <a:ext cx="10652760" cy="1078992"/>
          </a:xfrm>
          <a:prstGeom prst="rect">
            <a:avLst/>
          </a:prstGeom>
          <a:solidFill>
            <a:srgbClr val="E8F0FA"/>
          </a:solidFill>
          <a:ln w="15240">
            <a:solidFill>
              <a:srgbClr val="2A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932688"/>
            <a:ext cx="10323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2A598F"/>
                </a:solidFill>
                <a:latin typeface="Aptos"/>
              </a:rPr>
              <a:t>Q1. Same evidence budget for every question?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298448"/>
            <a:ext cx="10323576" cy="4937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4181F"/>
                </a:solidFill>
                <a:latin typeface="Aptos"/>
              </a:rPr>
              <a:t>No. Evidence need varies; fixed context can be wasteful or weakly grounded.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31720"/>
            <a:ext cx="10652760" cy="1078992"/>
          </a:xfrm>
          <a:prstGeom prst="rect">
            <a:avLst/>
          </a:prstGeom>
          <a:solidFill>
            <a:srgbClr val="E8F0FA"/>
          </a:solidFill>
          <a:ln w="1524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441448"/>
            <a:ext cx="10323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3B8B74"/>
                </a:solidFill>
                <a:latin typeface="Aptos"/>
              </a:rPr>
              <a:t>Q2. Can compact learned evidence preserve accuracy?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807208"/>
            <a:ext cx="10323576" cy="4937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4181F"/>
                </a:solidFill>
                <a:latin typeface="Aptos"/>
              </a:rPr>
              <a:t>Yes. Learned two-item evidence keeps about 96% of fixed 3+3 answer accuracy at 37% of the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840480"/>
            <a:ext cx="10652760" cy="1078992"/>
          </a:xfrm>
          <a:prstGeom prst="rect">
            <a:avLst/>
          </a:prstGeom>
          <a:solidFill>
            <a:srgbClr val="E8F0FA"/>
          </a:solidFill>
          <a:ln w="15240">
            <a:solidFill>
              <a:srgbClr val="B0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950208"/>
            <a:ext cx="10323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B08400"/>
                </a:solidFill>
                <a:latin typeface="Aptos"/>
              </a:rPr>
              <a:t>Q3. Evidence problem or answerer problem?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315968"/>
            <a:ext cx="10323576" cy="4937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4181F"/>
                </a:solidFill>
                <a:latin typeface="Aptos"/>
              </a:rPr>
              <a:t>Both. The frozen answerer hides evidence gains; Qwen exposes the accuracy-cost-grounding frontier.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5B6370"/>
                </a:solidFill>
                <a:latin typeface="Aptos"/>
              </a:rPr>
              <a:t>This answers the initial questions after the method and evidence-budget experiments.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A5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8580"/>
            <a:ext cx="96926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86868"/>
            <a:ext cx="12344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0">
                <a:solidFill>
                  <a:srgbClr val="FFFFFF"/>
                </a:solidFill>
                <a:latin typeface="Aptos"/>
              </a:rPr>
              <a:t>15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29400"/>
            <a:ext cx="77724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19375C"/>
                </a:solidFill>
                <a:latin typeface="Aptos"/>
              </a:rPr>
              <a:t>Adaptive Evidence Acquisition for Grounded VideoQA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6629400"/>
            <a:ext cx="2468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19375C"/>
                </a:solidFill>
                <a:latin typeface="Aptos"/>
              </a:rPr>
              <a:t>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14400"/>
            <a:ext cx="105613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500" b="1">
                <a:solidFill>
                  <a:srgbClr val="19375C"/>
                </a:solidFill>
                <a:latin typeface="Aptos"/>
              </a:rPr>
              <a:t>Grounded VideoQA should be evaluated as evidence selection plus answer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996696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>
              <a:spcAft>
                <a:spcPts val="700"/>
              </a:spcAft>
              <a:defRPr sz="2100">
                <a:solidFill>
                  <a:srgbClr val="14181F"/>
                </a:solidFill>
                <a:latin typeface="Aptos"/>
              </a:defRPr>
            </a:pPr>
            <a:r>
              <a:t>A weak answerer can hide better evidence selection.</a:t>
            </a:r>
          </a:p>
          <a:p>
            <a:pPr marL="285750">
              <a:spcAft>
                <a:spcPts val="700"/>
              </a:spcAft>
              <a:defRPr sz="2100">
                <a:solidFill>
                  <a:srgbClr val="14181F"/>
                </a:solidFill>
                <a:latin typeface="Aptos"/>
              </a:defRPr>
            </a:pPr>
            <a:r>
              <a:t>A strong VLM makes compact evidence useful for answering.</a:t>
            </a:r>
          </a:p>
          <a:p>
            <a:pPr marL="285750">
              <a:spcAft>
                <a:spcPts val="700"/>
              </a:spcAft>
              <a:defRPr sz="2100">
                <a:solidFill>
                  <a:srgbClr val="14181F"/>
                </a:solidFill>
                <a:latin typeface="Aptos"/>
              </a:defRPr>
            </a:pPr>
            <a:r>
              <a:t>Faithful temporal grounding still benefits from broader evidence coverage.</a:t>
            </a:r>
          </a:p>
          <a:p>
            <a:pPr marL="285750">
              <a:spcAft>
                <a:spcPts val="700"/>
              </a:spcAft>
              <a:defRPr sz="2100">
                <a:solidFill>
                  <a:srgbClr val="14181F"/>
                </a:solidFill>
                <a:latin typeface="Aptos"/>
              </a:defRPr>
            </a:pPr>
            <a:r>
              <a:t>The result is a Pareto tradeoff, not a single winner.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4892040"/>
            <a:ext cx="9235440" cy="868680"/>
          </a:xfrm>
          <a:prstGeom prst="rect">
            <a:avLst/>
          </a:prstGeom>
          <a:solidFill>
            <a:srgbClr val="E8F0FA"/>
          </a:solidFill>
          <a:ln w="15240">
            <a:solidFill>
              <a:srgbClr val="3B8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27632" y="5001768"/>
            <a:ext cx="89062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3B8B74"/>
                </a:solidFill>
                <a:latin typeface="Aptos"/>
              </a:rPr>
              <a:t>One-line closing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5367527"/>
            <a:ext cx="8906256" cy="2834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14181F"/>
                </a:solidFill>
                <a:latin typeface="Aptos"/>
              </a:rPr>
              <a:t>Select enough evidence, not too much evidence, and verify that the answer is supported by the right moment.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